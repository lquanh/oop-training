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23"/>
    <p:sldId id="285" r:id="rId24"/>
    <p:sldId id="287" r:id="rId25"/>
    <p:sldId id="288" r:id="rId26"/>
    <p:sldId id="289" r:id="rId27"/>
    <p:sldId id="32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3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26" r:id="rId55"/>
    <p:sldId id="327" r:id="rId56"/>
    <p:sldId id="328" r:id="rId5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64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" y="6400799"/>
            <a:ext cx="9142095" cy="457200"/>
          </a:xfrm>
          <a:custGeom>
            <a:avLst/>
            <a:gdLst/>
            <a:ahLst/>
            <a:cxnLst/>
            <a:rect l="l" t="t" r="r" b="b"/>
            <a:pathLst>
              <a:path w="9142095" h="457200">
                <a:moveTo>
                  <a:pt x="9141714" y="0"/>
                </a:moveTo>
                <a:lnTo>
                  <a:pt x="0" y="0"/>
                </a:lnTo>
                <a:lnTo>
                  <a:pt x="0" y="457200"/>
                </a:lnTo>
                <a:lnTo>
                  <a:pt x="9141714" y="457200"/>
                </a:lnTo>
                <a:lnTo>
                  <a:pt x="914171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505"/>
            <a:ext cx="9142095" cy="64135"/>
          </a:xfrm>
          <a:custGeom>
            <a:avLst/>
            <a:gdLst/>
            <a:ahLst/>
            <a:cxnLst/>
            <a:rect l="l" t="t" r="r" b="b"/>
            <a:pathLst>
              <a:path w="9142095" h="64135">
                <a:moveTo>
                  <a:pt x="9141714" y="0"/>
                </a:moveTo>
                <a:lnTo>
                  <a:pt x="0" y="0"/>
                </a:lnTo>
                <a:lnTo>
                  <a:pt x="0" y="64008"/>
                </a:lnTo>
                <a:lnTo>
                  <a:pt x="9141714" y="64008"/>
                </a:lnTo>
                <a:lnTo>
                  <a:pt x="9141714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06017" y="4343400"/>
            <a:ext cx="7406640" cy="0"/>
          </a:xfrm>
          <a:custGeom>
            <a:avLst/>
            <a:gdLst/>
            <a:ahLst/>
            <a:cxnLst/>
            <a:rect l="l" t="t" r="r" b="b"/>
            <a:pathLst>
              <a:path w="7406640">
                <a:moveTo>
                  <a:pt x="0" y="0"/>
                </a:moveTo>
                <a:lnTo>
                  <a:pt x="740664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1700" y="1593088"/>
            <a:ext cx="7423150" cy="2280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2E5796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01700" y="3604546"/>
            <a:ext cx="6588759" cy="1219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E5796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E5796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14959" y="1809242"/>
            <a:ext cx="3914140" cy="4545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7818" y="6499377"/>
            <a:ext cx="84708" cy="8477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9125" y="6499377"/>
            <a:ext cx="84759" cy="8477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3359" y="289560"/>
            <a:ext cx="8741664" cy="11582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E5796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" y="6576059"/>
            <a:ext cx="9142095" cy="281940"/>
          </a:xfrm>
          <a:custGeom>
            <a:avLst/>
            <a:gdLst/>
            <a:ahLst/>
            <a:cxnLst/>
            <a:rect l="l" t="t" r="r" b="b"/>
            <a:pathLst>
              <a:path w="9142095" h="281940">
                <a:moveTo>
                  <a:pt x="0" y="281940"/>
                </a:moveTo>
                <a:lnTo>
                  <a:pt x="9141714" y="281940"/>
                </a:lnTo>
                <a:lnTo>
                  <a:pt x="9141714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291845"/>
            <a:ext cx="7381875" cy="137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2E5796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0259" y="1822195"/>
            <a:ext cx="7952105" cy="4726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69147" y="6575107"/>
            <a:ext cx="199390" cy="2233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reference/datamodel.html#basic-customization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13" Type="http://schemas.openxmlformats.org/officeDocument/2006/relationships/image" Target="../media/image46.jpg"/><Relationship Id="rId18" Type="http://schemas.openxmlformats.org/officeDocument/2006/relationships/hyperlink" Target="https://www.flickr.com/photos/rosemarie61103/4891530841/in/photolist-8sfnGD-7BoAhV-SRSQD-f3Rr95-6S55ot-7UDhTX-8JGxsa-6KKpr1-4XDTzD-azRUjH-azUyWW-2XXbQT-7wq8gt-8sfnwK-fhUDb-53g43K-4RjBWs-6vN29o-8sfn1X-2ms8TD-4vNmKX-4f856g-2Y2AeN-6p8AZM-8sfnbp-4v72Q" TargetMode="External"/><Relationship Id="rId3" Type="http://schemas.openxmlformats.org/officeDocument/2006/relationships/image" Target="../media/image36.jpg"/><Relationship Id="rId7" Type="http://schemas.openxmlformats.org/officeDocument/2006/relationships/image" Target="../media/image40.png"/><Relationship Id="rId12" Type="http://schemas.openxmlformats.org/officeDocument/2006/relationships/image" Target="../media/image45.jpg"/><Relationship Id="rId17" Type="http://schemas.openxmlformats.org/officeDocument/2006/relationships/hyperlink" Target="https://www.flickr.com/photos/lasombraenlapared/3586725904/in/photolist-6sWUDN-9V5h2M-9sq2Py-6cjvhR-6Bo7Zc-63BtcB-6wPe7F-3PaYAi-6KMqiS-dKX9H9-4GZ3j1-7daYdW-6n73V5-4GUQwg-cg8Gnj-a2HXNf-nCdtNu-6hXqus-5MB5eH-4GUPni-bTfiPK-frQsn6-8mgNPZ-avEdRy-agYEqz-" TargetMode="External"/><Relationship Id="rId2" Type="http://schemas.openxmlformats.org/officeDocument/2006/relationships/image" Target="../media/image35.png"/><Relationship Id="rId16" Type="http://schemas.openxmlformats.org/officeDocument/2006/relationships/hyperlink" Target="https://www.flickr.com/photos/mtsofan/7393425414/in/photolist-2H2UGg-cgkeMY-7Go2Mx-5GEedL-84ayar-7GrXwA-9RnHdr-6sWUDN-9V5h2M-9sq2Py-6cjvhR-6Bo7Zc-63BtcB-6wPe7F-3PaYAi-6KMqiS-dKX9H9-4GZ3j1-7daYdW-6n73V5-4GUQwg-cg8Gnj-a2HXNf-nCdtNu-6hXqus-5MB5eH-4GU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hyperlink" Target="https://www.flickr.com/photos/deeeepak/3155185552/in/photolist-5NP9JU-5dfTUn-ajQAm8-raoXgN-EMXo-8YU98Y-HRRUs6-8K4jhn-2gsnA-4yX3D5-dsHLRq-8GvcQg-dCoExJ-8DVZ77-5Cj2bd-2PLPhd-wTvzZ-7NVmQG-4KDtXP-otHzMK-aUXEJP-dmqw39-9Ss2PW-2U4Z9-7ThH2y-858bXB-5NJRHe-" TargetMode="External"/><Relationship Id="rId10" Type="http://schemas.openxmlformats.org/officeDocument/2006/relationships/image" Target="../media/image43.jpg"/><Relationship Id="rId4" Type="http://schemas.openxmlformats.org/officeDocument/2006/relationships/image" Target="../media/image37.png"/><Relationship Id="rId9" Type="http://schemas.openxmlformats.org/officeDocument/2006/relationships/image" Target="../media/image42.jpg"/><Relationship Id="rId14" Type="http://schemas.openxmlformats.org/officeDocument/2006/relationships/image" Target="../media/image47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593088"/>
            <a:ext cx="7423150" cy="2280920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2700" marR="5080">
              <a:lnSpc>
                <a:spcPts val="8159"/>
              </a:lnSpc>
              <a:spcBef>
                <a:spcPts val="1570"/>
              </a:spcBef>
            </a:pPr>
            <a:r>
              <a:rPr sz="8000" spc="-30" dirty="0">
                <a:latin typeface="Calibri Light"/>
                <a:cs typeface="Calibri Light"/>
              </a:rPr>
              <a:t>OBJECT</a:t>
            </a:r>
            <a:r>
              <a:rPr sz="8000" spc="-415" dirty="0">
                <a:latin typeface="Calibri Light"/>
                <a:cs typeface="Calibri Light"/>
              </a:rPr>
              <a:t> </a:t>
            </a:r>
            <a:r>
              <a:rPr sz="8000" spc="-30" dirty="0">
                <a:latin typeface="Calibri Light"/>
                <a:cs typeface="Calibri Light"/>
              </a:rPr>
              <a:t>ORIENTED </a:t>
            </a:r>
            <a:r>
              <a:rPr sz="8000" spc="-10" dirty="0">
                <a:latin typeface="Calibri Light"/>
                <a:cs typeface="Calibri Light"/>
              </a:rPr>
              <a:t>PROGRAMMING</a:t>
            </a:r>
            <a:endParaRPr sz="8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85"/>
            <a:ext cx="9144000" cy="607695"/>
            <a:chOff x="0" y="6250685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85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73"/>
                  </a:lnTo>
                  <a:lnTo>
                    <a:pt x="9144000" y="32537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20935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000000"/>
                </a:solidFill>
                <a:latin typeface="Calibri Light"/>
                <a:cs typeface="Calibri Light"/>
              </a:rPr>
              <a:t>OBJECTS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810259" y="1610482"/>
            <a:ext cx="7798434" cy="4608195"/>
          </a:xfrm>
          <a:prstGeom prst="rect">
            <a:avLst/>
          </a:prstGeom>
        </p:spPr>
        <p:txBody>
          <a:bodyPr vert="horz" wrap="square" lIns="0" tIns="220345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73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Python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supports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different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kinds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data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  <a:tabLst>
                <a:tab pos="1536700" algn="l"/>
                <a:tab pos="3365500" algn="l"/>
                <a:tab pos="5194300" algn="l"/>
              </a:tabLst>
            </a:pPr>
            <a:r>
              <a:rPr sz="2000" spc="-20" dirty="0">
                <a:latin typeface="Courier New"/>
                <a:cs typeface="Courier New"/>
              </a:rPr>
              <a:t>1234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3.14159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"Hello"</a:t>
            </a:r>
            <a:r>
              <a:rPr sz="2000" dirty="0">
                <a:latin typeface="Courier New"/>
                <a:cs typeface="Courier New"/>
              </a:rPr>
              <a:t>	[1,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5,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7,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11,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13]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000" dirty="0">
                <a:latin typeface="Courier New"/>
                <a:cs typeface="Courier New"/>
              </a:rPr>
              <a:t>{"CA":</a:t>
            </a:r>
            <a:r>
              <a:rPr sz="2000" spc="-10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"California",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"MA":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"Massachusetts"}</a:t>
            </a:r>
            <a:endParaRPr sz="2000">
              <a:latin typeface="Courier New"/>
              <a:cs typeface="Courier New"/>
            </a:endParaRPr>
          </a:p>
          <a:p>
            <a:pPr marL="237490" indent="-224790">
              <a:lnSpc>
                <a:spcPct val="100000"/>
              </a:lnSpc>
              <a:spcBef>
                <a:spcPts val="9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each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object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every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object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has: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2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type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representation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(primitive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composite)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interaction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28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object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instance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type</a:t>
            </a:r>
            <a:endParaRPr sz="2600">
              <a:latin typeface="Calibri"/>
              <a:cs typeface="Calibri"/>
            </a:endParaRPr>
          </a:p>
          <a:p>
            <a:pPr marL="579120" lvl="1" indent="-365760">
              <a:lnSpc>
                <a:spcPct val="100000"/>
              </a:lnSpc>
              <a:spcBef>
                <a:spcPts val="140"/>
              </a:spcBef>
              <a:buClr>
                <a:srgbClr val="585858"/>
              </a:buClr>
              <a:buFont typeface="Arial MT"/>
              <a:buChar char="•"/>
              <a:tabLst>
                <a:tab pos="579120" algn="l"/>
              </a:tabLst>
            </a:pPr>
            <a:r>
              <a:rPr sz="2400" dirty="0">
                <a:latin typeface="Courier New"/>
                <a:cs typeface="Courier New"/>
              </a:rPr>
              <a:t>1234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int</a:t>
            </a:r>
            <a:endParaRPr sz="2400">
              <a:latin typeface="Courier New"/>
              <a:cs typeface="Courier New"/>
            </a:endParaRPr>
          </a:p>
          <a:p>
            <a:pPr marL="579120" lvl="1" indent="-3657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579120" algn="l"/>
              </a:tabLst>
            </a:pPr>
            <a:r>
              <a:rPr sz="2400" spc="-10" dirty="0">
                <a:latin typeface="Courier New"/>
                <a:cs typeface="Courier New"/>
              </a:rPr>
              <a:t>"hello"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85"/>
            <a:ext cx="9144000" cy="607695"/>
            <a:chOff x="0" y="6250685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85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73"/>
                  </a:lnTo>
                  <a:lnTo>
                    <a:pt x="9144000" y="32537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291845"/>
            <a:ext cx="5559425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z="4800" spc="-40" dirty="0">
                <a:solidFill>
                  <a:srgbClr val="000000"/>
                </a:solidFill>
                <a:latin typeface="Calibri Light"/>
                <a:cs typeface="Calibri Light"/>
              </a:rPr>
              <a:t>OBJECT</a:t>
            </a:r>
            <a:r>
              <a:rPr sz="4800" spc="-229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ORIENTED </a:t>
            </a:r>
            <a:r>
              <a:rPr sz="4800" spc="-55" dirty="0">
                <a:solidFill>
                  <a:srgbClr val="000000"/>
                </a:solidFill>
                <a:latin typeface="Calibri Light"/>
                <a:cs typeface="Calibri Light"/>
              </a:rPr>
              <a:t>PROGRAMMING</a:t>
            </a:r>
            <a:r>
              <a:rPr sz="4800" spc="-16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30" dirty="0">
                <a:solidFill>
                  <a:srgbClr val="000000"/>
                </a:solidFill>
                <a:latin typeface="Calibri Light"/>
                <a:cs typeface="Calibri Light"/>
              </a:rPr>
              <a:t>(OOP)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810259" y="1679849"/>
            <a:ext cx="7736840" cy="327977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latin typeface="Calibri"/>
                <a:cs typeface="Calibri"/>
              </a:rPr>
              <a:t>EVERYTHING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IN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PYTHON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IS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OBJECT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type)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create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new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objects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type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can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manipulate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objects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can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destroy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objects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4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explicitly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del</a:t>
            </a:r>
            <a:r>
              <a:rPr sz="2400" spc="-910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“forget”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them</a:t>
            </a:r>
            <a:endParaRPr sz="2400">
              <a:latin typeface="Calibri"/>
              <a:cs typeface="Calibri"/>
            </a:endParaRPr>
          </a:p>
          <a:p>
            <a:pPr marL="396240" marR="796290" lvl="1" indent="-182880">
              <a:lnSpc>
                <a:spcPts val="2590"/>
              </a:lnSpc>
              <a:spcBef>
                <a:spcPts val="620"/>
              </a:spcBef>
              <a:buChar char="•"/>
              <a:tabLst>
                <a:tab pos="396240" algn="l"/>
                <a:tab pos="464820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2400" dirty="0">
                <a:latin typeface="Calibri"/>
                <a:cs typeface="Calibri"/>
              </a:rPr>
              <a:t>python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reclaim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destroyed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inaccessible </a:t>
            </a:r>
            <a:r>
              <a:rPr sz="2400" dirty="0">
                <a:latin typeface="Calibri"/>
                <a:cs typeface="Calibri"/>
              </a:rPr>
              <a:t>objects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“garbage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collection”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85"/>
            <a:ext cx="9144000" cy="607695"/>
            <a:chOff x="0" y="6250685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85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73"/>
                  </a:lnTo>
                  <a:lnTo>
                    <a:pt x="9144000" y="32537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>
                <a:solidFill>
                  <a:srgbClr val="000000"/>
                </a:solidFill>
                <a:latin typeface="Calibri Light"/>
                <a:cs typeface="Calibri Light"/>
              </a:rPr>
              <a:t>WHAT</a:t>
            </a:r>
            <a:r>
              <a:rPr sz="4800" spc="-1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ARE</a:t>
            </a:r>
            <a:r>
              <a:rPr sz="4800" spc="-2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40" dirty="0">
                <a:solidFill>
                  <a:srgbClr val="000000"/>
                </a:solidFill>
                <a:latin typeface="Calibri Light"/>
                <a:cs typeface="Calibri Light"/>
              </a:rPr>
              <a:t>OBJECTS?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810259" y="1818385"/>
            <a:ext cx="4271645" cy="4055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ts val="2965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objects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abstraction</a:t>
            </a:r>
            <a:endParaRPr sz="2600">
              <a:latin typeface="Calibri"/>
              <a:cs typeface="Calibri"/>
            </a:endParaRPr>
          </a:p>
          <a:p>
            <a:pPr marL="253365">
              <a:lnSpc>
                <a:spcPts val="2965"/>
              </a:lnSpc>
            </a:pP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captures…</a:t>
            </a:r>
            <a:endParaRPr sz="2600">
              <a:latin typeface="Calibri"/>
              <a:cs typeface="Calibri"/>
            </a:endParaRPr>
          </a:p>
          <a:p>
            <a:pPr marL="452120" indent="-439420">
              <a:lnSpc>
                <a:spcPct val="100000"/>
              </a:lnSpc>
              <a:spcBef>
                <a:spcPts val="1085"/>
              </a:spcBef>
              <a:buAutoNum type="arabicParenBoth"/>
              <a:tabLst>
                <a:tab pos="452120" algn="l"/>
              </a:tabLst>
            </a:pPr>
            <a:r>
              <a:rPr sz="2600" dirty="0">
                <a:latin typeface="Calibri"/>
                <a:cs typeface="Calibri"/>
              </a:rPr>
              <a:t>an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internal</a:t>
            </a:r>
            <a:r>
              <a:rPr sz="2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representation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2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endParaRPr sz="2400">
              <a:latin typeface="Calibri"/>
              <a:cs typeface="Calibri"/>
            </a:endParaRPr>
          </a:p>
          <a:p>
            <a:pPr marL="451484" marR="775970" indent="-439420">
              <a:lnSpc>
                <a:spcPts val="2810"/>
              </a:lnSpc>
              <a:spcBef>
                <a:spcPts val="1630"/>
              </a:spcBef>
              <a:buAutoNum type="arabicParenBoth"/>
              <a:tabLst>
                <a:tab pos="460375" algn="l"/>
              </a:tabLst>
            </a:pPr>
            <a:r>
              <a:rPr sz="2600" dirty="0">
                <a:latin typeface="Calibri"/>
                <a:cs typeface="Calibri"/>
              </a:rPr>
              <a:t>an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interface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 	</a:t>
            </a:r>
            <a:r>
              <a:rPr sz="2600" spc="-10" dirty="0">
                <a:latin typeface="Calibri"/>
                <a:cs typeface="Calibri"/>
              </a:rPr>
              <a:t>interacting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object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ts val="2735"/>
              </a:lnSpc>
              <a:spcBef>
                <a:spcPts val="8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methods</a:t>
            </a:r>
            <a:endParaRPr sz="2400">
              <a:latin typeface="Calibri"/>
              <a:cs typeface="Calibri"/>
            </a:endParaRPr>
          </a:p>
          <a:p>
            <a:pPr marL="39624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(aka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procedures/functions)</a:t>
            </a:r>
            <a:endParaRPr sz="2400">
              <a:latin typeface="Calibri"/>
              <a:cs typeface="Calibri"/>
            </a:endParaRPr>
          </a:p>
          <a:p>
            <a:pPr marL="396240" marR="1130935" lvl="1" indent="-182880">
              <a:lnSpc>
                <a:spcPts val="2590"/>
              </a:lnSpc>
              <a:spcBef>
                <a:spcPts val="640"/>
              </a:spcBef>
              <a:buChar char="•"/>
              <a:tabLst>
                <a:tab pos="396240" algn="l"/>
                <a:tab pos="464820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2400" dirty="0">
                <a:latin typeface="Calibri"/>
                <a:cs typeface="Calibri"/>
              </a:rPr>
              <a:t>defines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behaviors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but </a:t>
            </a:r>
            <a:r>
              <a:rPr sz="2400" dirty="0">
                <a:latin typeface="Calibri"/>
                <a:cs typeface="Calibri"/>
              </a:rPr>
              <a:t>hides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implementation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85"/>
            <a:ext cx="9144000" cy="607695"/>
            <a:chOff x="0" y="6250685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85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73"/>
                  </a:lnTo>
                  <a:lnTo>
                    <a:pt x="9144000" y="32537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0259" y="1822195"/>
            <a:ext cx="69716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represented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internally</a:t>
            </a:r>
            <a:r>
              <a:rPr sz="2400" dirty="0">
                <a:latin typeface="Calibri"/>
                <a:cs typeface="Calibri"/>
              </a:rPr>
              <a:t>?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cells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6289" y="2331720"/>
            <a:ext cx="574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L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=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259" y="3262888"/>
            <a:ext cx="7834630" cy="320548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20345" indent="-207645">
              <a:lnSpc>
                <a:spcPct val="100000"/>
              </a:lnSpc>
              <a:spcBef>
                <a:spcPts val="735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manipulate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lists?</a:t>
            </a:r>
            <a:endParaRPr sz="2400">
              <a:latin typeface="Calibri"/>
              <a:cs typeface="Calibri"/>
            </a:endParaRPr>
          </a:p>
          <a:p>
            <a:pPr marL="450215" lvl="1" indent="-236854">
              <a:lnSpc>
                <a:spcPct val="100000"/>
              </a:lnSpc>
              <a:spcBef>
                <a:spcPts val="505"/>
              </a:spcBef>
              <a:buClr>
                <a:srgbClr val="585858"/>
              </a:buClr>
              <a:buFont typeface="Arial MT"/>
              <a:buChar char="•"/>
              <a:tabLst>
                <a:tab pos="450215" algn="l"/>
              </a:tabLst>
            </a:pPr>
            <a:r>
              <a:rPr sz="1900" dirty="0">
                <a:latin typeface="Courier New"/>
                <a:cs typeface="Courier New"/>
              </a:rPr>
              <a:t>L[i],</a:t>
            </a:r>
            <a:r>
              <a:rPr sz="1900" spc="-4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L[i:j],</a:t>
            </a:r>
            <a:r>
              <a:rPr sz="1900" spc="-45" dirty="0">
                <a:latin typeface="Courier New"/>
                <a:cs typeface="Courier New"/>
              </a:rPr>
              <a:t> </a:t>
            </a:r>
            <a:r>
              <a:rPr sz="1900" spc="-50" dirty="0">
                <a:latin typeface="Courier New"/>
                <a:cs typeface="Courier New"/>
              </a:rPr>
              <a:t>+</a:t>
            </a:r>
            <a:endParaRPr sz="1900">
              <a:latin typeface="Courier New"/>
              <a:cs typeface="Courier New"/>
            </a:endParaRPr>
          </a:p>
          <a:p>
            <a:pPr marL="450215" lvl="1" indent="-236854">
              <a:lnSpc>
                <a:spcPct val="100000"/>
              </a:lnSpc>
              <a:spcBef>
                <a:spcPts val="455"/>
              </a:spcBef>
              <a:buClr>
                <a:srgbClr val="585858"/>
              </a:buClr>
              <a:buFont typeface="Arial MT"/>
              <a:buChar char="•"/>
              <a:tabLst>
                <a:tab pos="450215" algn="l"/>
              </a:tabLst>
            </a:pPr>
            <a:r>
              <a:rPr sz="1900" dirty="0">
                <a:latin typeface="Courier New"/>
                <a:cs typeface="Courier New"/>
              </a:rPr>
              <a:t>len(),</a:t>
            </a:r>
            <a:r>
              <a:rPr sz="1900" spc="-5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min(),</a:t>
            </a:r>
            <a:r>
              <a:rPr sz="1900" spc="-5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max(),</a:t>
            </a:r>
            <a:r>
              <a:rPr sz="1900" spc="-4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del(L[i])</a:t>
            </a:r>
            <a:endParaRPr sz="1900">
              <a:latin typeface="Courier New"/>
              <a:cs typeface="Courier New"/>
            </a:endParaRPr>
          </a:p>
          <a:p>
            <a:pPr marL="450215" lvl="1" indent="-236854">
              <a:lnSpc>
                <a:spcPct val="100000"/>
              </a:lnSpc>
              <a:spcBef>
                <a:spcPts val="455"/>
              </a:spcBef>
              <a:buClr>
                <a:srgbClr val="585858"/>
              </a:buClr>
              <a:buFont typeface="Arial MT"/>
              <a:buChar char="•"/>
              <a:tabLst>
                <a:tab pos="450215" algn="l"/>
              </a:tabLst>
            </a:pPr>
            <a:r>
              <a:rPr sz="1900" spc="-10" dirty="0">
                <a:latin typeface="Courier New"/>
                <a:cs typeface="Courier New"/>
              </a:rPr>
              <a:t>L.append(),L.extend(),L.count(),L.index(),</a:t>
            </a:r>
            <a:endParaRPr sz="1900">
              <a:latin typeface="Courier New"/>
              <a:cs typeface="Courier New"/>
            </a:endParaRPr>
          </a:p>
          <a:p>
            <a:pPr marL="450850">
              <a:lnSpc>
                <a:spcPct val="100000"/>
              </a:lnSpc>
              <a:spcBef>
                <a:spcPts val="459"/>
              </a:spcBef>
            </a:pPr>
            <a:r>
              <a:rPr sz="1900" spc="-10" dirty="0">
                <a:latin typeface="Courier New"/>
                <a:cs typeface="Courier New"/>
              </a:rPr>
              <a:t>L.insert(),L.pop(),L.remove(),L.reverse(),</a:t>
            </a:r>
            <a:r>
              <a:rPr sz="1900" spc="12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L.sort()</a:t>
            </a:r>
            <a:endParaRPr sz="1900">
              <a:latin typeface="Courier New"/>
              <a:cs typeface="Courier New"/>
            </a:endParaRPr>
          </a:p>
          <a:p>
            <a:pPr marL="220345" indent="-207645">
              <a:lnSpc>
                <a:spcPct val="100000"/>
              </a:lnSpc>
              <a:spcBef>
                <a:spcPts val="1065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representation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private</a:t>
            </a:r>
            <a:endParaRPr sz="2400">
              <a:latin typeface="Calibri"/>
              <a:cs typeface="Calibri"/>
            </a:endParaRPr>
          </a:p>
          <a:p>
            <a:pPr marL="104139" marR="608330" indent="-91440">
              <a:lnSpc>
                <a:spcPts val="2590"/>
              </a:lnSpc>
              <a:spcBef>
                <a:spcPts val="144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	correct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behavior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compromised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manipulate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representation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directly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30"/>
              </a:lnSpc>
              <a:spcBef>
                <a:spcPts val="100"/>
              </a:spcBef>
            </a:pP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EXAMPLE:</a:t>
            </a:r>
            <a:endParaRPr sz="4800">
              <a:latin typeface="Calibri Light"/>
              <a:cs typeface="Calibri Light"/>
            </a:endParaRPr>
          </a:p>
          <a:p>
            <a:pPr marL="12700">
              <a:lnSpc>
                <a:spcPts val="5330"/>
              </a:lnSpc>
            </a:pPr>
            <a:r>
              <a:rPr sz="4800" spc="-50" dirty="0">
                <a:solidFill>
                  <a:srgbClr val="000000"/>
                </a:solidFill>
                <a:latin typeface="Calibri Light"/>
                <a:cs typeface="Calibri Light"/>
              </a:rPr>
              <a:t>[1,2,3,4]</a:t>
            </a:r>
            <a:r>
              <a:rPr sz="4800" spc="-2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has</a:t>
            </a:r>
            <a:r>
              <a:rPr sz="4800" spc="-2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0" dirty="0">
                <a:solidFill>
                  <a:srgbClr val="000000"/>
                </a:solidFill>
                <a:latin typeface="Calibri Light"/>
                <a:cs typeface="Calibri Light"/>
              </a:rPr>
              <a:t>type</a:t>
            </a:r>
            <a:r>
              <a:rPr sz="4800" spc="-2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0" dirty="0">
                <a:solidFill>
                  <a:srgbClr val="000000"/>
                </a:solidFill>
                <a:latin typeface="Calibri Light"/>
                <a:cs typeface="Calibri Light"/>
              </a:rPr>
              <a:t>list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64917" y="2371725"/>
            <a:ext cx="1090930" cy="287655"/>
          </a:xfrm>
          <a:custGeom>
            <a:avLst/>
            <a:gdLst/>
            <a:ahLst/>
            <a:cxnLst/>
            <a:rect l="l" t="t" r="r" b="b"/>
            <a:pathLst>
              <a:path w="1090929" h="287655">
                <a:moveTo>
                  <a:pt x="1090421" y="0"/>
                </a:moveTo>
                <a:lnTo>
                  <a:pt x="0" y="0"/>
                </a:lnTo>
                <a:lnTo>
                  <a:pt x="0" y="287274"/>
                </a:lnTo>
                <a:lnTo>
                  <a:pt x="1090421" y="287274"/>
                </a:lnTo>
                <a:lnTo>
                  <a:pt x="1090421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2756661" y="2363470"/>
            <a:ext cx="5611495" cy="309880"/>
            <a:chOff x="2756661" y="2363470"/>
            <a:chExt cx="5611495" cy="309880"/>
          </a:xfrm>
        </p:grpSpPr>
        <p:sp>
          <p:nvSpPr>
            <p:cNvPr id="13" name="object 13"/>
            <p:cNvSpPr/>
            <p:nvPr/>
          </p:nvSpPr>
          <p:spPr>
            <a:xfrm>
              <a:off x="2764916" y="2371725"/>
              <a:ext cx="1090930" cy="287655"/>
            </a:xfrm>
            <a:custGeom>
              <a:avLst/>
              <a:gdLst/>
              <a:ahLst/>
              <a:cxnLst/>
              <a:rect l="l" t="t" r="r" b="b"/>
              <a:pathLst>
                <a:path w="1090929" h="287655">
                  <a:moveTo>
                    <a:pt x="0" y="287274"/>
                  </a:moveTo>
                  <a:lnTo>
                    <a:pt x="1090421" y="287274"/>
                  </a:lnTo>
                  <a:lnTo>
                    <a:pt x="1090421" y="0"/>
                  </a:lnTo>
                  <a:lnTo>
                    <a:pt x="0" y="0"/>
                  </a:lnTo>
                  <a:lnTo>
                    <a:pt x="0" y="287274"/>
                  </a:lnTo>
                  <a:close/>
                </a:path>
              </a:pathLst>
            </a:custGeom>
            <a:ln w="16002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36922" y="2371725"/>
              <a:ext cx="1090930" cy="287655"/>
            </a:xfrm>
            <a:custGeom>
              <a:avLst/>
              <a:gdLst/>
              <a:ahLst/>
              <a:cxnLst/>
              <a:rect l="l" t="t" r="r" b="b"/>
              <a:pathLst>
                <a:path w="1090929" h="287655">
                  <a:moveTo>
                    <a:pt x="1090422" y="0"/>
                  </a:moveTo>
                  <a:lnTo>
                    <a:pt x="0" y="0"/>
                  </a:lnTo>
                  <a:lnTo>
                    <a:pt x="0" y="287274"/>
                  </a:lnTo>
                  <a:lnTo>
                    <a:pt x="1090422" y="287274"/>
                  </a:lnTo>
                  <a:lnTo>
                    <a:pt x="1090422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36922" y="2371725"/>
              <a:ext cx="1090930" cy="287655"/>
            </a:xfrm>
            <a:custGeom>
              <a:avLst/>
              <a:gdLst/>
              <a:ahLst/>
              <a:cxnLst/>
              <a:rect l="l" t="t" r="r" b="b"/>
              <a:pathLst>
                <a:path w="1090929" h="287655">
                  <a:moveTo>
                    <a:pt x="0" y="287274"/>
                  </a:moveTo>
                  <a:lnTo>
                    <a:pt x="1090422" y="287274"/>
                  </a:lnTo>
                  <a:lnTo>
                    <a:pt x="1090422" y="0"/>
                  </a:lnTo>
                  <a:lnTo>
                    <a:pt x="0" y="0"/>
                  </a:lnTo>
                  <a:lnTo>
                    <a:pt x="0" y="287274"/>
                  </a:lnTo>
                  <a:close/>
                </a:path>
              </a:pathLst>
            </a:custGeom>
            <a:ln w="16002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17488" y="2377821"/>
              <a:ext cx="1089660" cy="287655"/>
            </a:xfrm>
            <a:custGeom>
              <a:avLst/>
              <a:gdLst/>
              <a:ahLst/>
              <a:cxnLst/>
              <a:rect l="l" t="t" r="r" b="b"/>
              <a:pathLst>
                <a:path w="1089659" h="287655">
                  <a:moveTo>
                    <a:pt x="1089660" y="0"/>
                  </a:moveTo>
                  <a:lnTo>
                    <a:pt x="0" y="0"/>
                  </a:lnTo>
                  <a:lnTo>
                    <a:pt x="0" y="287274"/>
                  </a:lnTo>
                  <a:lnTo>
                    <a:pt x="1089660" y="287274"/>
                  </a:lnTo>
                  <a:lnTo>
                    <a:pt x="108966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17488" y="2377821"/>
              <a:ext cx="1089660" cy="287655"/>
            </a:xfrm>
            <a:custGeom>
              <a:avLst/>
              <a:gdLst/>
              <a:ahLst/>
              <a:cxnLst/>
              <a:rect l="l" t="t" r="r" b="b"/>
              <a:pathLst>
                <a:path w="1089659" h="287655">
                  <a:moveTo>
                    <a:pt x="0" y="287274"/>
                  </a:moveTo>
                  <a:lnTo>
                    <a:pt x="1089660" y="287274"/>
                  </a:lnTo>
                  <a:lnTo>
                    <a:pt x="1089660" y="0"/>
                  </a:lnTo>
                  <a:lnTo>
                    <a:pt x="0" y="0"/>
                  </a:lnTo>
                  <a:lnTo>
                    <a:pt x="0" y="287274"/>
                  </a:lnTo>
                  <a:close/>
                </a:path>
              </a:pathLst>
            </a:custGeom>
            <a:ln w="16002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69098" y="2377821"/>
              <a:ext cx="1090930" cy="287655"/>
            </a:xfrm>
            <a:custGeom>
              <a:avLst/>
              <a:gdLst/>
              <a:ahLst/>
              <a:cxnLst/>
              <a:rect l="l" t="t" r="r" b="b"/>
              <a:pathLst>
                <a:path w="1090929" h="287655">
                  <a:moveTo>
                    <a:pt x="1090422" y="0"/>
                  </a:moveTo>
                  <a:lnTo>
                    <a:pt x="0" y="0"/>
                  </a:lnTo>
                  <a:lnTo>
                    <a:pt x="0" y="287274"/>
                  </a:lnTo>
                  <a:lnTo>
                    <a:pt x="1090422" y="287274"/>
                  </a:lnTo>
                  <a:lnTo>
                    <a:pt x="1090422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69098" y="2377821"/>
              <a:ext cx="1090930" cy="287655"/>
            </a:xfrm>
            <a:custGeom>
              <a:avLst/>
              <a:gdLst/>
              <a:ahLst/>
              <a:cxnLst/>
              <a:rect l="l" t="t" r="r" b="b"/>
              <a:pathLst>
                <a:path w="1090929" h="287655">
                  <a:moveTo>
                    <a:pt x="0" y="287274"/>
                  </a:moveTo>
                  <a:lnTo>
                    <a:pt x="1090422" y="287274"/>
                  </a:lnTo>
                  <a:lnTo>
                    <a:pt x="1090422" y="0"/>
                  </a:lnTo>
                  <a:lnTo>
                    <a:pt x="0" y="0"/>
                  </a:lnTo>
                  <a:lnTo>
                    <a:pt x="0" y="287274"/>
                  </a:lnTo>
                  <a:close/>
                </a:path>
              </a:pathLst>
            </a:custGeom>
            <a:ln w="16002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937764" y="2357120"/>
            <a:ext cx="5222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7370" algn="l"/>
                <a:tab pos="1610995" algn="l"/>
                <a:tab pos="2093595" algn="l"/>
                <a:tab pos="3091180" algn="l"/>
                <a:tab pos="3573779" algn="l"/>
                <a:tab pos="4543425" algn="l"/>
                <a:tab pos="5026025" algn="l"/>
              </a:tabLst>
            </a:pPr>
            <a:r>
              <a:rPr sz="2700" spc="-75" baseline="1543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2700" baseline="1543" dirty="0">
                <a:solidFill>
                  <a:srgbClr val="FFFFFF"/>
                </a:solidFill>
                <a:latin typeface="Calibri"/>
                <a:cs typeface="Calibri"/>
              </a:rPr>
              <a:t>	-</a:t>
            </a:r>
            <a:r>
              <a:rPr sz="2700" spc="-75" baseline="1543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2700" baseline="154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700" spc="-75" baseline="1543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700" baseline="1543" dirty="0">
                <a:solidFill>
                  <a:srgbClr val="FFFFFF"/>
                </a:solidFill>
                <a:latin typeface="Calibri"/>
                <a:cs typeface="Calibri"/>
              </a:rPr>
              <a:t>	-</a:t>
            </a:r>
            <a:r>
              <a:rPr sz="2700" spc="-75" baseline="1543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2700" baseline="154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02508" y="2371725"/>
            <a:ext cx="4519930" cy="293370"/>
            <a:chOff x="3302508" y="2371725"/>
            <a:chExt cx="4519930" cy="293370"/>
          </a:xfrm>
        </p:grpSpPr>
        <p:sp>
          <p:nvSpPr>
            <p:cNvPr id="22" name="object 22"/>
            <p:cNvSpPr/>
            <p:nvPr/>
          </p:nvSpPr>
          <p:spPr>
            <a:xfrm>
              <a:off x="3855326" y="2476880"/>
              <a:ext cx="1962150" cy="92075"/>
            </a:xfrm>
            <a:custGeom>
              <a:avLst/>
              <a:gdLst/>
              <a:ahLst/>
              <a:cxnLst/>
              <a:rect l="l" t="t" r="r" b="b"/>
              <a:pathLst>
                <a:path w="1962150" h="92075">
                  <a:moveTo>
                    <a:pt x="482092" y="38100"/>
                  </a:moveTo>
                  <a:lnTo>
                    <a:pt x="469607" y="32385"/>
                  </a:lnTo>
                  <a:lnTo>
                    <a:pt x="418973" y="9232"/>
                  </a:lnTo>
                  <a:lnTo>
                    <a:pt x="418973" y="48387"/>
                  </a:lnTo>
                  <a:lnTo>
                    <a:pt x="418541" y="37541"/>
                  </a:lnTo>
                  <a:lnTo>
                    <a:pt x="418833" y="44564"/>
                  </a:lnTo>
                  <a:lnTo>
                    <a:pt x="418884" y="45847"/>
                  </a:lnTo>
                  <a:lnTo>
                    <a:pt x="418973" y="48387"/>
                  </a:lnTo>
                  <a:lnTo>
                    <a:pt x="418973" y="9232"/>
                  </a:lnTo>
                  <a:lnTo>
                    <a:pt x="404622" y="2667"/>
                  </a:lnTo>
                  <a:lnTo>
                    <a:pt x="405663" y="32385"/>
                  </a:lnTo>
                  <a:lnTo>
                    <a:pt x="405688" y="32842"/>
                  </a:lnTo>
                  <a:lnTo>
                    <a:pt x="74282" y="44564"/>
                  </a:lnTo>
                  <a:lnTo>
                    <a:pt x="38354" y="16027"/>
                  </a:lnTo>
                  <a:lnTo>
                    <a:pt x="38354" y="61849"/>
                  </a:lnTo>
                  <a:lnTo>
                    <a:pt x="38277" y="59385"/>
                  </a:lnTo>
                  <a:lnTo>
                    <a:pt x="38315" y="60566"/>
                  </a:lnTo>
                  <a:lnTo>
                    <a:pt x="38354" y="61849"/>
                  </a:lnTo>
                  <a:lnTo>
                    <a:pt x="38354" y="16027"/>
                  </a:lnTo>
                  <a:lnTo>
                    <a:pt x="2476" y="40297"/>
                  </a:lnTo>
                  <a:lnTo>
                    <a:pt x="0" y="55245"/>
                  </a:lnTo>
                  <a:lnTo>
                    <a:pt x="3530" y="69938"/>
                  </a:lnTo>
                  <a:lnTo>
                    <a:pt x="12128" y="81749"/>
                  </a:lnTo>
                  <a:lnTo>
                    <a:pt x="24549" y="89484"/>
                  </a:lnTo>
                  <a:lnTo>
                    <a:pt x="39497" y="91948"/>
                  </a:lnTo>
                  <a:lnTo>
                    <a:pt x="54190" y="88430"/>
                  </a:lnTo>
                  <a:lnTo>
                    <a:pt x="66001" y="79844"/>
                  </a:lnTo>
                  <a:lnTo>
                    <a:pt x="73736" y="67475"/>
                  </a:lnTo>
                  <a:lnTo>
                    <a:pt x="74676" y="61849"/>
                  </a:lnTo>
                  <a:lnTo>
                    <a:pt x="74879" y="60566"/>
                  </a:lnTo>
                  <a:lnTo>
                    <a:pt x="406247" y="48844"/>
                  </a:lnTo>
                  <a:lnTo>
                    <a:pt x="407289" y="78867"/>
                  </a:lnTo>
                  <a:lnTo>
                    <a:pt x="482092" y="38100"/>
                  </a:lnTo>
                  <a:close/>
                </a:path>
                <a:path w="1962150" h="92075">
                  <a:moveTo>
                    <a:pt x="1961781" y="44577"/>
                  </a:moveTo>
                  <a:lnTo>
                    <a:pt x="1886216" y="5207"/>
                  </a:lnTo>
                  <a:lnTo>
                    <a:pt x="1885924" y="22669"/>
                  </a:lnTo>
                  <a:lnTo>
                    <a:pt x="1885797" y="30099"/>
                  </a:lnTo>
                  <a:lnTo>
                    <a:pt x="1885708" y="35356"/>
                  </a:lnTo>
                  <a:lnTo>
                    <a:pt x="1608645" y="30721"/>
                  </a:lnTo>
                  <a:lnTo>
                    <a:pt x="1608531" y="30099"/>
                  </a:lnTo>
                  <a:lnTo>
                    <a:pt x="1607388" y="23850"/>
                  </a:lnTo>
                  <a:lnTo>
                    <a:pt x="1599425" y="11607"/>
                  </a:lnTo>
                  <a:lnTo>
                    <a:pt x="1587449" y="3251"/>
                  </a:lnTo>
                  <a:lnTo>
                    <a:pt x="1572653" y="0"/>
                  </a:lnTo>
                  <a:lnTo>
                    <a:pt x="1557756" y="2730"/>
                  </a:lnTo>
                  <a:lnTo>
                    <a:pt x="1545513" y="10693"/>
                  </a:lnTo>
                  <a:lnTo>
                    <a:pt x="1537157" y="22669"/>
                  </a:lnTo>
                  <a:lnTo>
                    <a:pt x="1533918" y="37465"/>
                  </a:lnTo>
                  <a:lnTo>
                    <a:pt x="1536636" y="52362"/>
                  </a:lnTo>
                  <a:lnTo>
                    <a:pt x="1544599" y="64604"/>
                  </a:lnTo>
                  <a:lnTo>
                    <a:pt x="1556575" y="72961"/>
                  </a:lnTo>
                  <a:lnTo>
                    <a:pt x="1571383" y="76200"/>
                  </a:lnTo>
                  <a:lnTo>
                    <a:pt x="1586268" y="73482"/>
                  </a:lnTo>
                  <a:lnTo>
                    <a:pt x="1598510" y="65519"/>
                  </a:lnTo>
                  <a:lnTo>
                    <a:pt x="1606867" y="53543"/>
                  </a:lnTo>
                  <a:lnTo>
                    <a:pt x="1608366" y="46723"/>
                  </a:lnTo>
                  <a:lnTo>
                    <a:pt x="1885442" y="51358"/>
                  </a:lnTo>
                  <a:lnTo>
                    <a:pt x="1885226" y="64604"/>
                  </a:lnTo>
                  <a:lnTo>
                    <a:pt x="1885200" y="65519"/>
                  </a:lnTo>
                  <a:lnTo>
                    <a:pt x="1885086" y="72961"/>
                  </a:lnTo>
                  <a:lnTo>
                    <a:pt x="1885022" y="76200"/>
                  </a:lnTo>
                  <a:lnTo>
                    <a:pt x="1884946" y="81407"/>
                  </a:lnTo>
                  <a:lnTo>
                    <a:pt x="1947202" y="51562"/>
                  </a:lnTo>
                  <a:lnTo>
                    <a:pt x="1961781" y="445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10509" y="237172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16002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82515" y="237172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16002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62319" y="2377820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16002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13929" y="2377820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16002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69048" y="2483739"/>
              <a:ext cx="400050" cy="76200"/>
            </a:xfrm>
            <a:custGeom>
              <a:avLst/>
              <a:gdLst/>
              <a:ahLst/>
              <a:cxnLst/>
              <a:rect l="l" t="t" r="r" b="b"/>
              <a:pathLst>
                <a:path w="40005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589" y="46101"/>
                  </a:lnTo>
                  <a:lnTo>
                    <a:pt x="38100" y="46101"/>
                  </a:lnTo>
                  <a:lnTo>
                    <a:pt x="38100" y="30099"/>
                  </a:lnTo>
                  <a:lnTo>
                    <a:pt x="74589" y="30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400050" h="76200">
                  <a:moveTo>
                    <a:pt x="323596" y="0"/>
                  </a:moveTo>
                  <a:lnTo>
                    <a:pt x="323596" y="76200"/>
                  </a:lnTo>
                  <a:lnTo>
                    <a:pt x="383794" y="46101"/>
                  </a:lnTo>
                  <a:lnTo>
                    <a:pt x="336296" y="46101"/>
                  </a:lnTo>
                  <a:lnTo>
                    <a:pt x="336296" y="30099"/>
                  </a:lnTo>
                  <a:lnTo>
                    <a:pt x="383794" y="30099"/>
                  </a:lnTo>
                  <a:lnTo>
                    <a:pt x="323596" y="0"/>
                  </a:lnTo>
                  <a:close/>
                </a:path>
                <a:path w="400050" h="76200">
                  <a:moveTo>
                    <a:pt x="74589" y="30099"/>
                  </a:moveTo>
                  <a:lnTo>
                    <a:pt x="38100" y="30099"/>
                  </a:lnTo>
                  <a:lnTo>
                    <a:pt x="38100" y="46101"/>
                  </a:lnTo>
                  <a:lnTo>
                    <a:pt x="74589" y="46101"/>
                  </a:lnTo>
                  <a:lnTo>
                    <a:pt x="76200" y="38100"/>
                  </a:lnTo>
                  <a:lnTo>
                    <a:pt x="74589" y="30099"/>
                  </a:lnTo>
                  <a:close/>
                </a:path>
                <a:path w="400050" h="76200">
                  <a:moveTo>
                    <a:pt x="323596" y="30099"/>
                  </a:moveTo>
                  <a:lnTo>
                    <a:pt x="74589" y="30099"/>
                  </a:lnTo>
                  <a:lnTo>
                    <a:pt x="76200" y="38100"/>
                  </a:lnTo>
                  <a:lnTo>
                    <a:pt x="74589" y="46101"/>
                  </a:lnTo>
                  <a:lnTo>
                    <a:pt x="323596" y="46101"/>
                  </a:lnTo>
                  <a:lnTo>
                    <a:pt x="323596" y="30099"/>
                  </a:lnTo>
                  <a:close/>
                </a:path>
                <a:path w="400050" h="76200">
                  <a:moveTo>
                    <a:pt x="383794" y="30099"/>
                  </a:moveTo>
                  <a:lnTo>
                    <a:pt x="336296" y="30099"/>
                  </a:lnTo>
                  <a:lnTo>
                    <a:pt x="336296" y="46101"/>
                  </a:lnTo>
                  <a:lnTo>
                    <a:pt x="383794" y="46101"/>
                  </a:lnTo>
                  <a:lnTo>
                    <a:pt x="399796" y="38100"/>
                  </a:lnTo>
                  <a:lnTo>
                    <a:pt x="383794" y="30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5615" y="2755011"/>
            <a:ext cx="1480241" cy="1015618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85"/>
            <a:ext cx="9144000" cy="607695"/>
            <a:chOff x="0" y="6250685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85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73"/>
                  </a:lnTo>
                  <a:lnTo>
                    <a:pt x="9144000" y="32537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30" dirty="0">
                <a:solidFill>
                  <a:srgbClr val="000000"/>
                </a:solidFill>
                <a:latin typeface="Calibri Light"/>
                <a:cs typeface="Calibri Light"/>
              </a:rPr>
              <a:t>ADVANTAGES</a:t>
            </a:r>
            <a:r>
              <a:rPr sz="4800" spc="-1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sz="4800" spc="-1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000000"/>
                </a:solidFill>
                <a:latin typeface="Calibri Light"/>
                <a:cs typeface="Calibri Light"/>
              </a:rPr>
              <a:t>OOP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810259" y="1786382"/>
            <a:ext cx="7334250" cy="41338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04139" marR="5080" indent="-91440">
              <a:lnSpc>
                <a:spcPts val="2500"/>
              </a:lnSpc>
              <a:spcBef>
                <a:spcPts val="70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	bundle</a:t>
            </a:r>
            <a:r>
              <a:rPr sz="26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600" b="1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into</a:t>
            </a:r>
            <a:r>
              <a:rPr sz="26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packages</a:t>
            </a:r>
            <a:r>
              <a:rPr sz="2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together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procedures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work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through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well-</a:t>
            </a:r>
            <a:r>
              <a:rPr sz="2600" dirty="0">
                <a:latin typeface="Calibri"/>
                <a:cs typeface="Calibri"/>
              </a:rPr>
              <a:t>defined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interfaces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ts val="3035"/>
              </a:lnSpc>
              <a:spcBef>
                <a:spcPts val="7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divide-and-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conquer</a:t>
            </a:r>
            <a:r>
              <a:rPr sz="26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development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ts val="2795"/>
              </a:lnSpc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spc="-10" dirty="0">
                <a:latin typeface="Calibri"/>
                <a:cs typeface="Calibri"/>
              </a:rPr>
              <a:t>implement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behavior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separately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2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increased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modularity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complexity</a:t>
            </a:r>
            <a:endParaRPr sz="2400">
              <a:latin typeface="Calibri"/>
              <a:cs typeface="Calibri"/>
            </a:endParaRPr>
          </a:p>
          <a:p>
            <a:pPr marL="237490" indent="-224790">
              <a:lnSpc>
                <a:spcPts val="3035"/>
              </a:lnSpc>
              <a:spcBef>
                <a:spcPts val="969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make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easy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reuse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code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ts val="2795"/>
              </a:lnSpc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many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Python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classes</a:t>
            </a:r>
            <a:endParaRPr sz="2400">
              <a:latin typeface="Calibri"/>
              <a:cs typeface="Calibri"/>
            </a:endParaRPr>
          </a:p>
          <a:p>
            <a:pPr marL="396240" marR="172085" lvl="1" indent="-182880">
              <a:lnSpc>
                <a:spcPts val="2310"/>
              </a:lnSpc>
              <a:spcBef>
                <a:spcPts val="575"/>
              </a:spcBef>
              <a:buChar char="•"/>
              <a:tabLst>
                <a:tab pos="396240" algn="l"/>
                <a:tab pos="464820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separate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environment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collision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names)</a:t>
            </a:r>
            <a:endParaRPr sz="2400">
              <a:latin typeface="Calibri"/>
              <a:cs typeface="Calibri"/>
            </a:endParaRPr>
          </a:p>
          <a:p>
            <a:pPr marL="396240" marR="340360" lvl="1" indent="-182880">
              <a:lnSpc>
                <a:spcPts val="2300"/>
              </a:lnSpc>
              <a:spcBef>
                <a:spcPts val="600"/>
              </a:spcBef>
              <a:buChar char="•"/>
              <a:tabLst>
                <a:tab pos="396240" algn="l"/>
                <a:tab pos="464820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latin typeface="Calibri"/>
                <a:cs typeface="Calibri"/>
              </a:rPr>
              <a:t>inheritance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subclasses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redefine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extend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selected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subset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superclass’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behavior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85"/>
            <a:ext cx="9144000" cy="607695"/>
            <a:chOff x="0" y="6250685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85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73"/>
                  </a:lnTo>
                  <a:lnTo>
                    <a:pt x="9144000" y="32537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0259" y="1818385"/>
            <a:ext cx="7675245" cy="425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ts val="2965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make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distinction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creating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r>
              <a:rPr sz="26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</a:t>
            </a:r>
            <a:endParaRPr sz="2600">
              <a:latin typeface="Calibri"/>
              <a:cs typeface="Calibri"/>
            </a:endParaRPr>
          </a:p>
          <a:p>
            <a:pPr marL="104139">
              <a:lnSpc>
                <a:spcPts val="2965"/>
              </a:lnSpc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using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an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instance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creating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involves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2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defining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name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defining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i="1" dirty="0">
                <a:latin typeface="Calibri"/>
                <a:cs typeface="Calibri"/>
              </a:rPr>
              <a:t>for</a:t>
            </a:r>
            <a:r>
              <a:rPr sz="2400" i="1" spc="-6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example,</a:t>
            </a:r>
            <a:r>
              <a:rPr sz="2400" i="1" spc="-6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someone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wrote</a:t>
            </a:r>
            <a:r>
              <a:rPr sz="2400" i="1" spc="-6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code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to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implement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list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class</a:t>
            </a:r>
            <a:endParaRPr sz="24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27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using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involves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3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creating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instances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objects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doing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instances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2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i="1" dirty="0">
                <a:latin typeface="Calibri"/>
                <a:cs typeface="Calibri"/>
              </a:rPr>
              <a:t>for</a:t>
            </a:r>
            <a:r>
              <a:rPr sz="2400" i="1" spc="-8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example,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L=[1,2]</a:t>
            </a:r>
            <a:r>
              <a:rPr sz="2400" i="1" spc="-919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alibri"/>
                <a:cs typeface="Calibri"/>
              </a:rPr>
              <a:t>and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len(L)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0" y="38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2" y="0"/>
                </a:lnTo>
                <a:lnTo>
                  <a:pt x="29162" y="3746"/>
                </a:lnTo>
                <a:lnTo>
                  <a:pt x="13984" y="13969"/>
                </a:lnTo>
                <a:lnTo>
                  <a:pt x="3751" y="29146"/>
                </a:lnTo>
                <a:lnTo>
                  <a:pt x="0" y="47751"/>
                </a:lnTo>
                <a:lnTo>
                  <a:pt x="0" y="238759"/>
                </a:lnTo>
                <a:lnTo>
                  <a:pt x="3751" y="257365"/>
                </a:lnTo>
                <a:lnTo>
                  <a:pt x="13984" y="272541"/>
                </a:lnTo>
                <a:lnTo>
                  <a:pt x="29162" y="282765"/>
                </a:lnTo>
                <a:lnTo>
                  <a:pt x="47752" y="286511"/>
                </a:lnTo>
                <a:lnTo>
                  <a:pt x="4182872" y="286511"/>
                </a:lnTo>
                <a:lnTo>
                  <a:pt x="4201477" y="282765"/>
                </a:lnTo>
                <a:lnTo>
                  <a:pt x="4216654" y="272541"/>
                </a:lnTo>
                <a:lnTo>
                  <a:pt x="4226877" y="257365"/>
                </a:lnTo>
                <a:lnTo>
                  <a:pt x="4230624" y="238759"/>
                </a:lnTo>
                <a:lnTo>
                  <a:pt x="4230624" y="47751"/>
                </a:lnTo>
                <a:lnTo>
                  <a:pt x="4226877" y="29146"/>
                </a:lnTo>
                <a:lnTo>
                  <a:pt x="4216654" y="13969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0" y="38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0" y="47751"/>
                </a:moveTo>
                <a:lnTo>
                  <a:pt x="3751" y="29146"/>
                </a:lnTo>
                <a:lnTo>
                  <a:pt x="13984" y="13969"/>
                </a:lnTo>
                <a:lnTo>
                  <a:pt x="29162" y="3746"/>
                </a:lnTo>
                <a:lnTo>
                  <a:pt x="47752" y="0"/>
                </a:lnTo>
                <a:lnTo>
                  <a:pt x="4182872" y="0"/>
                </a:lnTo>
                <a:lnTo>
                  <a:pt x="4201477" y="3746"/>
                </a:lnTo>
                <a:lnTo>
                  <a:pt x="4216654" y="13969"/>
                </a:lnTo>
                <a:lnTo>
                  <a:pt x="4226877" y="29146"/>
                </a:lnTo>
                <a:lnTo>
                  <a:pt x="4230624" y="47751"/>
                </a:lnTo>
                <a:lnTo>
                  <a:pt x="4230624" y="238759"/>
                </a:lnTo>
                <a:lnTo>
                  <a:pt x="4226877" y="257365"/>
                </a:lnTo>
                <a:lnTo>
                  <a:pt x="4216654" y="272541"/>
                </a:lnTo>
                <a:lnTo>
                  <a:pt x="4201477" y="282765"/>
                </a:lnTo>
                <a:lnTo>
                  <a:pt x="4182872" y="286511"/>
                </a:lnTo>
                <a:lnTo>
                  <a:pt x="47752" y="286511"/>
                </a:lnTo>
                <a:lnTo>
                  <a:pt x="29162" y="282765"/>
                </a:lnTo>
                <a:lnTo>
                  <a:pt x="13984" y="272541"/>
                </a:lnTo>
                <a:lnTo>
                  <a:pt x="3751" y="257365"/>
                </a:lnTo>
                <a:lnTo>
                  <a:pt x="0" y="238759"/>
                </a:lnTo>
                <a:lnTo>
                  <a:pt x="0" y="47751"/>
                </a:lnTo>
                <a:close/>
              </a:path>
            </a:pathLst>
          </a:custGeom>
          <a:ln w="16002">
            <a:solidFill>
              <a:srgbClr val="0013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905755" y="-7620"/>
            <a:ext cx="4246880" cy="302895"/>
            <a:chOff x="4905755" y="-7620"/>
            <a:chExt cx="4246880" cy="302895"/>
          </a:xfrm>
        </p:grpSpPr>
        <p:sp>
          <p:nvSpPr>
            <p:cNvPr id="11" name="object 11"/>
            <p:cNvSpPr/>
            <p:nvPr/>
          </p:nvSpPr>
          <p:spPr>
            <a:xfrm>
              <a:off x="4913756" y="380"/>
              <a:ext cx="4231005" cy="287020"/>
            </a:xfrm>
            <a:custGeom>
              <a:avLst/>
              <a:gdLst/>
              <a:ahLst/>
              <a:cxnLst/>
              <a:rect l="l" t="t" r="r" b="b"/>
              <a:pathLst>
                <a:path w="4231005" h="287020">
                  <a:moveTo>
                    <a:pt x="4182872" y="0"/>
                  </a:moveTo>
                  <a:lnTo>
                    <a:pt x="47752" y="0"/>
                  </a:lnTo>
                  <a:lnTo>
                    <a:pt x="29146" y="3746"/>
                  </a:lnTo>
                  <a:lnTo>
                    <a:pt x="13970" y="13969"/>
                  </a:lnTo>
                  <a:lnTo>
                    <a:pt x="3746" y="29146"/>
                  </a:lnTo>
                  <a:lnTo>
                    <a:pt x="0" y="47751"/>
                  </a:lnTo>
                  <a:lnTo>
                    <a:pt x="0" y="238759"/>
                  </a:lnTo>
                  <a:lnTo>
                    <a:pt x="3746" y="257365"/>
                  </a:lnTo>
                  <a:lnTo>
                    <a:pt x="13970" y="272541"/>
                  </a:lnTo>
                  <a:lnTo>
                    <a:pt x="29146" y="282765"/>
                  </a:lnTo>
                  <a:lnTo>
                    <a:pt x="47752" y="286511"/>
                  </a:lnTo>
                  <a:lnTo>
                    <a:pt x="4182872" y="286511"/>
                  </a:lnTo>
                  <a:lnTo>
                    <a:pt x="4201477" y="282765"/>
                  </a:lnTo>
                  <a:lnTo>
                    <a:pt x="4216654" y="272541"/>
                  </a:lnTo>
                  <a:lnTo>
                    <a:pt x="4226877" y="257365"/>
                  </a:lnTo>
                  <a:lnTo>
                    <a:pt x="4230624" y="238759"/>
                  </a:lnTo>
                  <a:lnTo>
                    <a:pt x="4230624" y="47751"/>
                  </a:lnTo>
                  <a:lnTo>
                    <a:pt x="4226877" y="29146"/>
                  </a:lnTo>
                  <a:lnTo>
                    <a:pt x="4216654" y="13969"/>
                  </a:lnTo>
                  <a:lnTo>
                    <a:pt x="4201477" y="3746"/>
                  </a:lnTo>
                  <a:lnTo>
                    <a:pt x="418287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13756" y="380"/>
              <a:ext cx="4231005" cy="287020"/>
            </a:xfrm>
            <a:custGeom>
              <a:avLst/>
              <a:gdLst/>
              <a:ahLst/>
              <a:cxnLst/>
              <a:rect l="l" t="t" r="r" b="b"/>
              <a:pathLst>
                <a:path w="4231005" h="287020">
                  <a:moveTo>
                    <a:pt x="0" y="47751"/>
                  </a:moveTo>
                  <a:lnTo>
                    <a:pt x="3746" y="29146"/>
                  </a:lnTo>
                  <a:lnTo>
                    <a:pt x="13970" y="13969"/>
                  </a:lnTo>
                  <a:lnTo>
                    <a:pt x="29146" y="3746"/>
                  </a:lnTo>
                  <a:lnTo>
                    <a:pt x="47752" y="0"/>
                  </a:lnTo>
                  <a:lnTo>
                    <a:pt x="4182872" y="0"/>
                  </a:lnTo>
                  <a:lnTo>
                    <a:pt x="4201477" y="3746"/>
                  </a:lnTo>
                  <a:lnTo>
                    <a:pt x="4216654" y="13969"/>
                  </a:lnTo>
                  <a:lnTo>
                    <a:pt x="4226877" y="29146"/>
                  </a:lnTo>
                  <a:lnTo>
                    <a:pt x="4230624" y="47751"/>
                  </a:lnTo>
                  <a:lnTo>
                    <a:pt x="4230624" y="238759"/>
                  </a:lnTo>
                  <a:lnTo>
                    <a:pt x="4226877" y="257365"/>
                  </a:lnTo>
                  <a:lnTo>
                    <a:pt x="4216654" y="272541"/>
                  </a:lnTo>
                  <a:lnTo>
                    <a:pt x="4201477" y="282765"/>
                  </a:lnTo>
                  <a:lnTo>
                    <a:pt x="4182872" y="286511"/>
                  </a:lnTo>
                  <a:lnTo>
                    <a:pt x="47752" y="286511"/>
                  </a:lnTo>
                  <a:lnTo>
                    <a:pt x="29146" y="282765"/>
                  </a:lnTo>
                  <a:lnTo>
                    <a:pt x="13970" y="272541"/>
                  </a:lnTo>
                  <a:lnTo>
                    <a:pt x="3746" y="257365"/>
                  </a:lnTo>
                  <a:lnTo>
                    <a:pt x="0" y="238759"/>
                  </a:lnTo>
                  <a:lnTo>
                    <a:pt x="0" y="47751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26413" y="-21081"/>
            <a:ext cx="66998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1749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01700" y="291845"/>
            <a:ext cx="6820534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z="4800" spc="-105" dirty="0">
                <a:solidFill>
                  <a:srgbClr val="000000"/>
                </a:solidFill>
                <a:latin typeface="Calibri Light"/>
                <a:cs typeface="Calibri Light"/>
              </a:rPr>
              <a:t>CREATING</a:t>
            </a:r>
            <a:r>
              <a:rPr sz="4800" spc="-17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sz="4800" spc="-2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0" dirty="0">
                <a:solidFill>
                  <a:srgbClr val="000000"/>
                </a:solidFill>
                <a:latin typeface="Calibri Light"/>
                <a:cs typeface="Calibri Light"/>
              </a:rPr>
              <a:t>USING</a:t>
            </a:r>
            <a:r>
              <a:rPr sz="4800" spc="-19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50" dirty="0">
                <a:solidFill>
                  <a:srgbClr val="000000"/>
                </a:solidFill>
                <a:latin typeface="Calibri Light"/>
                <a:cs typeface="Calibri Light"/>
              </a:rPr>
              <a:t>YOUR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OWN</a:t>
            </a:r>
            <a:r>
              <a:rPr sz="4800" spc="-229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45" dirty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sz="4800" spc="-2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0" dirty="0">
                <a:solidFill>
                  <a:srgbClr val="000000"/>
                </a:solidFill>
                <a:latin typeface="Calibri Light"/>
                <a:cs typeface="Calibri Light"/>
              </a:rPr>
              <a:t>WITH</a:t>
            </a:r>
            <a:r>
              <a:rPr sz="4800" spc="-2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CLASSES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98"/>
            <a:ext cx="9144000" cy="607695"/>
            <a:chOff x="0" y="6250698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98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61"/>
                  </a:lnTo>
                  <a:lnTo>
                    <a:pt x="9144000" y="32536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926846"/>
            <a:ext cx="62541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5" dirty="0">
                <a:solidFill>
                  <a:srgbClr val="000000"/>
                </a:solidFill>
                <a:latin typeface="Calibri Light"/>
                <a:cs typeface="Calibri Light"/>
              </a:rPr>
              <a:t>DEFINE</a:t>
            </a:r>
            <a:r>
              <a:rPr sz="4800" spc="-229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55" dirty="0">
                <a:solidFill>
                  <a:srgbClr val="000000"/>
                </a:solidFill>
                <a:latin typeface="Calibri Light"/>
                <a:cs typeface="Calibri Light"/>
              </a:rPr>
              <a:t>YOUR</a:t>
            </a:r>
            <a:r>
              <a:rPr sz="4800" spc="-2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OWN</a:t>
            </a:r>
            <a:r>
              <a:rPr sz="4800" spc="-2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1824481"/>
            <a:ext cx="58667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class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alibri"/>
                <a:cs typeface="Calibri"/>
              </a:rPr>
              <a:t>keyword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type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6952" y="2790825"/>
            <a:ext cx="1013460" cy="45910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535"/>
              </a:spcBef>
            </a:pPr>
            <a:r>
              <a:rPr sz="2400" spc="-10" dirty="0">
                <a:latin typeface="Courier New"/>
                <a:cs typeface="Courier New"/>
              </a:rPr>
              <a:t>class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06016" y="2846070"/>
            <a:ext cx="3493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Coordinate(object):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0259" y="3204819"/>
            <a:ext cx="7712075" cy="293687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742315">
              <a:lnSpc>
                <a:spcPct val="100000"/>
              </a:lnSpc>
              <a:spcBef>
                <a:spcPts val="1210"/>
              </a:spcBef>
            </a:pPr>
            <a:r>
              <a:rPr sz="2400" dirty="0">
                <a:latin typeface="Courier New"/>
                <a:cs typeface="Courier New"/>
              </a:rPr>
              <a:t>#define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attributes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here</a:t>
            </a:r>
            <a:endParaRPr sz="2400">
              <a:latin typeface="Courier New"/>
              <a:cs typeface="Courier New"/>
            </a:endParaRPr>
          </a:p>
          <a:p>
            <a:pPr marL="104139" marR="5080" indent="-91440">
              <a:lnSpc>
                <a:spcPts val="2580"/>
              </a:lnSpc>
              <a:spcBef>
                <a:spcPts val="144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	similar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def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statements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definition</a:t>
            </a:r>
            <a:endParaRPr sz="2400">
              <a:latin typeface="Calibri"/>
              <a:cs typeface="Calibri"/>
            </a:endParaRPr>
          </a:p>
          <a:p>
            <a:pPr marL="104139" marR="59055" indent="-91440">
              <a:lnSpc>
                <a:spcPts val="2580"/>
              </a:lnSpc>
              <a:spcBef>
                <a:spcPts val="143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	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object</a:t>
            </a:r>
            <a:r>
              <a:rPr sz="2400" spc="-919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Coordinate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Python </a:t>
            </a: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inherits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(inheritance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lecture)</a:t>
            </a:r>
            <a:endParaRPr sz="2400">
              <a:latin typeface="Calibri"/>
              <a:cs typeface="Calibri"/>
            </a:endParaRPr>
          </a:p>
          <a:p>
            <a:pPr marL="459740" lvl="1" indent="-246379">
              <a:lnSpc>
                <a:spcPct val="100000"/>
              </a:lnSpc>
              <a:spcBef>
                <a:spcPts val="125"/>
              </a:spcBef>
              <a:buClr>
                <a:srgbClr val="585858"/>
              </a:buClr>
              <a:buFont typeface="Arial MT"/>
              <a:buChar char="•"/>
              <a:tabLst>
                <a:tab pos="459740" algn="l"/>
              </a:tabLst>
            </a:pPr>
            <a:r>
              <a:rPr sz="2200" spc="-25" dirty="0">
                <a:latin typeface="Courier New"/>
                <a:cs typeface="Courier New"/>
              </a:rPr>
              <a:t>Coordinate</a:t>
            </a:r>
            <a:r>
              <a:rPr sz="2200" spc="-785" dirty="0">
                <a:latin typeface="Courier New"/>
                <a:cs typeface="Courier New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subclass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object</a:t>
            </a:r>
            <a:endParaRPr sz="2200">
              <a:latin typeface="Courier New"/>
              <a:cs typeface="Courier New"/>
            </a:endParaRPr>
          </a:p>
          <a:p>
            <a:pPr marL="459740" lvl="1" indent="-246379">
              <a:lnSpc>
                <a:spcPct val="100000"/>
              </a:lnSpc>
              <a:spcBef>
                <a:spcPts val="334"/>
              </a:spcBef>
              <a:buClr>
                <a:srgbClr val="585858"/>
              </a:buClr>
              <a:buFont typeface="Arial MT"/>
              <a:buChar char="•"/>
              <a:tabLst>
                <a:tab pos="459740" algn="l"/>
              </a:tabLst>
            </a:pPr>
            <a:r>
              <a:rPr sz="2200" spc="-25" dirty="0">
                <a:latin typeface="Courier New"/>
                <a:cs typeface="Courier New"/>
              </a:rPr>
              <a:t>object</a:t>
            </a:r>
            <a:r>
              <a:rPr sz="2200" spc="-785" dirty="0">
                <a:latin typeface="Courier New"/>
                <a:cs typeface="Courier New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superclass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0" dirty="0">
                <a:latin typeface="Courier New"/>
                <a:cs typeface="Courier New"/>
              </a:rPr>
              <a:t>Coordinate</a:t>
            </a:r>
            <a:endParaRPr sz="2200">
              <a:latin typeface="Courier New"/>
              <a:cs typeface="Courier New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047" y="3331845"/>
            <a:ext cx="1239443" cy="69570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20213" y="2183638"/>
            <a:ext cx="928496" cy="541274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836801" y="2790825"/>
            <a:ext cx="1938020" cy="459105"/>
          </a:xfrm>
          <a:custGeom>
            <a:avLst/>
            <a:gdLst/>
            <a:ahLst/>
            <a:cxnLst/>
            <a:rect l="l" t="t" r="r" b="b"/>
            <a:pathLst>
              <a:path w="1938020" h="459105">
                <a:moveTo>
                  <a:pt x="0" y="458724"/>
                </a:moveTo>
                <a:lnTo>
                  <a:pt x="1937766" y="458724"/>
                </a:lnTo>
                <a:lnTo>
                  <a:pt x="1937766" y="0"/>
                </a:lnTo>
                <a:lnTo>
                  <a:pt x="0" y="0"/>
                </a:lnTo>
                <a:lnTo>
                  <a:pt x="0" y="458724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3916679" y="2242057"/>
            <a:ext cx="1813560" cy="1016000"/>
            <a:chOff x="3916679" y="2242057"/>
            <a:chExt cx="1813560" cy="101600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1519" y="2242057"/>
              <a:ext cx="688339" cy="5541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924680" y="2790824"/>
              <a:ext cx="1073150" cy="459105"/>
            </a:xfrm>
            <a:custGeom>
              <a:avLst/>
              <a:gdLst/>
              <a:ahLst/>
              <a:cxnLst/>
              <a:rect l="l" t="t" r="r" b="b"/>
              <a:pathLst>
                <a:path w="1073150" h="459105">
                  <a:moveTo>
                    <a:pt x="0" y="458724"/>
                  </a:moveTo>
                  <a:lnTo>
                    <a:pt x="1072896" y="458724"/>
                  </a:lnTo>
                  <a:lnTo>
                    <a:pt x="1072896" y="0"/>
                  </a:lnTo>
                  <a:lnTo>
                    <a:pt x="0" y="0"/>
                  </a:lnTo>
                  <a:lnTo>
                    <a:pt x="0" y="458724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0" y="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2" y="0"/>
                </a:lnTo>
                <a:lnTo>
                  <a:pt x="29162" y="3746"/>
                </a:lnTo>
                <a:lnTo>
                  <a:pt x="13984" y="13969"/>
                </a:lnTo>
                <a:lnTo>
                  <a:pt x="3751" y="29146"/>
                </a:lnTo>
                <a:lnTo>
                  <a:pt x="0" y="47751"/>
                </a:lnTo>
                <a:lnTo>
                  <a:pt x="0" y="238759"/>
                </a:lnTo>
                <a:lnTo>
                  <a:pt x="3751" y="257365"/>
                </a:lnTo>
                <a:lnTo>
                  <a:pt x="13984" y="272541"/>
                </a:lnTo>
                <a:lnTo>
                  <a:pt x="29162" y="282765"/>
                </a:lnTo>
                <a:lnTo>
                  <a:pt x="47752" y="286511"/>
                </a:lnTo>
                <a:lnTo>
                  <a:pt x="4182872" y="286511"/>
                </a:lnTo>
                <a:lnTo>
                  <a:pt x="4201477" y="282765"/>
                </a:lnTo>
                <a:lnTo>
                  <a:pt x="4216654" y="272541"/>
                </a:lnTo>
                <a:lnTo>
                  <a:pt x="4226877" y="257365"/>
                </a:lnTo>
                <a:lnTo>
                  <a:pt x="4230624" y="238759"/>
                </a:lnTo>
                <a:lnTo>
                  <a:pt x="4230624" y="47751"/>
                </a:lnTo>
                <a:lnTo>
                  <a:pt x="4226877" y="29146"/>
                </a:lnTo>
                <a:lnTo>
                  <a:pt x="4216654" y="13969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26413" y="-21081"/>
            <a:ext cx="2176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13377" y="1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1" y="0"/>
                </a:lnTo>
                <a:lnTo>
                  <a:pt x="29146" y="3746"/>
                </a:lnTo>
                <a:lnTo>
                  <a:pt x="13970" y="13970"/>
                </a:lnTo>
                <a:lnTo>
                  <a:pt x="3746" y="29146"/>
                </a:lnTo>
                <a:lnTo>
                  <a:pt x="0" y="47752"/>
                </a:lnTo>
                <a:lnTo>
                  <a:pt x="0" y="238760"/>
                </a:lnTo>
                <a:lnTo>
                  <a:pt x="3746" y="257365"/>
                </a:lnTo>
                <a:lnTo>
                  <a:pt x="13970" y="272542"/>
                </a:lnTo>
                <a:lnTo>
                  <a:pt x="29146" y="282765"/>
                </a:lnTo>
                <a:lnTo>
                  <a:pt x="47751" y="286512"/>
                </a:lnTo>
                <a:lnTo>
                  <a:pt x="4182872" y="286512"/>
                </a:lnTo>
                <a:lnTo>
                  <a:pt x="4201477" y="282765"/>
                </a:lnTo>
                <a:lnTo>
                  <a:pt x="4216654" y="272542"/>
                </a:lnTo>
                <a:lnTo>
                  <a:pt x="4226877" y="257365"/>
                </a:lnTo>
                <a:lnTo>
                  <a:pt x="4230624" y="238760"/>
                </a:lnTo>
                <a:lnTo>
                  <a:pt x="4230624" y="47752"/>
                </a:lnTo>
                <a:lnTo>
                  <a:pt x="4226877" y="29146"/>
                </a:lnTo>
                <a:lnTo>
                  <a:pt x="4216654" y="13970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BFC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331711" y="-21081"/>
            <a:ext cx="1395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85"/>
            <a:ext cx="9144000" cy="607695"/>
            <a:chOff x="0" y="6250685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85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73"/>
                  </a:lnTo>
                  <a:lnTo>
                    <a:pt x="9144000" y="32537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>
                <a:solidFill>
                  <a:srgbClr val="000000"/>
                </a:solidFill>
                <a:latin typeface="Calibri Light"/>
                <a:cs typeface="Calibri Light"/>
              </a:rPr>
              <a:t>WHAT</a:t>
            </a:r>
            <a:r>
              <a:rPr sz="4800" spc="-1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ARE</a:t>
            </a:r>
            <a:r>
              <a:rPr sz="4800" spc="-2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70" dirty="0">
                <a:solidFill>
                  <a:srgbClr val="000000"/>
                </a:solidFill>
                <a:latin typeface="Calibri Light"/>
                <a:cs typeface="Calibri Light"/>
              </a:rPr>
              <a:t>ATTRIBUTES?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810259" y="1679849"/>
            <a:ext cx="7798434" cy="429133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data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procedures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“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belong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600" b="1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attributes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2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think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i="1" dirty="0">
                <a:latin typeface="Calibri"/>
                <a:cs typeface="Calibri"/>
              </a:rPr>
              <a:t>for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example,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coordinate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is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made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up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of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two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numbers</a:t>
            </a:r>
            <a:endParaRPr sz="24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27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methods</a:t>
            </a:r>
            <a:r>
              <a:rPr sz="2600" b="1" spc="-1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(procedural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attributes)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3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think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interact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  <a:p>
            <a:pPr marL="396240" marR="473709" lvl="1" indent="-182880">
              <a:lnSpc>
                <a:spcPts val="2590"/>
              </a:lnSpc>
              <a:spcBef>
                <a:spcPts val="645"/>
              </a:spcBef>
              <a:buChar char="•"/>
              <a:tabLst>
                <a:tab pos="396240" algn="l"/>
                <a:tab pos="464820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2400" i="1" dirty="0">
                <a:latin typeface="Calibri"/>
                <a:cs typeface="Calibri"/>
              </a:rPr>
              <a:t>for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example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you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can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define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distance</a:t>
            </a:r>
            <a:r>
              <a:rPr sz="2400" i="1" spc="-6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between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two </a:t>
            </a:r>
            <a:r>
              <a:rPr sz="2400" i="1" spc="-10" dirty="0">
                <a:latin typeface="Calibri"/>
                <a:cs typeface="Calibri"/>
              </a:rPr>
              <a:t>coordinate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objects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but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there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is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no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meaning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to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distance </a:t>
            </a:r>
            <a:r>
              <a:rPr sz="2400" i="1" dirty="0">
                <a:latin typeface="Calibri"/>
                <a:cs typeface="Calibri"/>
              </a:rPr>
              <a:t>between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two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list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objects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98"/>
            <a:ext cx="9144000" cy="607695"/>
            <a:chOff x="0" y="6250698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98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61"/>
                  </a:lnTo>
                  <a:lnTo>
                    <a:pt x="9144000" y="32536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z="4800" spc="-60" dirty="0">
                <a:solidFill>
                  <a:srgbClr val="000000"/>
                </a:solidFill>
                <a:latin typeface="Calibri Light"/>
                <a:cs typeface="Calibri Light"/>
              </a:rPr>
              <a:t>DEFINING</a:t>
            </a:r>
            <a:r>
              <a:rPr sz="4800" spc="-2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0" dirty="0">
                <a:solidFill>
                  <a:srgbClr val="000000"/>
                </a:solidFill>
                <a:latin typeface="Calibri Light"/>
                <a:cs typeface="Calibri Light"/>
              </a:rPr>
              <a:t>HOW</a:t>
            </a:r>
            <a:r>
              <a:rPr sz="4800" spc="-2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50" dirty="0">
                <a:solidFill>
                  <a:srgbClr val="000000"/>
                </a:solidFill>
                <a:latin typeface="Calibri Light"/>
                <a:cs typeface="Calibri Light"/>
              </a:rPr>
              <a:t>TO</a:t>
            </a:r>
            <a:r>
              <a:rPr sz="4800" spc="-20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25" dirty="0">
                <a:solidFill>
                  <a:srgbClr val="000000"/>
                </a:solidFill>
                <a:latin typeface="Calibri Light"/>
                <a:cs typeface="Calibri Light"/>
              </a:rPr>
              <a:t>CREATE</a:t>
            </a:r>
            <a:r>
              <a:rPr sz="4800" spc="-1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000000"/>
                </a:solidFill>
                <a:latin typeface="Calibri Light"/>
                <a:cs typeface="Calibri Light"/>
              </a:rPr>
              <a:t>AN </a:t>
            </a:r>
            <a:r>
              <a:rPr sz="4800" spc="-110" dirty="0">
                <a:solidFill>
                  <a:srgbClr val="000000"/>
                </a:solidFill>
                <a:latin typeface="Calibri Light"/>
                <a:cs typeface="Calibri Light"/>
              </a:rPr>
              <a:t>INSTANCE</a:t>
            </a:r>
            <a:r>
              <a:rPr sz="4800" spc="-1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sz="4800" spc="-1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A</a:t>
            </a:r>
            <a:r>
              <a:rPr sz="4800" spc="-1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CLASS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1813051"/>
            <a:ext cx="7233284" cy="8375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04139" marR="5080" indent="-91440">
              <a:lnSpc>
                <a:spcPts val="3030"/>
              </a:lnSpc>
              <a:spcBef>
                <a:spcPts val="48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55270" algn="l"/>
              </a:tabLst>
            </a:pPr>
            <a:r>
              <a:rPr sz="2800" dirty="0">
                <a:latin typeface="Calibri"/>
                <a:cs typeface="Calibri"/>
              </a:rPr>
              <a:t>	first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how</a:t>
            </a:r>
            <a:r>
              <a:rPr sz="28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create</a:t>
            </a:r>
            <a:r>
              <a:rPr sz="2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an</a:t>
            </a:r>
            <a:r>
              <a:rPr sz="2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instance</a:t>
            </a:r>
            <a:r>
              <a:rPr sz="2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object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85003" y="3219154"/>
            <a:ext cx="427355" cy="0"/>
          </a:xfrm>
          <a:custGeom>
            <a:avLst/>
            <a:gdLst/>
            <a:ahLst/>
            <a:cxnLst/>
            <a:rect l="l" t="t" r="r" b="b"/>
            <a:pathLst>
              <a:path w="427354">
                <a:moveTo>
                  <a:pt x="0" y="0"/>
                </a:moveTo>
                <a:lnTo>
                  <a:pt x="427024" y="0"/>
                </a:lnTo>
              </a:path>
            </a:pathLst>
          </a:custGeom>
          <a:ln w="35585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63943" y="3219154"/>
            <a:ext cx="425450" cy="0"/>
          </a:xfrm>
          <a:custGeom>
            <a:avLst/>
            <a:gdLst/>
            <a:ahLst/>
            <a:cxnLst/>
            <a:rect l="l" t="t" r="r" b="b"/>
            <a:pathLst>
              <a:path w="425450">
                <a:moveTo>
                  <a:pt x="0" y="0"/>
                </a:moveTo>
                <a:lnTo>
                  <a:pt x="424889" y="0"/>
                </a:lnTo>
              </a:path>
            </a:pathLst>
          </a:custGeom>
          <a:ln w="35585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599328" y="2761636"/>
            <a:ext cx="18110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9870" algn="l"/>
              </a:tabLst>
            </a:pPr>
            <a:r>
              <a:rPr sz="2800" b="1" spc="-20" dirty="0">
                <a:solidFill>
                  <a:srgbClr val="C00000"/>
                </a:solidFill>
                <a:latin typeface="Courier New"/>
                <a:cs typeface="Courier New"/>
              </a:rPr>
              <a:t>init</a:t>
            </a:r>
            <a:r>
              <a:rPr sz="2800" b="1" dirty="0">
                <a:solidFill>
                  <a:srgbClr val="C0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0245" y="2761636"/>
            <a:ext cx="4386580" cy="132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indent="-242570">
              <a:lnSpc>
                <a:spcPts val="3185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55270" algn="l"/>
              </a:tabLst>
            </a:pPr>
            <a:r>
              <a:rPr sz="2800" dirty="0">
                <a:latin typeface="Calibri"/>
                <a:cs typeface="Calibri"/>
              </a:rPr>
              <a:t>use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special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method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called</a:t>
            </a:r>
            <a:endParaRPr sz="2800">
              <a:latin typeface="Calibri"/>
              <a:cs typeface="Calibri"/>
            </a:endParaRPr>
          </a:p>
          <a:p>
            <a:pPr marL="104139">
              <a:lnSpc>
                <a:spcPts val="3185"/>
              </a:lnSpc>
            </a:pPr>
            <a:r>
              <a:rPr sz="2800" dirty="0">
                <a:latin typeface="Calibri"/>
                <a:cs typeface="Calibri"/>
              </a:rPr>
              <a:t>initialize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200" dirty="0">
                <a:latin typeface="Courier New"/>
                <a:cs typeface="Courier New"/>
              </a:rPr>
              <a:t>class</a:t>
            </a:r>
            <a:r>
              <a:rPr sz="2200" spc="-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Coordinate(object):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83107" y="4207031"/>
            <a:ext cx="4229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ourier New"/>
                <a:cs typeface="Courier New"/>
              </a:rPr>
              <a:t>def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u="sng" spc="-3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init</a:t>
            </a:r>
            <a:r>
              <a:rPr sz="2200" u="sng" spc="-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(self,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x,</a:t>
            </a:r>
            <a:r>
              <a:rPr sz="2200" spc="-25" dirty="0">
                <a:latin typeface="Courier New"/>
                <a:cs typeface="Courier New"/>
              </a:rPr>
              <a:t> y):</a:t>
            </a:r>
            <a:endParaRPr sz="2200">
              <a:latin typeface="Courier New"/>
              <a:cs typeface="Courier New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137155" y="4746387"/>
          <a:ext cx="1744980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145">
                <a:tc>
                  <a:txBody>
                    <a:bodyPr/>
                    <a:lstStyle/>
                    <a:p>
                      <a:pPr marR="45085" algn="ctr">
                        <a:lnSpc>
                          <a:spcPts val="2275"/>
                        </a:lnSpc>
                      </a:pPr>
                      <a:r>
                        <a:rPr sz="2200" spc="-10" dirty="0">
                          <a:latin typeface="Courier New"/>
                          <a:cs typeface="Courier New"/>
                        </a:rPr>
                        <a:t>self.x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2275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R="444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200" spc="-10" dirty="0">
                          <a:latin typeface="Courier New"/>
                          <a:cs typeface="Courier New"/>
                        </a:rPr>
                        <a:t>self.y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52069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y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8" y="4628260"/>
            <a:ext cx="1644345" cy="1547025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692270" y="4192142"/>
            <a:ext cx="655320" cy="458470"/>
          </a:xfrm>
          <a:custGeom>
            <a:avLst/>
            <a:gdLst/>
            <a:ahLst/>
            <a:cxnLst/>
            <a:rect l="l" t="t" r="r" b="b"/>
            <a:pathLst>
              <a:path w="655320" h="458470">
                <a:moveTo>
                  <a:pt x="0" y="457962"/>
                </a:moveTo>
                <a:lnTo>
                  <a:pt x="655320" y="457962"/>
                </a:lnTo>
                <a:lnTo>
                  <a:pt x="655320" y="0"/>
                </a:lnTo>
                <a:lnTo>
                  <a:pt x="0" y="0"/>
                </a:lnTo>
                <a:lnTo>
                  <a:pt x="0" y="457962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8074" y="3321939"/>
            <a:ext cx="4899659" cy="322492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9932" y="5302897"/>
            <a:ext cx="533908" cy="346709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841753" y="4184141"/>
            <a:ext cx="1735455" cy="700405"/>
            <a:chOff x="1841753" y="4184141"/>
            <a:chExt cx="1735455" cy="700405"/>
          </a:xfrm>
        </p:grpSpPr>
        <p:sp>
          <p:nvSpPr>
            <p:cNvPr id="20" name="object 20"/>
            <p:cNvSpPr/>
            <p:nvPr/>
          </p:nvSpPr>
          <p:spPr>
            <a:xfrm>
              <a:off x="2109596" y="4192142"/>
              <a:ext cx="1459230" cy="458470"/>
            </a:xfrm>
            <a:custGeom>
              <a:avLst/>
              <a:gdLst/>
              <a:ahLst/>
              <a:cxnLst/>
              <a:rect l="l" t="t" r="r" b="b"/>
              <a:pathLst>
                <a:path w="1459229" h="458470">
                  <a:moveTo>
                    <a:pt x="0" y="457962"/>
                  </a:moveTo>
                  <a:lnTo>
                    <a:pt x="1459230" y="457962"/>
                  </a:lnTo>
                  <a:lnTo>
                    <a:pt x="1459230" y="0"/>
                  </a:lnTo>
                  <a:lnTo>
                    <a:pt x="0" y="0"/>
                  </a:lnTo>
                  <a:lnTo>
                    <a:pt x="0" y="457962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41753" y="4690490"/>
              <a:ext cx="226059" cy="193675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0" y="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2" y="0"/>
                </a:lnTo>
                <a:lnTo>
                  <a:pt x="29162" y="3746"/>
                </a:lnTo>
                <a:lnTo>
                  <a:pt x="13984" y="13969"/>
                </a:lnTo>
                <a:lnTo>
                  <a:pt x="3751" y="29146"/>
                </a:lnTo>
                <a:lnTo>
                  <a:pt x="0" y="47751"/>
                </a:lnTo>
                <a:lnTo>
                  <a:pt x="0" y="238759"/>
                </a:lnTo>
                <a:lnTo>
                  <a:pt x="3751" y="257365"/>
                </a:lnTo>
                <a:lnTo>
                  <a:pt x="13984" y="272541"/>
                </a:lnTo>
                <a:lnTo>
                  <a:pt x="29162" y="282765"/>
                </a:lnTo>
                <a:lnTo>
                  <a:pt x="47752" y="286511"/>
                </a:lnTo>
                <a:lnTo>
                  <a:pt x="4182872" y="286511"/>
                </a:lnTo>
                <a:lnTo>
                  <a:pt x="4201477" y="282765"/>
                </a:lnTo>
                <a:lnTo>
                  <a:pt x="4216654" y="272541"/>
                </a:lnTo>
                <a:lnTo>
                  <a:pt x="4226877" y="257365"/>
                </a:lnTo>
                <a:lnTo>
                  <a:pt x="4230624" y="238759"/>
                </a:lnTo>
                <a:lnTo>
                  <a:pt x="4230624" y="47751"/>
                </a:lnTo>
                <a:lnTo>
                  <a:pt x="4226877" y="29146"/>
                </a:lnTo>
                <a:lnTo>
                  <a:pt x="4216654" y="13969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13377" y="1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1" y="0"/>
                </a:lnTo>
                <a:lnTo>
                  <a:pt x="29146" y="3746"/>
                </a:lnTo>
                <a:lnTo>
                  <a:pt x="13970" y="13970"/>
                </a:lnTo>
                <a:lnTo>
                  <a:pt x="3746" y="29146"/>
                </a:lnTo>
                <a:lnTo>
                  <a:pt x="0" y="47752"/>
                </a:lnTo>
                <a:lnTo>
                  <a:pt x="0" y="238760"/>
                </a:lnTo>
                <a:lnTo>
                  <a:pt x="3746" y="257365"/>
                </a:lnTo>
                <a:lnTo>
                  <a:pt x="13970" y="272542"/>
                </a:lnTo>
                <a:lnTo>
                  <a:pt x="29146" y="282765"/>
                </a:lnTo>
                <a:lnTo>
                  <a:pt x="47751" y="286512"/>
                </a:lnTo>
                <a:lnTo>
                  <a:pt x="4182872" y="286512"/>
                </a:lnTo>
                <a:lnTo>
                  <a:pt x="4201477" y="282765"/>
                </a:lnTo>
                <a:lnTo>
                  <a:pt x="4216654" y="272542"/>
                </a:lnTo>
                <a:lnTo>
                  <a:pt x="4226877" y="257365"/>
                </a:lnTo>
                <a:lnTo>
                  <a:pt x="4230624" y="238760"/>
                </a:lnTo>
                <a:lnTo>
                  <a:pt x="4230624" y="47752"/>
                </a:lnTo>
                <a:lnTo>
                  <a:pt x="4226877" y="29146"/>
                </a:lnTo>
                <a:lnTo>
                  <a:pt x="4216654" y="13970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BFC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26413" y="-21081"/>
            <a:ext cx="66998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1749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98"/>
            <a:ext cx="9144000" cy="607695"/>
            <a:chOff x="0" y="6250698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98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61"/>
                  </a:lnTo>
                  <a:lnTo>
                    <a:pt x="9144000" y="32536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z="4800" spc="-110" dirty="0">
                <a:solidFill>
                  <a:srgbClr val="000000"/>
                </a:solidFill>
                <a:latin typeface="Calibri Light"/>
                <a:cs typeface="Calibri Light"/>
              </a:rPr>
              <a:t>ACTUALLY</a:t>
            </a:r>
            <a:r>
              <a:rPr sz="4800" spc="-120" dirty="0">
                <a:solidFill>
                  <a:srgbClr val="000000"/>
                </a:solidFill>
                <a:latin typeface="Calibri Light"/>
                <a:cs typeface="Calibri Light"/>
              </a:rPr>
              <a:t> CREATING</a:t>
            </a:r>
            <a:r>
              <a:rPr sz="4800" spc="-1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000000"/>
                </a:solidFill>
                <a:latin typeface="Calibri Light"/>
                <a:cs typeface="Calibri Light"/>
              </a:rPr>
              <a:t>AN </a:t>
            </a:r>
            <a:r>
              <a:rPr sz="4800" spc="-110" dirty="0">
                <a:solidFill>
                  <a:srgbClr val="000000"/>
                </a:solidFill>
                <a:latin typeface="Calibri Light"/>
                <a:cs typeface="Calibri Light"/>
              </a:rPr>
              <a:t>INSTANCE</a:t>
            </a:r>
            <a:r>
              <a:rPr sz="4800" spc="-1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sz="4800" spc="-1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A</a:t>
            </a:r>
            <a:r>
              <a:rPr sz="4800" spc="-1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CLASS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2600705"/>
            <a:ext cx="5302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ourier New"/>
                <a:cs typeface="Courier New"/>
              </a:rPr>
              <a:t>c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=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9601" y="2600325"/>
            <a:ext cx="5468620" cy="47815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05"/>
              </a:spcBef>
            </a:pPr>
            <a:r>
              <a:rPr sz="2200" spc="-10" dirty="0">
                <a:latin typeface="Courier New"/>
                <a:cs typeface="Courier New"/>
              </a:rPr>
              <a:t>Coordinate(3,4)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259" y="2936290"/>
            <a:ext cx="4059554" cy="85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900"/>
              </a:lnSpc>
              <a:spcBef>
                <a:spcPts val="100"/>
              </a:spcBef>
            </a:pPr>
            <a:r>
              <a:rPr sz="2200" dirty="0">
                <a:latin typeface="Courier New"/>
                <a:cs typeface="Courier New"/>
              </a:rPr>
              <a:t>origin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Coordinate(0,0) print(c.x)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0259" y="3838175"/>
            <a:ext cx="7156450" cy="2259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Courier New"/>
                <a:cs typeface="Courier New"/>
              </a:rPr>
              <a:t>print(origin.x)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310"/>
              </a:spcBef>
            </a:pPr>
            <a:endParaRPr sz="2200">
              <a:latin typeface="Courier New"/>
              <a:cs typeface="Courier New"/>
            </a:endParaRPr>
          </a:p>
          <a:p>
            <a:pPr marL="104139" marR="398780" indent="-91440">
              <a:lnSpc>
                <a:spcPct val="70100"/>
              </a:lnSpc>
              <a:spcBef>
                <a:spcPts val="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data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attributes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instance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instance variables</a:t>
            </a:r>
            <a:endParaRPr sz="2600">
              <a:latin typeface="Calibri"/>
              <a:cs typeface="Calibri"/>
            </a:endParaRPr>
          </a:p>
          <a:p>
            <a:pPr marL="103505" marR="5080" indent="-91440">
              <a:lnSpc>
                <a:spcPct val="70000"/>
              </a:lnSpc>
              <a:spcBef>
                <a:spcPts val="1400"/>
              </a:spcBef>
              <a:buClr>
                <a:srgbClr val="585858"/>
              </a:buClr>
              <a:buFont typeface="Wingdings"/>
              <a:buChar char=""/>
              <a:tabLst>
                <a:tab pos="103505" algn="l"/>
                <a:tab pos="236854" algn="l"/>
              </a:tabLst>
            </a:pPr>
            <a:r>
              <a:rPr sz="2600" dirty="0">
                <a:latin typeface="Calibri"/>
                <a:cs typeface="Calibri"/>
              </a:rPr>
              <a:t>	don’t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argument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ourier New"/>
                <a:cs typeface="Courier New"/>
              </a:rPr>
              <a:t>self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Python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this </a:t>
            </a:r>
            <a:r>
              <a:rPr sz="2600" spc="-10" dirty="0">
                <a:latin typeface="Calibri"/>
                <a:cs typeface="Calibri"/>
              </a:rPr>
              <a:t>automatically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9970" y="2348992"/>
            <a:ext cx="1847595" cy="188950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808225" y="3390900"/>
            <a:ext cx="4832985" cy="1386840"/>
            <a:chOff x="1808225" y="3390900"/>
            <a:chExt cx="4832985" cy="1386840"/>
          </a:xfrm>
        </p:grpSpPr>
        <p:sp>
          <p:nvSpPr>
            <p:cNvPr id="14" name="object 14"/>
            <p:cNvSpPr/>
            <p:nvPr/>
          </p:nvSpPr>
          <p:spPr>
            <a:xfrm>
              <a:off x="1816226" y="3398900"/>
              <a:ext cx="3510279" cy="477520"/>
            </a:xfrm>
            <a:custGeom>
              <a:avLst/>
              <a:gdLst/>
              <a:ahLst/>
              <a:cxnLst/>
              <a:rect l="l" t="t" r="r" b="b"/>
              <a:pathLst>
                <a:path w="3510279" h="477520">
                  <a:moveTo>
                    <a:pt x="0" y="477012"/>
                  </a:moveTo>
                  <a:lnTo>
                    <a:pt x="3509772" y="477012"/>
                  </a:lnTo>
                  <a:lnTo>
                    <a:pt x="3509772" y="0"/>
                  </a:lnTo>
                  <a:lnTo>
                    <a:pt x="0" y="0"/>
                  </a:lnTo>
                  <a:lnTo>
                    <a:pt x="0" y="477012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2077" y="3639438"/>
              <a:ext cx="1698752" cy="1137793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-1" y="1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1" y="0"/>
                </a:lnTo>
                <a:lnTo>
                  <a:pt x="29162" y="3746"/>
                </a:lnTo>
                <a:lnTo>
                  <a:pt x="13984" y="13970"/>
                </a:lnTo>
                <a:lnTo>
                  <a:pt x="3751" y="29146"/>
                </a:lnTo>
                <a:lnTo>
                  <a:pt x="0" y="47752"/>
                </a:lnTo>
                <a:lnTo>
                  <a:pt x="0" y="238760"/>
                </a:lnTo>
                <a:lnTo>
                  <a:pt x="3751" y="257365"/>
                </a:lnTo>
                <a:lnTo>
                  <a:pt x="13984" y="272542"/>
                </a:lnTo>
                <a:lnTo>
                  <a:pt x="29162" y="282765"/>
                </a:lnTo>
                <a:lnTo>
                  <a:pt x="47751" y="286512"/>
                </a:lnTo>
                <a:lnTo>
                  <a:pt x="4182872" y="286512"/>
                </a:lnTo>
                <a:lnTo>
                  <a:pt x="4201477" y="282765"/>
                </a:lnTo>
                <a:lnTo>
                  <a:pt x="4216654" y="272542"/>
                </a:lnTo>
                <a:lnTo>
                  <a:pt x="4226877" y="257365"/>
                </a:lnTo>
                <a:lnTo>
                  <a:pt x="4230624" y="238760"/>
                </a:lnTo>
                <a:lnTo>
                  <a:pt x="4230624" y="47752"/>
                </a:lnTo>
                <a:lnTo>
                  <a:pt x="4226877" y="29146"/>
                </a:lnTo>
                <a:lnTo>
                  <a:pt x="4216654" y="13970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BFC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13376" y="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2" y="0"/>
                </a:lnTo>
                <a:lnTo>
                  <a:pt x="29146" y="3746"/>
                </a:lnTo>
                <a:lnTo>
                  <a:pt x="13970" y="13969"/>
                </a:lnTo>
                <a:lnTo>
                  <a:pt x="3746" y="29146"/>
                </a:lnTo>
                <a:lnTo>
                  <a:pt x="0" y="47751"/>
                </a:lnTo>
                <a:lnTo>
                  <a:pt x="0" y="238759"/>
                </a:lnTo>
                <a:lnTo>
                  <a:pt x="3746" y="257365"/>
                </a:lnTo>
                <a:lnTo>
                  <a:pt x="13970" y="272541"/>
                </a:lnTo>
                <a:lnTo>
                  <a:pt x="29146" y="282765"/>
                </a:lnTo>
                <a:lnTo>
                  <a:pt x="47752" y="286511"/>
                </a:lnTo>
                <a:lnTo>
                  <a:pt x="4182872" y="286511"/>
                </a:lnTo>
                <a:lnTo>
                  <a:pt x="4201477" y="282765"/>
                </a:lnTo>
                <a:lnTo>
                  <a:pt x="4216654" y="272541"/>
                </a:lnTo>
                <a:lnTo>
                  <a:pt x="4226877" y="257365"/>
                </a:lnTo>
                <a:lnTo>
                  <a:pt x="4230624" y="238759"/>
                </a:lnTo>
                <a:lnTo>
                  <a:pt x="4230624" y="47751"/>
                </a:lnTo>
                <a:lnTo>
                  <a:pt x="4226877" y="29146"/>
                </a:lnTo>
                <a:lnTo>
                  <a:pt x="4216654" y="13969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26413" y="-21081"/>
            <a:ext cx="66998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1749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85"/>
            <a:ext cx="9144000" cy="607695"/>
            <a:chOff x="0" y="6250685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85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73"/>
                  </a:lnTo>
                  <a:lnTo>
                    <a:pt x="9144000" y="32537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>
                <a:solidFill>
                  <a:srgbClr val="000000"/>
                </a:solidFill>
                <a:latin typeface="Calibri Light"/>
                <a:cs typeface="Calibri Light"/>
              </a:rPr>
              <a:t>WHAT</a:t>
            </a:r>
            <a:r>
              <a:rPr sz="4800" spc="-1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IS</a:t>
            </a:r>
            <a:r>
              <a:rPr sz="4800" spc="-1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A</a:t>
            </a:r>
            <a:r>
              <a:rPr sz="4800" spc="-1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30" dirty="0">
                <a:solidFill>
                  <a:srgbClr val="000000"/>
                </a:solidFill>
                <a:latin typeface="Calibri Light"/>
                <a:cs typeface="Calibri Light"/>
              </a:rPr>
              <a:t>METHOD?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810259" y="1818385"/>
            <a:ext cx="7431405" cy="336931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04139" marR="196850" indent="-91440">
              <a:lnSpc>
                <a:spcPts val="2810"/>
              </a:lnSpc>
              <a:spcBef>
                <a:spcPts val="45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procedural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attribute,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like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r>
              <a:rPr sz="26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that</a:t>
            </a:r>
            <a:r>
              <a:rPr sz="26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works</a:t>
            </a:r>
            <a:r>
              <a:rPr sz="26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only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this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4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Python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always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passes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object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first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argument</a:t>
            </a:r>
            <a:endParaRPr sz="2600">
              <a:latin typeface="Calibri"/>
              <a:cs typeface="Calibri"/>
            </a:endParaRPr>
          </a:p>
          <a:p>
            <a:pPr marL="396240" marR="755650" lvl="1" indent="-182880">
              <a:lnSpc>
                <a:spcPts val="2570"/>
              </a:lnSpc>
              <a:spcBef>
                <a:spcPts val="484"/>
              </a:spcBef>
              <a:buChar char="•"/>
              <a:tabLst>
                <a:tab pos="396240" algn="l"/>
                <a:tab pos="464820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latin typeface="Calibri"/>
                <a:cs typeface="Calibri"/>
              </a:rPr>
              <a:t>convention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ourier New"/>
                <a:cs typeface="Courier New"/>
              </a:rPr>
              <a:t>self</a:t>
            </a:r>
            <a:r>
              <a:rPr sz="2400" b="1" spc="-9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first </a:t>
            </a:r>
            <a:r>
              <a:rPr sz="2400" dirty="0">
                <a:latin typeface="Calibri"/>
                <a:cs typeface="Calibri"/>
              </a:rPr>
              <a:t>argument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methods</a:t>
            </a:r>
            <a:endParaRPr sz="24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24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“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operator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access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attribute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3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98"/>
            <a:ext cx="9144000" cy="607695"/>
            <a:chOff x="0" y="6250698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98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61"/>
                  </a:lnTo>
                  <a:lnTo>
                    <a:pt x="9144000" y="32536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30"/>
              </a:lnSpc>
              <a:spcBef>
                <a:spcPts val="100"/>
              </a:spcBef>
            </a:pPr>
            <a:r>
              <a:rPr sz="4800" spc="-45" dirty="0">
                <a:solidFill>
                  <a:srgbClr val="000000"/>
                </a:solidFill>
                <a:latin typeface="Calibri Light"/>
                <a:cs typeface="Calibri Light"/>
              </a:rPr>
              <a:t>DEFINE</a:t>
            </a:r>
            <a:r>
              <a:rPr sz="4800" spc="-19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A</a:t>
            </a:r>
            <a:r>
              <a:rPr sz="4800" spc="-19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30" dirty="0">
                <a:solidFill>
                  <a:srgbClr val="000000"/>
                </a:solidFill>
                <a:latin typeface="Calibri Light"/>
                <a:cs typeface="Calibri Light"/>
              </a:rPr>
              <a:t>METHOD</a:t>
            </a:r>
            <a:r>
              <a:rPr sz="4800" spc="-2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FOR</a:t>
            </a:r>
            <a:r>
              <a:rPr sz="4800" spc="-20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000000"/>
                </a:solidFill>
                <a:latin typeface="Calibri Light"/>
                <a:cs typeface="Calibri Light"/>
              </a:rPr>
              <a:t>THE</a:t>
            </a:r>
            <a:endParaRPr sz="4800">
              <a:latin typeface="Calibri Light"/>
              <a:cs typeface="Calibri Light"/>
            </a:endParaRPr>
          </a:p>
          <a:p>
            <a:pPr marL="12700">
              <a:lnSpc>
                <a:spcPts val="5330"/>
              </a:lnSpc>
            </a:pPr>
            <a:r>
              <a:rPr sz="4800" spc="-55" dirty="0">
                <a:solidFill>
                  <a:srgbClr val="000000"/>
                </a:solidFill>
                <a:latin typeface="Courier New"/>
                <a:cs typeface="Courier New"/>
              </a:rPr>
              <a:t>Coordinate</a:t>
            </a:r>
            <a:r>
              <a:rPr sz="4800" spc="-187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CLASS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2226909"/>
            <a:ext cx="7833995" cy="421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3391535" indent="-610235">
              <a:lnSpc>
                <a:spcPct val="13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class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Coordinate(object):</a:t>
            </a:r>
            <a:r>
              <a:rPr sz="2000" spc="50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u="sng" spc="-3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init</a:t>
            </a: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(self,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x,</a:t>
            </a:r>
            <a:r>
              <a:rPr sz="2000" spc="-25" dirty="0">
                <a:latin typeface="Courier New"/>
                <a:cs typeface="Courier New"/>
              </a:rPr>
              <a:t> y):</a:t>
            </a:r>
            <a:endParaRPr sz="2000">
              <a:latin typeface="Courier New"/>
              <a:cs typeface="Courier New"/>
            </a:endParaRPr>
          </a:p>
          <a:p>
            <a:pPr marL="1231900" marR="5069840">
              <a:lnSpc>
                <a:spcPct val="130000"/>
              </a:lnSpc>
            </a:pPr>
            <a:r>
              <a:rPr sz="2000" dirty="0">
                <a:latin typeface="Courier New"/>
                <a:cs typeface="Courier New"/>
              </a:rPr>
              <a:t>self.x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x </a:t>
            </a:r>
            <a:r>
              <a:rPr sz="2000" dirty="0">
                <a:latin typeface="Courier New"/>
                <a:cs typeface="Courier New"/>
              </a:rPr>
              <a:t>self.y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y</a:t>
            </a:r>
            <a:endParaRPr sz="2000">
              <a:latin typeface="Courier New"/>
              <a:cs typeface="Courier New"/>
            </a:endParaRPr>
          </a:p>
          <a:p>
            <a:pPr marL="1231900" marR="1869439" indent="-610235">
              <a:lnSpc>
                <a:spcPct val="1299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1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distance(self,</a:t>
            </a:r>
            <a:r>
              <a:rPr sz="2000" spc="-1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other): </a:t>
            </a:r>
            <a:r>
              <a:rPr sz="2000" dirty="0">
                <a:latin typeface="Courier New"/>
                <a:cs typeface="Courier New"/>
              </a:rPr>
              <a:t>x_diff_sq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(self.x-</a:t>
            </a:r>
            <a:r>
              <a:rPr sz="2000" spc="-10" dirty="0">
                <a:latin typeface="Courier New"/>
                <a:cs typeface="Courier New"/>
              </a:rPr>
              <a:t>other.x)**2 </a:t>
            </a:r>
            <a:r>
              <a:rPr sz="2000" dirty="0">
                <a:latin typeface="Courier New"/>
                <a:cs typeface="Courier New"/>
              </a:rPr>
              <a:t>y_diff_sq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(self.y-other.y)**2</a:t>
            </a:r>
            <a:endParaRPr sz="2000">
              <a:latin typeface="Courier New"/>
              <a:cs typeface="Courier New"/>
            </a:endParaRPr>
          </a:p>
          <a:p>
            <a:pPr marL="1231900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latin typeface="Courier New"/>
                <a:cs typeface="Courier New"/>
              </a:rPr>
              <a:t>return</a:t>
            </a:r>
            <a:r>
              <a:rPr sz="2000" spc="-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(x_diff_sq</a:t>
            </a:r>
            <a:r>
              <a:rPr sz="2000" spc="-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6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y_diff_sq)**0.5</a:t>
            </a:r>
            <a:endParaRPr sz="2000">
              <a:latin typeface="Courier New"/>
              <a:cs typeface="Courier New"/>
            </a:endParaRPr>
          </a:p>
          <a:p>
            <a:pPr marL="103505" marR="5080" indent="-91440">
              <a:lnSpc>
                <a:spcPts val="4060"/>
              </a:lnSpc>
              <a:buClr>
                <a:srgbClr val="585858"/>
              </a:buClr>
              <a:buFont typeface="Wingdings"/>
              <a:buChar char=""/>
              <a:tabLst>
                <a:tab pos="103505" algn="l"/>
                <a:tab pos="236854" algn="l"/>
              </a:tabLst>
            </a:pPr>
            <a:r>
              <a:rPr sz="2600" dirty="0">
                <a:latin typeface="Calibri"/>
                <a:cs typeface="Calibri"/>
              </a:rPr>
              <a:t>	other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self</a:t>
            </a:r>
            <a:r>
              <a:rPr sz="2600" spc="-965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notation,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methods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behave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just </a:t>
            </a:r>
            <a:r>
              <a:rPr sz="2600" dirty="0">
                <a:latin typeface="Calibri"/>
                <a:cs typeface="Calibri"/>
              </a:rPr>
              <a:t>like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(take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params,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operations,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return)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18713" y="3904869"/>
            <a:ext cx="623570" cy="363855"/>
          </a:xfrm>
          <a:custGeom>
            <a:avLst/>
            <a:gdLst/>
            <a:ahLst/>
            <a:cxnLst/>
            <a:rect l="l" t="t" r="r" b="b"/>
            <a:pathLst>
              <a:path w="623570" h="363854">
                <a:moveTo>
                  <a:pt x="0" y="363474"/>
                </a:moveTo>
                <a:lnTo>
                  <a:pt x="623316" y="363474"/>
                </a:lnTo>
                <a:lnTo>
                  <a:pt x="623316" y="0"/>
                </a:lnTo>
                <a:lnTo>
                  <a:pt x="0" y="0"/>
                </a:lnTo>
                <a:lnTo>
                  <a:pt x="0" y="363474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010533" y="2525395"/>
            <a:ext cx="4725035" cy="1758314"/>
            <a:chOff x="4010533" y="2525395"/>
            <a:chExt cx="4725035" cy="1758314"/>
          </a:xfrm>
        </p:grpSpPr>
        <p:sp>
          <p:nvSpPr>
            <p:cNvPr id="11" name="object 11"/>
            <p:cNvSpPr/>
            <p:nvPr/>
          </p:nvSpPr>
          <p:spPr>
            <a:xfrm>
              <a:off x="4270629" y="3911727"/>
              <a:ext cx="834390" cy="363855"/>
            </a:xfrm>
            <a:custGeom>
              <a:avLst/>
              <a:gdLst/>
              <a:ahLst/>
              <a:cxnLst/>
              <a:rect l="l" t="t" r="r" b="b"/>
              <a:pathLst>
                <a:path w="834389" h="363854">
                  <a:moveTo>
                    <a:pt x="0" y="363473"/>
                  </a:moveTo>
                  <a:lnTo>
                    <a:pt x="834390" y="363473"/>
                  </a:lnTo>
                  <a:lnTo>
                    <a:pt x="834390" y="0"/>
                  </a:lnTo>
                  <a:lnTo>
                    <a:pt x="0" y="0"/>
                  </a:lnTo>
                  <a:lnTo>
                    <a:pt x="0" y="363473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0533" y="2525395"/>
              <a:ext cx="4724653" cy="1733549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4661535" y="4342257"/>
            <a:ext cx="319405" cy="363855"/>
          </a:xfrm>
          <a:custGeom>
            <a:avLst/>
            <a:gdLst/>
            <a:ahLst/>
            <a:cxnLst/>
            <a:rect l="l" t="t" r="r" b="b"/>
            <a:pathLst>
              <a:path w="319404" h="363854">
                <a:moveTo>
                  <a:pt x="0" y="363474"/>
                </a:moveTo>
                <a:lnTo>
                  <a:pt x="319278" y="363474"/>
                </a:lnTo>
                <a:lnTo>
                  <a:pt x="319278" y="0"/>
                </a:lnTo>
                <a:lnTo>
                  <a:pt x="0" y="0"/>
                </a:lnTo>
                <a:lnTo>
                  <a:pt x="0" y="363474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2" y="0"/>
                </a:lnTo>
                <a:lnTo>
                  <a:pt x="29162" y="3746"/>
                </a:lnTo>
                <a:lnTo>
                  <a:pt x="13984" y="13969"/>
                </a:lnTo>
                <a:lnTo>
                  <a:pt x="3751" y="29146"/>
                </a:lnTo>
                <a:lnTo>
                  <a:pt x="0" y="47751"/>
                </a:lnTo>
                <a:lnTo>
                  <a:pt x="0" y="238759"/>
                </a:lnTo>
                <a:lnTo>
                  <a:pt x="3751" y="257365"/>
                </a:lnTo>
                <a:lnTo>
                  <a:pt x="13984" y="272541"/>
                </a:lnTo>
                <a:lnTo>
                  <a:pt x="29162" y="282765"/>
                </a:lnTo>
                <a:lnTo>
                  <a:pt x="47752" y="286511"/>
                </a:lnTo>
                <a:lnTo>
                  <a:pt x="4182872" y="286511"/>
                </a:lnTo>
                <a:lnTo>
                  <a:pt x="4201477" y="282765"/>
                </a:lnTo>
                <a:lnTo>
                  <a:pt x="4216654" y="272541"/>
                </a:lnTo>
                <a:lnTo>
                  <a:pt x="4226877" y="257365"/>
                </a:lnTo>
                <a:lnTo>
                  <a:pt x="4230624" y="238759"/>
                </a:lnTo>
                <a:lnTo>
                  <a:pt x="4230624" y="47751"/>
                </a:lnTo>
                <a:lnTo>
                  <a:pt x="4226877" y="29146"/>
                </a:lnTo>
                <a:lnTo>
                  <a:pt x="4216654" y="13969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13377" y="1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1" y="0"/>
                </a:lnTo>
                <a:lnTo>
                  <a:pt x="29146" y="3746"/>
                </a:lnTo>
                <a:lnTo>
                  <a:pt x="13970" y="13970"/>
                </a:lnTo>
                <a:lnTo>
                  <a:pt x="3746" y="29146"/>
                </a:lnTo>
                <a:lnTo>
                  <a:pt x="0" y="47752"/>
                </a:lnTo>
                <a:lnTo>
                  <a:pt x="0" y="238760"/>
                </a:lnTo>
                <a:lnTo>
                  <a:pt x="3746" y="257365"/>
                </a:lnTo>
                <a:lnTo>
                  <a:pt x="13970" y="272542"/>
                </a:lnTo>
                <a:lnTo>
                  <a:pt x="29146" y="282765"/>
                </a:lnTo>
                <a:lnTo>
                  <a:pt x="47751" y="286512"/>
                </a:lnTo>
                <a:lnTo>
                  <a:pt x="4182872" y="286512"/>
                </a:lnTo>
                <a:lnTo>
                  <a:pt x="4201477" y="282765"/>
                </a:lnTo>
                <a:lnTo>
                  <a:pt x="4216654" y="272542"/>
                </a:lnTo>
                <a:lnTo>
                  <a:pt x="4226877" y="257365"/>
                </a:lnTo>
                <a:lnTo>
                  <a:pt x="4230624" y="238760"/>
                </a:lnTo>
                <a:lnTo>
                  <a:pt x="4230624" y="47752"/>
                </a:lnTo>
                <a:lnTo>
                  <a:pt x="4226877" y="29146"/>
                </a:lnTo>
                <a:lnTo>
                  <a:pt x="4216654" y="13970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BFC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26413" y="-21081"/>
            <a:ext cx="66998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1749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98"/>
            <a:ext cx="9144000" cy="607695"/>
            <a:chOff x="0" y="6250698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98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61"/>
                  </a:lnTo>
                  <a:lnTo>
                    <a:pt x="9144000" y="32536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850646"/>
            <a:ext cx="60001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HOW</a:t>
            </a:r>
            <a:r>
              <a:rPr sz="4800" spc="-2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50" dirty="0">
                <a:solidFill>
                  <a:srgbClr val="000000"/>
                </a:solidFill>
                <a:latin typeface="Calibri Light"/>
                <a:cs typeface="Calibri Light"/>
              </a:rPr>
              <a:t>TO</a:t>
            </a:r>
            <a:r>
              <a:rPr sz="4800" spc="-2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USE</a:t>
            </a:r>
            <a:r>
              <a:rPr sz="4800" spc="-2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A</a:t>
            </a:r>
            <a:r>
              <a:rPr sz="4800" spc="-2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30" dirty="0">
                <a:solidFill>
                  <a:srgbClr val="000000"/>
                </a:solidFill>
                <a:latin typeface="Calibri Light"/>
                <a:cs typeface="Calibri Light"/>
              </a:rPr>
              <a:t>METHOD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364" y="1842897"/>
            <a:ext cx="4198620" cy="76454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distance(self,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other):</a:t>
            </a:r>
            <a:endParaRPr sz="2000">
              <a:latin typeface="Courier New"/>
              <a:cs typeface="Courier New"/>
            </a:endParaRPr>
          </a:p>
          <a:p>
            <a:pPr marL="701675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#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code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here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2740" y="2772918"/>
            <a:ext cx="3030855" cy="1604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latin typeface="Calibri"/>
                <a:cs typeface="Calibri"/>
              </a:rPr>
              <a:t>Using the</a:t>
            </a:r>
            <a:r>
              <a:rPr sz="2600" spc="-10" dirty="0">
                <a:latin typeface="Calibri"/>
                <a:cs typeface="Calibri"/>
              </a:rPr>
              <a:t> class: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spc="-10" dirty="0">
                <a:latin typeface="Calibri"/>
                <a:cs typeface="Calibri"/>
              </a:rPr>
              <a:t>conventional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way</a:t>
            </a:r>
            <a:endParaRPr sz="2600">
              <a:latin typeface="Calibri"/>
              <a:cs typeface="Calibri"/>
            </a:endParaRPr>
          </a:p>
          <a:p>
            <a:pPr marL="12700" marR="5080">
              <a:lnSpc>
                <a:spcPts val="3240"/>
              </a:lnSpc>
            </a:pPr>
            <a:r>
              <a:rPr sz="1800" dirty="0">
                <a:latin typeface="Courier New"/>
                <a:cs typeface="Courier New"/>
              </a:rPr>
              <a:t>c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Coordinate(3,4) </a:t>
            </a:r>
            <a:r>
              <a:rPr sz="1800" dirty="0">
                <a:latin typeface="Courier New"/>
                <a:cs typeface="Courier New"/>
              </a:rPr>
              <a:t>zero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Coordinate(0,0)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2740" y="4488942"/>
            <a:ext cx="3167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print(c.distance(zero))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59382" y="4528184"/>
            <a:ext cx="167640" cy="363855"/>
          </a:xfrm>
          <a:custGeom>
            <a:avLst/>
            <a:gdLst/>
            <a:ahLst/>
            <a:cxnLst/>
            <a:rect l="l" t="t" r="r" b="b"/>
            <a:pathLst>
              <a:path w="167640" h="363854">
                <a:moveTo>
                  <a:pt x="0" y="363474"/>
                </a:moveTo>
                <a:lnTo>
                  <a:pt x="167640" y="363474"/>
                </a:lnTo>
                <a:lnTo>
                  <a:pt x="167640" y="0"/>
                </a:lnTo>
                <a:lnTo>
                  <a:pt x="0" y="0"/>
                </a:lnTo>
                <a:lnTo>
                  <a:pt x="0" y="363474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968" y="4951348"/>
            <a:ext cx="1070889" cy="90343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432941" y="4521327"/>
            <a:ext cx="1144905" cy="363855"/>
          </a:xfrm>
          <a:custGeom>
            <a:avLst/>
            <a:gdLst/>
            <a:ahLst/>
            <a:cxnLst/>
            <a:rect l="l" t="t" r="r" b="b"/>
            <a:pathLst>
              <a:path w="1144905" h="363854">
                <a:moveTo>
                  <a:pt x="0" y="363473"/>
                </a:moveTo>
                <a:lnTo>
                  <a:pt x="1144524" y="363473"/>
                </a:lnTo>
                <a:lnTo>
                  <a:pt x="1144524" y="0"/>
                </a:lnTo>
                <a:lnTo>
                  <a:pt x="0" y="0"/>
                </a:lnTo>
                <a:lnTo>
                  <a:pt x="0" y="363473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9639" y="5068951"/>
            <a:ext cx="793368" cy="720686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658998" y="4528184"/>
            <a:ext cx="565150" cy="363855"/>
          </a:xfrm>
          <a:custGeom>
            <a:avLst/>
            <a:gdLst/>
            <a:ahLst/>
            <a:cxnLst/>
            <a:rect l="l" t="t" r="r" b="b"/>
            <a:pathLst>
              <a:path w="565150" h="363854">
                <a:moveTo>
                  <a:pt x="0" y="363474"/>
                </a:moveTo>
                <a:lnTo>
                  <a:pt x="564642" y="363474"/>
                </a:lnTo>
                <a:lnTo>
                  <a:pt x="564642" y="0"/>
                </a:lnTo>
                <a:lnTo>
                  <a:pt x="0" y="0"/>
                </a:lnTo>
                <a:lnTo>
                  <a:pt x="0" y="363474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403475" y="2798445"/>
            <a:ext cx="1713864" cy="3648075"/>
            <a:chOff x="2403475" y="2798445"/>
            <a:chExt cx="1713864" cy="364807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3475" y="4973066"/>
              <a:ext cx="1713738" cy="147340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108323" y="2798445"/>
              <a:ext cx="0" cy="2192020"/>
            </a:xfrm>
            <a:custGeom>
              <a:avLst/>
              <a:gdLst/>
              <a:ahLst/>
              <a:cxnLst/>
              <a:rect l="l" t="t" r="r" b="b"/>
              <a:pathLst>
                <a:path h="2192020">
                  <a:moveTo>
                    <a:pt x="0" y="0"/>
                  </a:moveTo>
                  <a:lnTo>
                    <a:pt x="0" y="2191512"/>
                  </a:lnTo>
                </a:path>
              </a:pathLst>
            </a:custGeom>
            <a:ln w="1295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266184" y="3155442"/>
            <a:ext cx="3030855" cy="1270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97815" algn="l"/>
              </a:tabLst>
            </a:pPr>
            <a:r>
              <a:rPr sz="2600" dirty="0">
                <a:latin typeface="Calibri"/>
                <a:cs typeface="Calibri"/>
              </a:rPr>
              <a:t>equivalent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</a:t>
            </a:r>
            <a:endParaRPr sz="26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200"/>
              </a:spcBef>
            </a:pPr>
            <a:r>
              <a:rPr sz="1800" dirty="0">
                <a:latin typeface="Courier New"/>
                <a:cs typeface="Courier New"/>
              </a:rPr>
              <a:t>c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Coordinate(3,4) </a:t>
            </a:r>
            <a:r>
              <a:rPr sz="1800" dirty="0">
                <a:latin typeface="Courier New"/>
                <a:cs typeface="Courier New"/>
              </a:rPr>
              <a:t>zero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Coordinate(0,0)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66412" y="4536947"/>
            <a:ext cx="4805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print(Coordinate.distance(c,</a:t>
            </a:r>
            <a:r>
              <a:rPr sz="1800" spc="-2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zero))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60060" y="4521327"/>
            <a:ext cx="1402080" cy="363855"/>
          </a:xfrm>
          <a:custGeom>
            <a:avLst/>
            <a:gdLst/>
            <a:ahLst/>
            <a:cxnLst/>
            <a:rect l="l" t="t" r="r" b="b"/>
            <a:pathLst>
              <a:path w="1402079" h="363854">
                <a:moveTo>
                  <a:pt x="0" y="363473"/>
                </a:moveTo>
                <a:lnTo>
                  <a:pt x="1402080" y="363473"/>
                </a:lnTo>
                <a:lnTo>
                  <a:pt x="1402080" y="0"/>
                </a:lnTo>
                <a:lnTo>
                  <a:pt x="0" y="0"/>
                </a:lnTo>
                <a:lnTo>
                  <a:pt x="0" y="363473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3925" y="5056377"/>
            <a:ext cx="691261" cy="712393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6560439" y="4521327"/>
            <a:ext cx="1144270" cy="363855"/>
          </a:xfrm>
          <a:custGeom>
            <a:avLst/>
            <a:gdLst/>
            <a:ahLst/>
            <a:cxnLst/>
            <a:rect l="l" t="t" r="r" b="b"/>
            <a:pathLst>
              <a:path w="1144270" h="363854">
                <a:moveTo>
                  <a:pt x="0" y="363473"/>
                </a:moveTo>
                <a:lnTo>
                  <a:pt x="1143762" y="363473"/>
                </a:lnTo>
                <a:lnTo>
                  <a:pt x="1143762" y="0"/>
                </a:lnTo>
                <a:lnTo>
                  <a:pt x="0" y="0"/>
                </a:lnTo>
                <a:lnTo>
                  <a:pt x="0" y="363473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05067" y="5056377"/>
            <a:ext cx="793369" cy="720623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7802498" y="4517516"/>
            <a:ext cx="1004569" cy="363855"/>
          </a:xfrm>
          <a:custGeom>
            <a:avLst/>
            <a:gdLst/>
            <a:ahLst/>
            <a:cxnLst/>
            <a:rect l="l" t="t" r="r" b="b"/>
            <a:pathLst>
              <a:path w="1004570" h="363854">
                <a:moveTo>
                  <a:pt x="0" y="363474"/>
                </a:moveTo>
                <a:lnTo>
                  <a:pt x="1004316" y="363474"/>
                </a:lnTo>
                <a:lnTo>
                  <a:pt x="1004316" y="0"/>
                </a:lnTo>
                <a:lnTo>
                  <a:pt x="0" y="0"/>
                </a:lnTo>
                <a:lnTo>
                  <a:pt x="0" y="363474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76668" y="4958333"/>
            <a:ext cx="2227452" cy="1586534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0" y="1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1" y="0"/>
                </a:lnTo>
                <a:lnTo>
                  <a:pt x="29162" y="3746"/>
                </a:lnTo>
                <a:lnTo>
                  <a:pt x="13984" y="13970"/>
                </a:lnTo>
                <a:lnTo>
                  <a:pt x="3751" y="29146"/>
                </a:lnTo>
                <a:lnTo>
                  <a:pt x="0" y="47752"/>
                </a:lnTo>
                <a:lnTo>
                  <a:pt x="0" y="238760"/>
                </a:lnTo>
                <a:lnTo>
                  <a:pt x="3751" y="257365"/>
                </a:lnTo>
                <a:lnTo>
                  <a:pt x="13984" y="272542"/>
                </a:lnTo>
                <a:lnTo>
                  <a:pt x="29162" y="282765"/>
                </a:lnTo>
                <a:lnTo>
                  <a:pt x="47751" y="286512"/>
                </a:lnTo>
                <a:lnTo>
                  <a:pt x="4182872" y="286512"/>
                </a:lnTo>
                <a:lnTo>
                  <a:pt x="4201477" y="282765"/>
                </a:lnTo>
                <a:lnTo>
                  <a:pt x="4216654" y="272542"/>
                </a:lnTo>
                <a:lnTo>
                  <a:pt x="4226877" y="257365"/>
                </a:lnTo>
                <a:lnTo>
                  <a:pt x="4230624" y="238760"/>
                </a:lnTo>
                <a:lnTo>
                  <a:pt x="4230624" y="47752"/>
                </a:lnTo>
                <a:lnTo>
                  <a:pt x="4226877" y="29146"/>
                </a:lnTo>
                <a:lnTo>
                  <a:pt x="4216654" y="13970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BFC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26413" y="-21081"/>
            <a:ext cx="2176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913376" y="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2" y="0"/>
                </a:lnTo>
                <a:lnTo>
                  <a:pt x="29146" y="3746"/>
                </a:lnTo>
                <a:lnTo>
                  <a:pt x="13970" y="13969"/>
                </a:lnTo>
                <a:lnTo>
                  <a:pt x="3746" y="29146"/>
                </a:lnTo>
                <a:lnTo>
                  <a:pt x="0" y="47751"/>
                </a:lnTo>
                <a:lnTo>
                  <a:pt x="0" y="238759"/>
                </a:lnTo>
                <a:lnTo>
                  <a:pt x="3746" y="257365"/>
                </a:lnTo>
                <a:lnTo>
                  <a:pt x="13970" y="272541"/>
                </a:lnTo>
                <a:lnTo>
                  <a:pt x="29146" y="282765"/>
                </a:lnTo>
                <a:lnTo>
                  <a:pt x="47752" y="286511"/>
                </a:lnTo>
                <a:lnTo>
                  <a:pt x="4182872" y="286511"/>
                </a:lnTo>
                <a:lnTo>
                  <a:pt x="4201477" y="282765"/>
                </a:lnTo>
                <a:lnTo>
                  <a:pt x="4216654" y="272541"/>
                </a:lnTo>
                <a:lnTo>
                  <a:pt x="4226877" y="257365"/>
                </a:lnTo>
                <a:lnTo>
                  <a:pt x="4230624" y="238759"/>
                </a:lnTo>
                <a:lnTo>
                  <a:pt x="4230624" y="47751"/>
                </a:lnTo>
                <a:lnTo>
                  <a:pt x="4226877" y="29146"/>
                </a:lnTo>
                <a:lnTo>
                  <a:pt x="4216654" y="13969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331711" y="-21081"/>
            <a:ext cx="1395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541139" y="1971294"/>
            <a:ext cx="975994" cy="617855"/>
            <a:chOff x="4541139" y="1971294"/>
            <a:chExt cx="975994" cy="617855"/>
          </a:xfrm>
        </p:grpSpPr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41139" y="2138552"/>
              <a:ext cx="669036" cy="45008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251323" y="1971294"/>
              <a:ext cx="265430" cy="255270"/>
            </a:xfrm>
            <a:custGeom>
              <a:avLst/>
              <a:gdLst/>
              <a:ahLst/>
              <a:cxnLst/>
              <a:rect l="l" t="t" r="r" b="b"/>
              <a:pathLst>
                <a:path w="265429" h="255269">
                  <a:moveTo>
                    <a:pt x="44577" y="147320"/>
                  </a:moveTo>
                  <a:lnTo>
                    <a:pt x="33655" y="147320"/>
                  </a:lnTo>
                  <a:lnTo>
                    <a:pt x="28193" y="148590"/>
                  </a:lnTo>
                  <a:lnTo>
                    <a:pt x="22986" y="151130"/>
                  </a:lnTo>
                  <a:lnTo>
                    <a:pt x="16637" y="154940"/>
                  </a:lnTo>
                  <a:lnTo>
                    <a:pt x="11684" y="158750"/>
                  </a:lnTo>
                  <a:lnTo>
                    <a:pt x="8128" y="163830"/>
                  </a:lnTo>
                  <a:lnTo>
                    <a:pt x="4444" y="167640"/>
                  </a:lnTo>
                  <a:lnTo>
                    <a:pt x="2158" y="173990"/>
                  </a:lnTo>
                  <a:lnTo>
                    <a:pt x="1016" y="179070"/>
                  </a:lnTo>
                  <a:lnTo>
                    <a:pt x="0" y="185420"/>
                  </a:lnTo>
                  <a:lnTo>
                    <a:pt x="50" y="186690"/>
                  </a:lnTo>
                  <a:lnTo>
                    <a:pt x="152" y="189230"/>
                  </a:lnTo>
                  <a:lnTo>
                    <a:pt x="253" y="191770"/>
                  </a:lnTo>
                  <a:lnTo>
                    <a:pt x="16891" y="233680"/>
                  </a:lnTo>
                  <a:lnTo>
                    <a:pt x="45847" y="255270"/>
                  </a:lnTo>
                  <a:lnTo>
                    <a:pt x="57658" y="255270"/>
                  </a:lnTo>
                  <a:lnTo>
                    <a:pt x="63881" y="254000"/>
                  </a:lnTo>
                  <a:lnTo>
                    <a:pt x="76581" y="247650"/>
                  </a:lnTo>
                  <a:lnTo>
                    <a:pt x="81407" y="243840"/>
                  </a:lnTo>
                  <a:lnTo>
                    <a:pt x="85090" y="238760"/>
                  </a:lnTo>
                  <a:lnTo>
                    <a:pt x="57911" y="238760"/>
                  </a:lnTo>
                  <a:lnTo>
                    <a:pt x="53975" y="237490"/>
                  </a:lnTo>
                  <a:lnTo>
                    <a:pt x="50165" y="237490"/>
                  </a:lnTo>
                  <a:lnTo>
                    <a:pt x="46482" y="236220"/>
                  </a:lnTo>
                  <a:lnTo>
                    <a:pt x="39624" y="231140"/>
                  </a:lnTo>
                  <a:lnTo>
                    <a:pt x="36449" y="227330"/>
                  </a:lnTo>
                  <a:lnTo>
                    <a:pt x="33655" y="223520"/>
                  </a:lnTo>
                  <a:lnTo>
                    <a:pt x="30734" y="219710"/>
                  </a:lnTo>
                  <a:lnTo>
                    <a:pt x="28193" y="215900"/>
                  </a:lnTo>
                  <a:lnTo>
                    <a:pt x="25908" y="210820"/>
                  </a:lnTo>
                  <a:lnTo>
                    <a:pt x="23749" y="207010"/>
                  </a:lnTo>
                  <a:lnTo>
                    <a:pt x="22098" y="201930"/>
                  </a:lnTo>
                  <a:lnTo>
                    <a:pt x="20827" y="198120"/>
                  </a:lnTo>
                  <a:lnTo>
                    <a:pt x="19558" y="193040"/>
                  </a:lnTo>
                  <a:lnTo>
                    <a:pt x="19050" y="189230"/>
                  </a:lnTo>
                  <a:lnTo>
                    <a:pt x="19176" y="184150"/>
                  </a:lnTo>
                  <a:lnTo>
                    <a:pt x="19261" y="182880"/>
                  </a:lnTo>
                  <a:lnTo>
                    <a:pt x="19346" y="181610"/>
                  </a:lnTo>
                  <a:lnTo>
                    <a:pt x="31496" y="165100"/>
                  </a:lnTo>
                  <a:lnTo>
                    <a:pt x="36068" y="162560"/>
                  </a:lnTo>
                  <a:lnTo>
                    <a:pt x="41148" y="161290"/>
                  </a:lnTo>
                  <a:lnTo>
                    <a:pt x="83066" y="161290"/>
                  </a:lnTo>
                  <a:lnTo>
                    <a:pt x="77967" y="151130"/>
                  </a:lnTo>
                  <a:lnTo>
                    <a:pt x="57150" y="151130"/>
                  </a:lnTo>
                  <a:lnTo>
                    <a:pt x="50673" y="148590"/>
                  </a:lnTo>
                  <a:lnTo>
                    <a:pt x="44577" y="147320"/>
                  </a:lnTo>
                  <a:close/>
                </a:path>
                <a:path w="265429" h="255269">
                  <a:moveTo>
                    <a:pt x="83066" y="161290"/>
                  </a:moveTo>
                  <a:lnTo>
                    <a:pt x="41148" y="161290"/>
                  </a:lnTo>
                  <a:lnTo>
                    <a:pt x="52324" y="163830"/>
                  </a:lnTo>
                  <a:lnTo>
                    <a:pt x="58674" y="165100"/>
                  </a:lnTo>
                  <a:lnTo>
                    <a:pt x="65913" y="168910"/>
                  </a:lnTo>
                  <a:lnTo>
                    <a:pt x="84074" y="204470"/>
                  </a:lnTo>
                  <a:lnTo>
                    <a:pt x="83185" y="209550"/>
                  </a:lnTo>
                  <a:lnTo>
                    <a:pt x="80899" y="217170"/>
                  </a:lnTo>
                  <a:lnTo>
                    <a:pt x="79629" y="219710"/>
                  </a:lnTo>
                  <a:lnTo>
                    <a:pt x="78359" y="223520"/>
                  </a:lnTo>
                  <a:lnTo>
                    <a:pt x="76962" y="224790"/>
                  </a:lnTo>
                  <a:lnTo>
                    <a:pt x="73914" y="229870"/>
                  </a:lnTo>
                  <a:lnTo>
                    <a:pt x="72136" y="231140"/>
                  </a:lnTo>
                  <a:lnTo>
                    <a:pt x="70485" y="233680"/>
                  </a:lnTo>
                  <a:lnTo>
                    <a:pt x="68453" y="234950"/>
                  </a:lnTo>
                  <a:lnTo>
                    <a:pt x="66294" y="236220"/>
                  </a:lnTo>
                  <a:lnTo>
                    <a:pt x="61976" y="237490"/>
                  </a:lnTo>
                  <a:lnTo>
                    <a:pt x="57911" y="238760"/>
                  </a:lnTo>
                  <a:lnTo>
                    <a:pt x="85090" y="238760"/>
                  </a:lnTo>
                  <a:lnTo>
                    <a:pt x="88646" y="232410"/>
                  </a:lnTo>
                  <a:lnTo>
                    <a:pt x="91567" y="226060"/>
                  </a:lnTo>
                  <a:lnTo>
                    <a:pt x="93726" y="218440"/>
                  </a:lnTo>
                  <a:lnTo>
                    <a:pt x="111750" y="218440"/>
                  </a:lnTo>
                  <a:lnTo>
                    <a:pt x="83066" y="161290"/>
                  </a:lnTo>
                  <a:close/>
                </a:path>
                <a:path w="265429" h="255269">
                  <a:moveTo>
                    <a:pt x="111750" y="218440"/>
                  </a:moveTo>
                  <a:lnTo>
                    <a:pt x="93726" y="218440"/>
                  </a:lnTo>
                  <a:lnTo>
                    <a:pt x="99695" y="231140"/>
                  </a:lnTo>
                  <a:lnTo>
                    <a:pt x="100838" y="232410"/>
                  </a:lnTo>
                  <a:lnTo>
                    <a:pt x="102616" y="232410"/>
                  </a:lnTo>
                  <a:lnTo>
                    <a:pt x="105155" y="231140"/>
                  </a:lnTo>
                  <a:lnTo>
                    <a:pt x="107314" y="231140"/>
                  </a:lnTo>
                  <a:lnTo>
                    <a:pt x="108712" y="229870"/>
                  </a:lnTo>
                  <a:lnTo>
                    <a:pt x="110109" y="229870"/>
                  </a:lnTo>
                  <a:lnTo>
                    <a:pt x="111125" y="228600"/>
                  </a:lnTo>
                  <a:lnTo>
                    <a:pt x="112014" y="228600"/>
                  </a:lnTo>
                  <a:lnTo>
                    <a:pt x="113919" y="226060"/>
                  </a:lnTo>
                  <a:lnTo>
                    <a:pt x="114680" y="224790"/>
                  </a:lnTo>
                  <a:lnTo>
                    <a:pt x="114300" y="223520"/>
                  </a:lnTo>
                  <a:lnTo>
                    <a:pt x="111750" y="218440"/>
                  </a:lnTo>
                  <a:close/>
                </a:path>
                <a:path w="265429" h="255269">
                  <a:moveTo>
                    <a:pt x="160274" y="88900"/>
                  </a:moveTo>
                  <a:lnTo>
                    <a:pt x="122555" y="102870"/>
                  </a:lnTo>
                  <a:lnTo>
                    <a:pt x="118491" y="107950"/>
                  </a:lnTo>
                  <a:lnTo>
                    <a:pt x="114300" y="113030"/>
                  </a:lnTo>
                  <a:lnTo>
                    <a:pt x="111379" y="118110"/>
                  </a:lnTo>
                  <a:lnTo>
                    <a:pt x="109855" y="124460"/>
                  </a:lnTo>
                  <a:lnTo>
                    <a:pt x="108204" y="130810"/>
                  </a:lnTo>
                  <a:lnTo>
                    <a:pt x="120650" y="173990"/>
                  </a:lnTo>
                  <a:lnTo>
                    <a:pt x="130302" y="186690"/>
                  </a:lnTo>
                  <a:lnTo>
                    <a:pt x="135255" y="191770"/>
                  </a:lnTo>
                  <a:lnTo>
                    <a:pt x="140716" y="195580"/>
                  </a:lnTo>
                  <a:lnTo>
                    <a:pt x="146558" y="196850"/>
                  </a:lnTo>
                  <a:lnTo>
                    <a:pt x="152273" y="199390"/>
                  </a:lnTo>
                  <a:lnTo>
                    <a:pt x="158496" y="200660"/>
                  </a:lnTo>
                  <a:lnTo>
                    <a:pt x="171704" y="198120"/>
                  </a:lnTo>
                  <a:lnTo>
                    <a:pt x="178689" y="196850"/>
                  </a:lnTo>
                  <a:lnTo>
                    <a:pt x="190373" y="190500"/>
                  </a:lnTo>
                  <a:lnTo>
                    <a:pt x="194183" y="187960"/>
                  </a:lnTo>
                  <a:lnTo>
                    <a:pt x="199326" y="184150"/>
                  </a:lnTo>
                  <a:lnTo>
                    <a:pt x="161544" y="184150"/>
                  </a:lnTo>
                  <a:lnTo>
                    <a:pt x="157353" y="182880"/>
                  </a:lnTo>
                  <a:lnTo>
                    <a:pt x="135128" y="161290"/>
                  </a:lnTo>
                  <a:lnTo>
                    <a:pt x="159734" y="148590"/>
                  </a:lnTo>
                  <a:lnTo>
                    <a:pt x="129032" y="148590"/>
                  </a:lnTo>
                  <a:lnTo>
                    <a:pt x="127254" y="144780"/>
                  </a:lnTo>
                  <a:lnTo>
                    <a:pt x="126111" y="140970"/>
                  </a:lnTo>
                  <a:lnTo>
                    <a:pt x="125095" y="133350"/>
                  </a:lnTo>
                  <a:lnTo>
                    <a:pt x="125179" y="130810"/>
                  </a:lnTo>
                  <a:lnTo>
                    <a:pt x="125222" y="129540"/>
                  </a:lnTo>
                  <a:lnTo>
                    <a:pt x="148209" y="104140"/>
                  </a:lnTo>
                  <a:lnTo>
                    <a:pt x="186617" y="104140"/>
                  </a:lnTo>
                  <a:lnTo>
                    <a:pt x="180721" y="97790"/>
                  </a:lnTo>
                  <a:lnTo>
                    <a:pt x="176149" y="93980"/>
                  </a:lnTo>
                  <a:lnTo>
                    <a:pt x="171069" y="92710"/>
                  </a:lnTo>
                  <a:lnTo>
                    <a:pt x="165989" y="90170"/>
                  </a:lnTo>
                  <a:lnTo>
                    <a:pt x="160274" y="88900"/>
                  </a:lnTo>
                  <a:close/>
                </a:path>
                <a:path w="265429" h="255269">
                  <a:moveTo>
                    <a:pt x="208534" y="156210"/>
                  </a:moveTo>
                  <a:lnTo>
                    <a:pt x="207136" y="157480"/>
                  </a:lnTo>
                  <a:lnTo>
                    <a:pt x="206248" y="157480"/>
                  </a:lnTo>
                  <a:lnTo>
                    <a:pt x="205232" y="158750"/>
                  </a:lnTo>
                  <a:lnTo>
                    <a:pt x="204089" y="160020"/>
                  </a:lnTo>
                  <a:lnTo>
                    <a:pt x="202819" y="161290"/>
                  </a:lnTo>
                  <a:lnTo>
                    <a:pt x="201295" y="162560"/>
                  </a:lnTo>
                  <a:lnTo>
                    <a:pt x="197231" y="167640"/>
                  </a:lnTo>
                  <a:lnTo>
                    <a:pt x="194691" y="168910"/>
                  </a:lnTo>
                  <a:lnTo>
                    <a:pt x="191770" y="171450"/>
                  </a:lnTo>
                  <a:lnTo>
                    <a:pt x="188722" y="173990"/>
                  </a:lnTo>
                  <a:lnTo>
                    <a:pt x="185166" y="176530"/>
                  </a:lnTo>
                  <a:lnTo>
                    <a:pt x="175514" y="181610"/>
                  </a:lnTo>
                  <a:lnTo>
                    <a:pt x="170561" y="182880"/>
                  </a:lnTo>
                  <a:lnTo>
                    <a:pt x="161544" y="184150"/>
                  </a:lnTo>
                  <a:lnTo>
                    <a:pt x="199326" y="184150"/>
                  </a:lnTo>
                  <a:lnTo>
                    <a:pt x="201041" y="182880"/>
                  </a:lnTo>
                  <a:lnTo>
                    <a:pt x="203961" y="180340"/>
                  </a:lnTo>
                  <a:lnTo>
                    <a:pt x="208915" y="176530"/>
                  </a:lnTo>
                  <a:lnTo>
                    <a:pt x="210820" y="173990"/>
                  </a:lnTo>
                  <a:lnTo>
                    <a:pt x="213614" y="171450"/>
                  </a:lnTo>
                  <a:lnTo>
                    <a:pt x="214376" y="170180"/>
                  </a:lnTo>
                  <a:lnTo>
                    <a:pt x="214503" y="168910"/>
                  </a:lnTo>
                  <a:lnTo>
                    <a:pt x="214884" y="167640"/>
                  </a:lnTo>
                  <a:lnTo>
                    <a:pt x="214629" y="166370"/>
                  </a:lnTo>
                  <a:lnTo>
                    <a:pt x="213995" y="163830"/>
                  </a:lnTo>
                  <a:lnTo>
                    <a:pt x="212979" y="161290"/>
                  </a:lnTo>
                  <a:lnTo>
                    <a:pt x="211328" y="158750"/>
                  </a:lnTo>
                  <a:lnTo>
                    <a:pt x="208534" y="156210"/>
                  </a:lnTo>
                  <a:close/>
                </a:path>
                <a:path w="265429" h="255269">
                  <a:moveTo>
                    <a:pt x="253237" y="156210"/>
                  </a:moveTo>
                  <a:lnTo>
                    <a:pt x="249682" y="156210"/>
                  </a:lnTo>
                  <a:lnTo>
                    <a:pt x="251460" y="157480"/>
                  </a:lnTo>
                  <a:lnTo>
                    <a:pt x="252222" y="157480"/>
                  </a:lnTo>
                  <a:lnTo>
                    <a:pt x="253237" y="156210"/>
                  </a:lnTo>
                  <a:close/>
                </a:path>
                <a:path w="265429" h="255269">
                  <a:moveTo>
                    <a:pt x="229913" y="77470"/>
                  </a:moveTo>
                  <a:lnTo>
                    <a:pt x="208915" y="77470"/>
                  </a:lnTo>
                  <a:lnTo>
                    <a:pt x="248665" y="156210"/>
                  </a:lnTo>
                  <a:lnTo>
                    <a:pt x="255523" y="156210"/>
                  </a:lnTo>
                  <a:lnTo>
                    <a:pt x="256794" y="154940"/>
                  </a:lnTo>
                  <a:lnTo>
                    <a:pt x="258445" y="154940"/>
                  </a:lnTo>
                  <a:lnTo>
                    <a:pt x="259969" y="153670"/>
                  </a:lnTo>
                  <a:lnTo>
                    <a:pt x="261365" y="153670"/>
                  </a:lnTo>
                  <a:lnTo>
                    <a:pt x="262382" y="152400"/>
                  </a:lnTo>
                  <a:lnTo>
                    <a:pt x="264541" y="149860"/>
                  </a:lnTo>
                  <a:lnTo>
                    <a:pt x="265430" y="148590"/>
                  </a:lnTo>
                  <a:lnTo>
                    <a:pt x="265176" y="147320"/>
                  </a:lnTo>
                  <a:lnTo>
                    <a:pt x="229913" y="77470"/>
                  </a:lnTo>
                  <a:close/>
                </a:path>
                <a:path w="265429" h="255269">
                  <a:moveTo>
                    <a:pt x="47371" y="90170"/>
                  </a:moveTo>
                  <a:lnTo>
                    <a:pt x="40386" y="90170"/>
                  </a:lnTo>
                  <a:lnTo>
                    <a:pt x="38989" y="91440"/>
                  </a:lnTo>
                  <a:lnTo>
                    <a:pt x="37338" y="91440"/>
                  </a:lnTo>
                  <a:lnTo>
                    <a:pt x="35814" y="92710"/>
                  </a:lnTo>
                  <a:lnTo>
                    <a:pt x="33527" y="93980"/>
                  </a:lnTo>
                  <a:lnTo>
                    <a:pt x="31368" y="95250"/>
                  </a:lnTo>
                  <a:lnTo>
                    <a:pt x="30480" y="97790"/>
                  </a:lnTo>
                  <a:lnTo>
                    <a:pt x="30860" y="99060"/>
                  </a:lnTo>
                  <a:lnTo>
                    <a:pt x="57150" y="151130"/>
                  </a:lnTo>
                  <a:lnTo>
                    <a:pt x="77967" y="151130"/>
                  </a:lnTo>
                  <a:lnTo>
                    <a:pt x="47371" y="90170"/>
                  </a:lnTo>
                  <a:close/>
                </a:path>
                <a:path w="265429" h="255269">
                  <a:moveTo>
                    <a:pt x="186617" y="104140"/>
                  </a:moveTo>
                  <a:lnTo>
                    <a:pt x="155448" y="104140"/>
                  </a:lnTo>
                  <a:lnTo>
                    <a:pt x="168402" y="109220"/>
                  </a:lnTo>
                  <a:lnTo>
                    <a:pt x="173736" y="115570"/>
                  </a:lnTo>
                  <a:lnTo>
                    <a:pt x="177927" y="124460"/>
                  </a:lnTo>
                  <a:lnTo>
                    <a:pt x="129032" y="148590"/>
                  </a:lnTo>
                  <a:lnTo>
                    <a:pt x="159734" y="148590"/>
                  </a:lnTo>
                  <a:lnTo>
                    <a:pt x="194183" y="130810"/>
                  </a:lnTo>
                  <a:lnTo>
                    <a:pt x="195834" y="130810"/>
                  </a:lnTo>
                  <a:lnTo>
                    <a:pt x="196977" y="128270"/>
                  </a:lnTo>
                  <a:lnTo>
                    <a:pt x="198501" y="125730"/>
                  </a:lnTo>
                  <a:lnTo>
                    <a:pt x="198374" y="124460"/>
                  </a:lnTo>
                  <a:lnTo>
                    <a:pt x="198247" y="123190"/>
                  </a:lnTo>
                  <a:lnTo>
                    <a:pt x="196977" y="120650"/>
                  </a:lnTo>
                  <a:lnTo>
                    <a:pt x="195453" y="118110"/>
                  </a:lnTo>
                  <a:lnTo>
                    <a:pt x="192532" y="111760"/>
                  </a:lnTo>
                  <a:lnTo>
                    <a:pt x="188976" y="106680"/>
                  </a:lnTo>
                  <a:lnTo>
                    <a:pt x="186617" y="104140"/>
                  </a:lnTo>
                  <a:close/>
                </a:path>
                <a:path w="265429" h="255269">
                  <a:moveTo>
                    <a:pt x="44450" y="88900"/>
                  </a:moveTo>
                  <a:lnTo>
                    <a:pt x="41656" y="90170"/>
                  </a:lnTo>
                  <a:lnTo>
                    <a:pt x="46227" y="90170"/>
                  </a:lnTo>
                  <a:lnTo>
                    <a:pt x="44450" y="88900"/>
                  </a:lnTo>
                  <a:close/>
                </a:path>
                <a:path w="265429" h="255269">
                  <a:moveTo>
                    <a:pt x="224282" y="0"/>
                  </a:moveTo>
                  <a:lnTo>
                    <a:pt x="217932" y="0"/>
                  </a:lnTo>
                  <a:lnTo>
                    <a:pt x="213106" y="2540"/>
                  </a:lnTo>
                  <a:lnTo>
                    <a:pt x="210693" y="2540"/>
                  </a:lnTo>
                  <a:lnTo>
                    <a:pt x="208407" y="3810"/>
                  </a:lnTo>
                  <a:lnTo>
                    <a:pt x="203454" y="6350"/>
                  </a:lnTo>
                  <a:lnTo>
                    <a:pt x="199517" y="8890"/>
                  </a:lnTo>
                  <a:lnTo>
                    <a:pt x="196596" y="12700"/>
                  </a:lnTo>
                  <a:lnTo>
                    <a:pt x="193675" y="15240"/>
                  </a:lnTo>
                  <a:lnTo>
                    <a:pt x="191770" y="19050"/>
                  </a:lnTo>
                  <a:lnTo>
                    <a:pt x="190754" y="22860"/>
                  </a:lnTo>
                  <a:lnTo>
                    <a:pt x="189865" y="27940"/>
                  </a:lnTo>
                  <a:lnTo>
                    <a:pt x="189865" y="31750"/>
                  </a:lnTo>
                  <a:lnTo>
                    <a:pt x="192151" y="41910"/>
                  </a:lnTo>
                  <a:lnTo>
                    <a:pt x="194183" y="48260"/>
                  </a:lnTo>
                  <a:lnTo>
                    <a:pt x="197358" y="54610"/>
                  </a:lnTo>
                  <a:lnTo>
                    <a:pt x="202057" y="63500"/>
                  </a:lnTo>
                  <a:lnTo>
                    <a:pt x="189357" y="69850"/>
                  </a:lnTo>
                  <a:lnTo>
                    <a:pt x="188214" y="71120"/>
                  </a:lnTo>
                  <a:lnTo>
                    <a:pt x="187833" y="72390"/>
                  </a:lnTo>
                  <a:lnTo>
                    <a:pt x="188214" y="74930"/>
                  </a:lnTo>
                  <a:lnTo>
                    <a:pt x="188976" y="77470"/>
                  </a:lnTo>
                  <a:lnTo>
                    <a:pt x="190881" y="81280"/>
                  </a:lnTo>
                  <a:lnTo>
                    <a:pt x="192024" y="82550"/>
                  </a:lnTo>
                  <a:lnTo>
                    <a:pt x="193040" y="82550"/>
                  </a:lnTo>
                  <a:lnTo>
                    <a:pt x="196215" y="83820"/>
                  </a:lnTo>
                  <a:lnTo>
                    <a:pt x="208915" y="77470"/>
                  </a:lnTo>
                  <a:lnTo>
                    <a:pt x="229913" y="77470"/>
                  </a:lnTo>
                  <a:lnTo>
                    <a:pt x="225425" y="68580"/>
                  </a:lnTo>
                  <a:lnTo>
                    <a:pt x="246507" y="58420"/>
                  </a:lnTo>
                  <a:lnTo>
                    <a:pt x="247015" y="57150"/>
                  </a:lnTo>
                  <a:lnTo>
                    <a:pt x="247142" y="55880"/>
                  </a:lnTo>
                  <a:lnTo>
                    <a:pt x="247142" y="54610"/>
                  </a:lnTo>
                  <a:lnTo>
                    <a:pt x="218567" y="54610"/>
                  </a:lnTo>
                  <a:lnTo>
                    <a:pt x="213614" y="45720"/>
                  </a:lnTo>
                  <a:lnTo>
                    <a:pt x="211709" y="41910"/>
                  </a:lnTo>
                  <a:lnTo>
                    <a:pt x="210312" y="38100"/>
                  </a:lnTo>
                  <a:lnTo>
                    <a:pt x="208534" y="31750"/>
                  </a:lnTo>
                  <a:lnTo>
                    <a:pt x="208153" y="29210"/>
                  </a:lnTo>
                  <a:lnTo>
                    <a:pt x="208407" y="27940"/>
                  </a:lnTo>
                  <a:lnTo>
                    <a:pt x="208534" y="25400"/>
                  </a:lnTo>
                  <a:lnTo>
                    <a:pt x="209296" y="22860"/>
                  </a:lnTo>
                  <a:lnTo>
                    <a:pt x="210693" y="21590"/>
                  </a:lnTo>
                  <a:lnTo>
                    <a:pt x="211962" y="20320"/>
                  </a:lnTo>
                  <a:lnTo>
                    <a:pt x="213868" y="17780"/>
                  </a:lnTo>
                  <a:lnTo>
                    <a:pt x="216408" y="17780"/>
                  </a:lnTo>
                  <a:lnTo>
                    <a:pt x="218186" y="16510"/>
                  </a:lnTo>
                  <a:lnTo>
                    <a:pt x="219837" y="15240"/>
                  </a:lnTo>
                  <a:lnTo>
                    <a:pt x="222885" y="15240"/>
                  </a:lnTo>
                  <a:lnTo>
                    <a:pt x="224154" y="13970"/>
                  </a:lnTo>
                  <a:lnTo>
                    <a:pt x="230378" y="13970"/>
                  </a:lnTo>
                  <a:lnTo>
                    <a:pt x="231267" y="12700"/>
                  </a:lnTo>
                  <a:lnTo>
                    <a:pt x="231394" y="11430"/>
                  </a:lnTo>
                  <a:lnTo>
                    <a:pt x="230886" y="10160"/>
                  </a:lnTo>
                  <a:lnTo>
                    <a:pt x="229615" y="6350"/>
                  </a:lnTo>
                  <a:lnTo>
                    <a:pt x="228346" y="3810"/>
                  </a:lnTo>
                  <a:lnTo>
                    <a:pt x="227837" y="3810"/>
                  </a:lnTo>
                  <a:lnTo>
                    <a:pt x="226060" y="1270"/>
                  </a:lnTo>
                  <a:lnTo>
                    <a:pt x="224282" y="0"/>
                  </a:lnTo>
                  <a:close/>
                </a:path>
                <a:path w="265429" h="255269">
                  <a:moveTo>
                    <a:pt x="240157" y="44450"/>
                  </a:moveTo>
                  <a:lnTo>
                    <a:pt x="238633" y="44450"/>
                  </a:lnTo>
                  <a:lnTo>
                    <a:pt x="218567" y="54610"/>
                  </a:lnTo>
                  <a:lnTo>
                    <a:pt x="247142" y="54610"/>
                  </a:lnTo>
                  <a:lnTo>
                    <a:pt x="246634" y="52070"/>
                  </a:lnTo>
                  <a:lnTo>
                    <a:pt x="244729" y="48260"/>
                  </a:lnTo>
                  <a:lnTo>
                    <a:pt x="244094" y="48260"/>
                  </a:lnTo>
                  <a:lnTo>
                    <a:pt x="243459" y="46990"/>
                  </a:lnTo>
                  <a:lnTo>
                    <a:pt x="241681" y="45720"/>
                  </a:lnTo>
                  <a:lnTo>
                    <a:pt x="240157" y="444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85"/>
            <a:ext cx="9144000" cy="607695"/>
            <a:chOff x="0" y="6250685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85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73"/>
                  </a:lnTo>
                  <a:lnTo>
                    <a:pt x="9144000" y="32537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291845"/>
            <a:ext cx="6594475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z="4800" spc="-20" dirty="0">
                <a:solidFill>
                  <a:srgbClr val="000000"/>
                </a:solidFill>
                <a:latin typeface="Calibri Light"/>
                <a:cs typeface="Calibri Light"/>
              </a:rPr>
              <a:t>PRINT</a:t>
            </a:r>
            <a:r>
              <a:rPr sz="4800" spc="-1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20" dirty="0">
                <a:solidFill>
                  <a:srgbClr val="000000"/>
                </a:solidFill>
                <a:latin typeface="Calibri Light"/>
                <a:cs typeface="Calibri Light"/>
              </a:rPr>
              <a:t>REPRESENTATION</a:t>
            </a:r>
            <a:r>
              <a:rPr sz="4800" spc="-15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000000"/>
                </a:solidFill>
                <a:latin typeface="Calibri Light"/>
                <a:cs typeface="Calibri Light"/>
              </a:rPr>
              <a:t>OF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AN</a:t>
            </a:r>
            <a:r>
              <a:rPr sz="4800" spc="-15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OBJECT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03195" y="3780980"/>
            <a:ext cx="396240" cy="0"/>
          </a:xfrm>
          <a:custGeom>
            <a:avLst/>
            <a:gdLst/>
            <a:ahLst/>
            <a:cxnLst/>
            <a:rect l="l" t="t" r="r" b="b"/>
            <a:pathLst>
              <a:path w="396239">
                <a:moveTo>
                  <a:pt x="0" y="0"/>
                </a:moveTo>
                <a:lnTo>
                  <a:pt x="396240" y="0"/>
                </a:lnTo>
              </a:path>
            </a:pathLst>
          </a:custGeom>
          <a:ln w="32994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93795" y="3780980"/>
            <a:ext cx="396240" cy="0"/>
          </a:xfrm>
          <a:custGeom>
            <a:avLst/>
            <a:gdLst/>
            <a:ahLst/>
            <a:cxnLst/>
            <a:rect l="l" t="t" r="r" b="b"/>
            <a:pathLst>
              <a:path w="396239">
                <a:moveTo>
                  <a:pt x="0" y="0"/>
                </a:moveTo>
                <a:lnTo>
                  <a:pt x="396240" y="0"/>
                </a:lnTo>
              </a:path>
            </a:pathLst>
          </a:custGeom>
          <a:ln w="32994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10259" y="1839721"/>
            <a:ext cx="7301230" cy="4457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&gt;&gt;&gt;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Coordinate(3,4)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latin typeface="Courier New"/>
                <a:cs typeface="Courier New"/>
              </a:rPr>
              <a:t>&gt;&gt;&gt;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print(c)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latin typeface="Courier New"/>
                <a:cs typeface="Courier New"/>
              </a:rPr>
              <a:t>&lt;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main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.Coordinate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object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at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0x7fa918510488&gt;</a:t>
            </a:r>
            <a:endParaRPr sz="2000">
              <a:latin typeface="Courier New"/>
              <a:cs typeface="Courier New"/>
            </a:endParaRPr>
          </a:p>
          <a:p>
            <a:pPr marL="237490" indent="-224790">
              <a:lnSpc>
                <a:spcPct val="100000"/>
              </a:lnSpc>
              <a:spcBef>
                <a:spcPts val="9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uninformative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print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representation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default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10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  <a:tab pos="1788795" algn="l"/>
                <a:tab pos="2856230" algn="l"/>
              </a:tabLst>
            </a:pPr>
            <a:r>
              <a:rPr sz="2600" dirty="0">
                <a:latin typeface="Calibri"/>
                <a:cs typeface="Calibri"/>
              </a:rPr>
              <a:t>define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b="1" spc="-25" dirty="0">
                <a:solidFill>
                  <a:srgbClr val="C00000"/>
                </a:solidFill>
                <a:latin typeface="Courier New"/>
                <a:cs typeface="Courier New"/>
              </a:rPr>
              <a:t>str</a:t>
            </a:r>
            <a:r>
              <a:rPr sz="2600" b="1" dirty="0">
                <a:solidFill>
                  <a:srgbClr val="C00000"/>
                </a:solidFill>
                <a:latin typeface="Courier New"/>
                <a:cs typeface="Courier New"/>
              </a:rPr>
              <a:t>	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method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ts val="2965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  <a:tab pos="4018279" algn="l"/>
              </a:tabLst>
            </a:pPr>
            <a:r>
              <a:rPr sz="2600" dirty="0">
                <a:latin typeface="Calibri"/>
                <a:cs typeface="Calibri"/>
              </a:rPr>
              <a:t>Python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calls the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u="sng" spc="-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600" spc="-25" dirty="0">
                <a:latin typeface="Courier New"/>
                <a:cs typeface="Courier New"/>
              </a:rPr>
              <a:t>str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	</a:t>
            </a:r>
            <a:r>
              <a:rPr sz="2600" dirty="0">
                <a:latin typeface="Calibri"/>
                <a:cs typeface="Calibri"/>
              </a:rPr>
              <a:t>method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</a:t>
            </a:r>
            <a:endParaRPr sz="2600">
              <a:latin typeface="Calibri"/>
              <a:cs typeface="Calibri"/>
            </a:endParaRPr>
          </a:p>
          <a:p>
            <a:pPr marL="104139">
              <a:lnSpc>
                <a:spcPts val="2965"/>
              </a:lnSpc>
            </a:pPr>
            <a:r>
              <a:rPr sz="2600" spc="-25" dirty="0">
                <a:latin typeface="Courier New"/>
                <a:cs typeface="Courier New"/>
              </a:rPr>
              <a:t>print</a:t>
            </a:r>
            <a:r>
              <a:rPr sz="2600" spc="-960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object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ts val="2975"/>
              </a:lnSpc>
              <a:spcBef>
                <a:spcPts val="107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you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choose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what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does!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print</a:t>
            </a:r>
            <a:r>
              <a:rPr sz="2600" spc="-50" dirty="0">
                <a:latin typeface="Calibri"/>
                <a:cs typeface="Calibri"/>
              </a:rPr>
              <a:t> a</a:t>
            </a:r>
            <a:endParaRPr sz="2600">
              <a:latin typeface="Calibri"/>
              <a:cs typeface="Calibri"/>
            </a:endParaRPr>
          </a:p>
          <a:p>
            <a:pPr marL="104139">
              <a:lnSpc>
                <a:spcPts val="2975"/>
              </a:lnSpc>
            </a:pPr>
            <a:r>
              <a:rPr sz="2600" spc="-25" dirty="0">
                <a:latin typeface="Courier New"/>
                <a:cs typeface="Courier New"/>
              </a:rPr>
              <a:t>Coordinate</a:t>
            </a:r>
            <a:r>
              <a:rPr sz="2600" spc="-950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object,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want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show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  <a:spcBef>
                <a:spcPts val="1240"/>
              </a:spcBef>
            </a:pPr>
            <a:r>
              <a:rPr sz="2000" dirty="0">
                <a:latin typeface="Courier New"/>
                <a:cs typeface="Courier New"/>
              </a:rPr>
              <a:t>&gt;&gt;&gt;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print(c)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latin typeface="Courier New"/>
                <a:cs typeface="Courier New"/>
              </a:rPr>
              <a:t>&lt;3,4&gt;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98"/>
            <a:ext cx="9144000" cy="607695"/>
            <a:chOff x="0" y="6250698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98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61"/>
                  </a:lnTo>
                  <a:lnTo>
                    <a:pt x="9144000" y="32536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291845"/>
            <a:ext cx="6861809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z="4800" spc="-60" dirty="0">
                <a:solidFill>
                  <a:srgbClr val="000000"/>
                </a:solidFill>
                <a:latin typeface="Calibri Light"/>
                <a:cs typeface="Calibri Light"/>
              </a:rPr>
              <a:t>DEFINING</a:t>
            </a:r>
            <a:r>
              <a:rPr sz="4800" spc="-2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55" dirty="0">
                <a:solidFill>
                  <a:srgbClr val="000000"/>
                </a:solidFill>
                <a:latin typeface="Calibri Light"/>
                <a:cs typeface="Calibri Light"/>
              </a:rPr>
              <a:t>YOUR</a:t>
            </a:r>
            <a:r>
              <a:rPr sz="4800" spc="-2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OWN</a:t>
            </a:r>
            <a:r>
              <a:rPr sz="4800" spc="-2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PRINT METHOD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1837628"/>
            <a:ext cx="6579870" cy="331787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2000" dirty="0">
                <a:latin typeface="Courier New"/>
                <a:cs typeface="Courier New"/>
              </a:rPr>
              <a:t>class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Coordinate(object):</a:t>
            </a:r>
            <a:endParaRPr sz="2000">
              <a:latin typeface="Courier New"/>
              <a:cs typeface="Courier New"/>
            </a:endParaRPr>
          </a:p>
          <a:p>
            <a:pPr marL="1231900" marR="2136775" indent="-610235">
              <a:lnSpc>
                <a:spcPct val="120000"/>
              </a:lnSpc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u="sng" spc="-3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init</a:t>
            </a: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(self,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x,</a:t>
            </a:r>
            <a:r>
              <a:rPr sz="2000" spc="-25" dirty="0">
                <a:latin typeface="Courier New"/>
                <a:cs typeface="Courier New"/>
              </a:rPr>
              <a:t> y): </a:t>
            </a:r>
            <a:r>
              <a:rPr sz="2000" dirty="0">
                <a:latin typeface="Courier New"/>
                <a:cs typeface="Courier New"/>
              </a:rPr>
              <a:t>self.x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  <a:p>
            <a:pPr marL="12319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urier New"/>
                <a:cs typeface="Courier New"/>
              </a:rPr>
              <a:t>self.y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y</a:t>
            </a:r>
            <a:endParaRPr sz="2000">
              <a:latin typeface="Courier New"/>
              <a:cs typeface="Courier New"/>
            </a:endParaRPr>
          </a:p>
          <a:p>
            <a:pPr marL="1231265" marR="614680" indent="-610235">
              <a:lnSpc>
                <a:spcPct val="120000"/>
              </a:lnSpc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10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distance(self,</a:t>
            </a:r>
            <a:r>
              <a:rPr sz="2000" spc="-1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other): </a:t>
            </a:r>
            <a:r>
              <a:rPr sz="2000" dirty="0">
                <a:latin typeface="Courier New"/>
                <a:cs typeface="Courier New"/>
              </a:rPr>
              <a:t>x_diff_sq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(self.x-</a:t>
            </a:r>
            <a:r>
              <a:rPr sz="2000" spc="-10" dirty="0">
                <a:latin typeface="Courier New"/>
                <a:cs typeface="Courier New"/>
              </a:rPr>
              <a:t>other.x)**2 </a:t>
            </a:r>
            <a:r>
              <a:rPr sz="2000" dirty="0">
                <a:latin typeface="Courier New"/>
                <a:cs typeface="Courier New"/>
              </a:rPr>
              <a:t>y_diff_sq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(self.y-</a:t>
            </a:r>
            <a:r>
              <a:rPr sz="2000" spc="-10" dirty="0">
                <a:latin typeface="Courier New"/>
                <a:cs typeface="Courier New"/>
              </a:rPr>
              <a:t>other.y)**2</a:t>
            </a:r>
            <a:endParaRPr sz="2000">
              <a:latin typeface="Courier New"/>
              <a:cs typeface="Courier New"/>
            </a:endParaRPr>
          </a:p>
          <a:p>
            <a:pPr marL="621665" marR="5080" indent="609600">
              <a:lnSpc>
                <a:spcPct val="120000"/>
              </a:lnSpc>
            </a:pPr>
            <a:r>
              <a:rPr sz="2000" dirty="0">
                <a:latin typeface="Courier New"/>
                <a:cs typeface="Courier New"/>
              </a:rPr>
              <a:t>return</a:t>
            </a:r>
            <a:r>
              <a:rPr sz="2000" spc="-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(x_diff_sq</a:t>
            </a:r>
            <a:r>
              <a:rPr sz="2000" spc="-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y_diff_sq)**0.5 </a:t>
            </a: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str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(self):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9104" y="5190863"/>
            <a:ext cx="9404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ourier New"/>
                <a:cs typeface="Courier New"/>
              </a:rPr>
              <a:t>return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25520" y="5239130"/>
            <a:ext cx="6057900" cy="36385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ts val="2120"/>
              </a:lnSpc>
            </a:pPr>
            <a:r>
              <a:rPr sz="2000" spc="-10" dirty="0">
                <a:latin typeface="Courier New"/>
                <a:cs typeface="Courier New"/>
              </a:rPr>
              <a:t>"&lt;"+str(self.x)+","+str(self.y)+"&gt;"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69389" y="4856607"/>
            <a:ext cx="1202055" cy="363855"/>
          </a:xfrm>
          <a:custGeom>
            <a:avLst/>
            <a:gdLst/>
            <a:ahLst/>
            <a:cxnLst/>
            <a:rect l="l" t="t" r="r" b="b"/>
            <a:pathLst>
              <a:path w="1202055" h="363854">
                <a:moveTo>
                  <a:pt x="0" y="363474"/>
                </a:moveTo>
                <a:lnTo>
                  <a:pt x="1201674" y="363474"/>
                </a:lnTo>
                <a:lnTo>
                  <a:pt x="1201674" y="0"/>
                </a:lnTo>
                <a:lnTo>
                  <a:pt x="0" y="0"/>
                </a:lnTo>
                <a:lnTo>
                  <a:pt x="0" y="363474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603" y="5421503"/>
            <a:ext cx="916901" cy="9653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3726" y="5681281"/>
            <a:ext cx="1001522" cy="80799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0" y="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2" y="0"/>
                </a:lnTo>
                <a:lnTo>
                  <a:pt x="29162" y="3746"/>
                </a:lnTo>
                <a:lnTo>
                  <a:pt x="13984" y="13969"/>
                </a:lnTo>
                <a:lnTo>
                  <a:pt x="3751" y="29146"/>
                </a:lnTo>
                <a:lnTo>
                  <a:pt x="0" y="47751"/>
                </a:lnTo>
                <a:lnTo>
                  <a:pt x="0" y="238759"/>
                </a:lnTo>
                <a:lnTo>
                  <a:pt x="3751" y="257365"/>
                </a:lnTo>
                <a:lnTo>
                  <a:pt x="13984" y="272541"/>
                </a:lnTo>
                <a:lnTo>
                  <a:pt x="29162" y="282765"/>
                </a:lnTo>
                <a:lnTo>
                  <a:pt x="47752" y="286511"/>
                </a:lnTo>
                <a:lnTo>
                  <a:pt x="4182872" y="286511"/>
                </a:lnTo>
                <a:lnTo>
                  <a:pt x="4201477" y="282765"/>
                </a:lnTo>
                <a:lnTo>
                  <a:pt x="4216654" y="272541"/>
                </a:lnTo>
                <a:lnTo>
                  <a:pt x="4226877" y="257365"/>
                </a:lnTo>
                <a:lnTo>
                  <a:pt x="4230624" y="238759"/>
                </a:lnTo>
                <a:lnTo>
                  <a:pt x="4230624" y="47751"/>
                </a:lnTo>
                <a:lnTo>
                  <a:pt x="4226877" y="29146"/>
                </a:lnTo>
                <a:lnTo>
                  <a:pt x="4216654" y="13969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13377" y="1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1" y="0"/>
                </a:lnTo>
                <a:lnTo>
                  <a:pt x="29146" y="3746"/>
                </a:lnTo>
                <a:lnTo>
                  <a:pt x="13970" y="13970"/>
                </a:lnTo>
                <a:lnTo>
                  <a:pt x="3746" y="29146"/>
                </a:lnTo>
                <a:lnTo>
                  <a:pt x="0" y="47752"/>
                </a:lnTo>
                <a:lnTo>
                  <a:pt x="0" y="238760"/>
                </a:lnTo>
                <a:lnTo>
                  <a:pt x="3746" y="257365"/>
                </a:lnTo>
                <a:lnTo>
                  <a:pt x="13970" y="272542"/>
                </a:lnTo>
                <a:lnTo>
                  <a:pt x="29146" y="282765"/>
                </a:lnTo>
                <a:lnTo>
                  <a:pt x="47751" y="286512"/>
                </a:lnTo>
                <a:lnTo>
                  <a:pt x="4182872" y="286512"/>
                </a:lnTo>
                <a:lnTo>
                  <a:pt x="4201477" y="282765"/>
                </a:lnTo>
                <a:lnTo>
                  <a:pt x="4216654" y="272542"/>
                </a:lnTo>
                <a:lnTo>
                  <a:pt x="4226877" y="257365"/>
                </a:lnTo>
                <a:lnTo>
                  <a:pt x="4230624" y="238760"/>
                </a:lnTo>
                <a:lnTo>
                  <a:pt x="4230624" y="47752"/>
                </a:lnTo>
                <a:lnTo>
                  <a:pt x="4226877" y="29146"/>
                </a:lnTo>
                <a:lnTo>
                  <a:pt x="4216654" y="13970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BFC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26413" y="-21081"/>
            <a:ext cx="66998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1749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98"/>
            <a:ext cx="9144000" cy="607695"/>
            <a:chOff x="0" y="6250698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98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61"/>
                  </a:lnTo>
                  <a:lnTo>
                    <a:pt x="9144000" y="32536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z="4800" spc="-50" dirty="0">
                <a:solidFill>
                  <a:srgbClr val="000000"/>
                </a:solidFill>
                <a:latin typeface="Calibri Light"/>
                <a:cs typeface="Calibri Light"/>
              </a:rPr>
              <a:t>WRAPPING</a:t>
            </a:r>
            <a:r>
              <a:rPr sz="4800" spc="-2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55" dirty="0">
                <a:solidFill>
                  <a:srgbClr val="000000"/>
                </a:solidFill>
                <a:latin typeface="Calibri Light"/>
                <a:cs typeface="Calibri Light"/>
              </a:rPr>
              <a:t>YOUR</a:t>
            </a:r>
            <a:r>
              <a:rPr sz="4800" spc="-18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0" dirty="0">
                <a:solidFill>
                  <a:srgbClr val="000000"/>
                </a:solidFill>
                <a:latin typeface="Calibri Light"/>
                <a:cs typeface="Calibri Light"/>
              </a:rPr>
              <a:t>HEAD </a:t>
            </a:r>
            <a:r>
              <a:rPr sz="4800" spc="-35" dirty="0">
                <a:solidFill>
                  <a:srgbClr val="000000"/>
                </a:solidFill>
                <a:latin typeface="Calibri Light"/>
                <a:cs typeface="Calibri Light"/>
              </a:rPr>
              <a:t>AROUND</a:t>
            </a:r>
            <a:r>
              <a:rPr sz="4800" spc="-2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35" dirty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sz="4800" spc="-20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sz="4800" spc="-229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50" dirty="0">
                <a:solidFill>
                  <a:srgbClr val="000000"/>
                </a:solidFill>
                <a:latin typeface="Calibri Light"/>
                <a:cs typeface="Calibri Light"/>
              </a:rPr>
              <a:t>CLASSES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1740531"/>
            <a:ext cx="5304155" cy="101663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300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instance</a:t>
            </a:r>
            <a:endParaRPr sz="2400">
              <a:latin typeface="Calibri"/>
              <a:cs typeface="Calibri"/>
            </a:endParaRPr>
          </a:p>
          <a:p>
            <a:pPr marL="445770">
              <a:lnSpc>
                <a:spcPct val="100000"/>
              </a:lnSpc>
              <a:spcBef>
                <a:spcPts val="160"/>
              </a:spcBef>
            </a:pPr>
            <a:r>
              <a:rPr sz="1900" dirty="0">
                <a:latin typeface="Courier New"/>
                <a:cs typeface="Courier New"/>
              </a:rPr>
              <a:t>&gt;&gt;&gt;</a:t>
            </a:r>
            <a:r>
              <a:rPr sz="1900" spc="-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c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=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Coordinate(3,4)</a:t>
            </a:r>
            <a:endParaRPr sz="1900">
              <a:latin typeface="Courier New"/>
              <a:cs typeface="Courier New"/>
            </a:endParaRPr>
          </a:p>
          <a:p>
            <a:pPr marL="445770">
              <a:lnSpc>
                <a:spcPct val="100000"/>
              </a:lnSpc>
            </a:pPr>
            <a:r>
              <a:rPr sz="1900" dirty="0">
                <a:latin typeface="Courier New"/>
                <a:cs typeface="Courier New"/>
              </a:rPr>
              <a:t>&gt;&gt;&gt;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print(c)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2054" y="2761106"/>
            <a:ext cx="4137660" cy="29908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3975">
              <a:lnSpc>
                <a:spcPts val="2105"/>
              </a:lnSpc>
            </a:pPr>
            <a:r>
              <a:rPr sz="1900" spc="-10" dirty="0">
                <a:latin typeface="Courier New"/>
                <a:cs typeface="Courier New"/>
              </a:rPr>
              <a:t>&lt;3,4&gt;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3113" y="3015443"/>
            <a:ext cx="26282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ourier New"/>
                <a:cs typeface="Courier New"/>
              </a:rPr>
              <a:t>&gt;&gt;&gt;</a:t>
            </a:r>
            <a:r>
              <a:rPr sz="1900" spc="-3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print(type(c))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9580" y="3369183"/>
            <a:ext cx="4120515" cy="29908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1920"/>
              </a:lnSpc>
            </a:pPr>
            <a:r>
              <a:rPr sz="1900" dirty="0">
                <a:latin typeface="Courier New"/>
                <a:cs typeface="Courier New"/>
              </a:rPr>
              <a:t>&lt;class</a:t>
            </a:r>
            <a:r>
              <a:rPr sz="1900" spc="-25" dirty="0">
                <a:latin typeface="Courier New"/>
                <a:cs typeface="Courier New"/>
              </a:rPr>
              <a:t> </a:t>
            </a:r>
            <a:r>
              <a:rPr sz="1900" u="sng" spc="-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main</a:t>
            </a:r>
            <a:r>
              <a:rPr sz="1900" u="sng" spc="-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900" spc="-10" dirty="0">
                <a:latin typeface="Courier New"/>
                <a:cs typeface="Courier New"/>
              </a:rPr>
              <a:t>.Coordinate&gt;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0259" y="3621733"/>
            <a:ext cx="3494404" cy="72771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305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since</a:t>
            </a:r>
            <a:endParaRPr sz="2400">
              <a:latin typeface="Calibri"/>
              <a:cs typeface="Calibri"/>
            </a:endParaRPr>
          </a:p>
          <a:p>
            <a:pPr marL="445770">
              <a:lnSpc>
                <a:spcPct val="100000"/>
              </a:lnSpc>
              <a:spcBef>
                <a:spcPts val="160"/>
              </a:spcBef>
            </a:pPr>
            <a:r>
              <a:rPr sz="1900" dirty="0">
                <a:latin typeface="Courier New"/>
                <a:cs typeface="Courier New"/>
              </a:rPr>
              <a:t>&gt;&gt;&gt;</a:t>
            </a:r>
            <a:r>
              <a:rPr sz="1900" spc="-2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print(Coordinate)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02054" y="4365116"/>
            <a:ext cx="4137660" cy="29908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3975">
              <a:lnSpc>
                <a:spcPts val="2055"/>
              </a:lnSpc>
            </a:pPr>
            <a:r>
              <a:rPr sz="1900" dirty="0">
                <a:latin typeface="Courier New"/>
                <a:cs typeface="Courier New"/>
              </a:rPr>
              <a:t>&lt;class</a:t>
            </a:r>
            <a:r>
              <a:rPr sz="1900" spc="-25" dirty="0">
                <a:latin typeface="Courier New"/>
                <a:cs typeface="Courier New"/>
              </a:rPr>
              <a:t> </a:t>
            </a:r>
            <a:r>
              <a:rPr sz="1900" u="sng" spc="-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main</a:t>
            </a:r>
            <a:r>
              <a:rPr sz="1900" u="sng" spc="-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900" spc="-10" dirty="0">
                <a:latin typeface="Courier New"/>
                <a:cs typeface="Courier New"/>
              </a:rPr>
              <a:t>.Coordinate&gt;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3838" y="4612894"/>
            <a:ext cx="392747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ourier New"/>
                <a:cs typeface="Courier New"/>
              </a:rPr>
              <a:t>&gt;&gt;&gt;</a:t>
            </a:r>
            <a:r>
              <a:rPr sz="1900" spc="-2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print(type(Coordinate))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02054" y="4957953"/>
            <a:ext cx="4137660" cy="29908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3975">
              <a:lnSpc>
                <a:spcPts val="1900"/>
              </a:lnSpc>
            </a:pPr>
            <a:r>
              <a:rPr sz="1900" dirty="0">
                <a:latin typeface="Courier New"/>
                <a:cs typeface="Courier New"/>
              </a:rPr>
              <a:t>&lt;type</a:t>
            </a:r>
            <a:r>
              <a:rPr sz="1900" spc="-3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'type'&gt;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0259" y="5215528"/>
            <a:ext cx="7962265" cy="10160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295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isinstance()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Coordinate</a:t>
            </a:r>
            <a:endParaRPr sz="2400">
              <a:latin typeface="Courier New"/>
              <a:cs typeface="Courier New"/>
            </a:endParaRPr>
          </a:p>
          <a:p>
            <a:pPr marL="445770" marR="2306955">
              <a:lnSpc>
                <a:spcPct val="100000"/>
              </a:lnSpc>
              <a:spcBef>
                <a:spcPts val="160"/>
              </a:spcBef>
            </a:pPr>
            <a:r>
              <a:rPr sz="1900" dirty="0">
                <a:latin typeface="Courier New"/>
                <a:cs typeface="Courier New"/>
              </a:rPr>
              <a:t>&gt;&gt;&gt;</a:t>
            </a:r>
            <a:r>
              <a:rPr sz="1900" spc="-9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print(isinstance(c,</a:t>
            </a:r>
            <a:r>
              <a:rPr sz="1900" spc="-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Coordinate)) </a:t>
            </a:r>
            <a:r>
              <a:rPr sz="1900" spc="-20" dirty="0">
                <a:latin typeface="Courier New"/>
                <a:cs typeface="Courier New"/>
              </a:rPr>
              <a:t>True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1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1" y="0"/>
                </a:lnTo>
                <a:lnTo>
                  <a:pt x="29162" y="3746"/>
                </a:lnTo>
                <a:lnTo>
                  <a:pt x="13984" y="13970"/>
                </a:lnTo>
                <a:lnTo>
                  <a:pt x="3751" y="29146"/>
                </a:lnTo>
                <a:lnTo>
                  <a:pt x="0" y="47752"/>
                </a:lnTo>
                <a:lnTo>
                  <a:pt x="0" y="238760"/>
                </a:lnTo>
                <a:lnTo>
                  <a:pt x="3751" y="257365"/>
                </a:lnTo>
                <a:lnTo>
                  <a:pt x="13984" y="272542"/>
                </a:lnTo>
                <a:lnTo>
                  <a:pt x="29162" y="282765"/>
                </a:lnTo>
                <a:lnTo>
                  <a:pt x="47751" y="286512"/>
                </a:lnTo>
                <a:lnTo>
                  <a:pt x="4182872" y="286512"/>
                </a:lnTo>
                <a:lnTo>
                  <a:pt x="4201477" y="282765"/>
                </a:lnTo>
                <a:lnTo>
                  <a:pt x="4216654" y="272542"/>
                </a:lnTo>
                <a:lnTo>
                  <a:pt x="4226877" y="257365"/>
                </a:lnTo>
                <a:lnTo>
                  <a:pt x="4230624" y="238760"/>
                </a:lnTo>
                <a:lnTo>
                  <a:pt x="4230624" y="47752"/>
                </a:lnTo>
                <a:lnTo>
                  <a:pt x="4226877" y="29146"/>
                </a:lnTo>
                <a:lnTo>
                  <a:pt x="4216654" y="13970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BFC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13376" y="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2" y="0"/>
                </a:lnTo>
                <a:lnTo>
                  <a:pt x="29146" y="3746"/>
                </a:lnTo>
                <a:lnTo>
                  <a:pt x="13970" y="13969"/>
                </a:lnTo>
                <a:lnTo>
                  <a:pt x="3746" y="29146"/>
                </a:lnTo>
                <a:lnTo>
                  <a:pt x="0" y="47751"/>
                </a:lnTo>
                <a:lnTo>
                  <a:pt x="0" y="238759"/>
                </a:lnTo>
                <a:lnTo>
                  <a:pt x="3746" y="257365"/>
                </a:lnTo>
                <a:lnTo>
                  <a:pt x="13970" y="272541"/>
                </a:lnTo>
                <a:lnTo>
                  <a:pt x="29146" y="282765"/>
                </a:lnTo>
                <a:lnTo>
                  <a:pt x="47752" y="286511"/>
                </a:lnTo>
                <a:lnTo>
                  <a:pt x="4182872" y="286511"/>
                </a:lnTo>
                <a:lnTo>
                  <a:pt x="4201477" y="282765"/>
                </a:lnTo>
                <a:lnTo>
                  <a:pt x="4216654" y="272541"/>
                </a:lnTo>
                <a:lnTo>
                  <a:pt x="4226877" y="257365"/>
                </a:lnTo>
                <a:lnTo>
                  <a:pt x="4230624" y="238759"/>
                </a:lnTo>
                <a:lnTo>
                  <a:pt x="4230624" y="47751"/>
                </a:lnTo>
                <a:lnTo>
                  <a:pt x="4226877" y="29146"/>
                </a:lnTo>
                <a:lnTo>
                  <a:pt x="4216654" y="13969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26413" y="-21081"/>
            <a:ext cx="66998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1749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483225" y="1928876"/>
            <a:ext cx="3127375" cy="3236595"/>
            <a:chOff x="5483225" y="1928876"/>
            <a:chExt cx="3127375" cy="323659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3225" y="1928876"/>
              <a:ext cx="1783206" cy="110121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5417" y="2493009"/>
              <a:ext cx="1955942" cy="128092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2759" y="3584955"/>
              <a:ext cx="1828545" cy="98678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72759" y="3554857"/>
              <a:ext cx="3037332" cy="161010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85"/>
            <a:ext cx="9144000" cy="607695"/>
            <a:chOff x="0" y="6250685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85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73"/>
                  </a:lnTo>
                  <a:lnTo>
                    <a:pt x="9144000" y="32537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926846"/>
            <a:ext cx="49104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000000"/>
                </a:solidFill>
                <a:latin typeface="Calibri Light"/>
                <a:cs typeface="Calibri Light"/>
              </a:rPr>
              <a:t>SPECIAL</a:t>
            </a:r>
            <a:r>
              <a:rPr sz="4800" spc="-20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95" dirty="0">
                <a:solidFill>
                  <a:srgbClr val="000000"/>
                </a:solidFill>
                <a:latin typeface="Calibri Light"/>
                <a:cs typeface="Calibri Light"/>
              </a:rPr>
              <a:t>OPERATORS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810259" y="1607279"/>
            <a:ext cx="7581900" cy="2140585"/>
          </a:xfrm>
          <a:prstGeom prst="rect">
            <a:avLst/>
          </a:prstGeom>
        </p:spPr>
        <p:txBody>
          <a:bodyPr vert="horz" wrap="square" lIns="0" tIns="223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2600" dirty="0">
                <a:solidFill>
                  <a:srgbClr val="585858"/>
                </a:solidFill>
                <a:latin typeface="Wingdings"/>
                <a:cs typeface="Wingdings"/>
              </a:rPr>
              <a:t></a:t>
            </a:r>
            <a:r>
              <a:rPr sz="2600" spc="-10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+,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-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==,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&lt;,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&gt;,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len(),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print,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others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9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https://docs.python.org/3/reference/datamodel.html#basic-</a:t>
            </a:r>
            <a:r>
              <a:rPr sz="1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customization</a:t>
            </a:r>
            <a:endParaRPr sz="19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5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like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ourier New"/>
                <a:cs typeface="Courier New"/>
              </a:rPr>
              <a:t>print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override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these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work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7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define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double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underscores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before/after</a:t>
            </a:r>
            <a:endParaRPr sz="26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92377" y="3784339"/>
          <a:ext cx="6492240" cy="2393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31750">
                        <a:lnSpc>
                          <a:spcPts val="2195"/>
                        </a:lnSpc>
                      </a:pPr>
                      <a:r>
                        <a:rPr sz="2000" u="sng" spc="-30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add</a:t>
                      </a:r>
                      <a:r>
                        <a:rPr sz="2000" u="sng" spc="-30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(self,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other)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2195"/>
                        </a:lnSpc>
                      </a:pPr>
                      <a:r>
                        <a:rPr sz="20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0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95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self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95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+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19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other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31750">
                        <a:lnSpc>
                          <a:spcPts val="2380"/>
                        </a:lnSpc>
                      </a:pPr>
                      <a:r>
                        <a:rPr sz="2000" u="sng" spc="-30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sub</a:t>
                      </a:r>
                      <a:r>
                        <a:rPr sz="2000" u="sng" spc="-30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(self,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other)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2380"/>
                        </a:lnSpc>
                      </a:pPr>
                      <a:r>
                        <a:rPr sz="20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0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380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self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-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3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other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u="sng" spc="-30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eq</a:t>
                      </a:r>
                      <a:r>
                        <a:rPr sz="20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(self,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other)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000">
                        <a:latin typeface="Wingdings"/>
                        <a:cs typeface="Wingdings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self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0320" marB="0"/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other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032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31750">
                        <a:lnSpc>
                          <a:spcPts val="2380"/>
                        </a:lnSpc>
                      </a:pPr>
                      <a:r>
                        <a:rPr sz="2000" u="sng" spc="-30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lt</a:t>
                      </a:r>
                      <a:r>
                        <a:rPr sz="20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(self,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other)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2380"/>
                        </a:lnSpc>
                      </a:pPr>
                      <a:r>
                        <a:rPr sz="20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0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380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self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ts val="238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&lt;</a:t>
                      </a:r>
                      <a:r>
                        <a:rPr sz="2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other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len</a:t>
                      </a:r>
                      <a:r>
                        <a:rPr sz="2000" u="sng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(self)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000">
                        <a:latin typeface="Wingdings"/>
                        <a:cs typeface="Wingdings"/>
                      </a:endParaRPr>
                    </a:p>
                  </a:txBody>
                  <a:tcPr marL="0" marR="0" marT="20320" marB="0"/>
                </a:tc>
                <a:tc gridSpan="3"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len(self)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032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115">
                <a:tc>
                  <a:txBody>
                    <a:bodyPr/>
                    <a:lstStyle/>
                    <a:p>
                      <a:pPr marL="31750">
                        <a:lnSpc>
                          <a:spcPts val="2380"/>
                        </a:lnSpc>
                      </a:pPr>
                      <a:r>
                        <a:rPr sz="20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str</a:t>
                      </a:r>
                      <a:r>
                        <a:rPr sz="2000" u="sng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(self)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...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others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2380"/>
                        </a:lnSpc>
                      </a:pPr>
                      <a:r>
                        <a:rPr sz="20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0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32740">
                        <a:lnSpc>
                          <a:spcPts val="238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print</a:t>
                      </a:r>
                      <a:r>
                        <a:rPr sz="2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self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50685"/>
            <a:ext cx="9144000" cy="607695"/>
            <a:chOff x="0" y="6250685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50685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73"/>
                  </a:lnTo>
                  <a:lnTo>
                    <a:pt x="9144000" y="32537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5" dirty="0">
                <a:solidFill>
                  <a:srgbClr val="000000"/>
                </a:solidFill>
                <a:latin typeface="Calibri Light"/>
                <a:cs typeface="Calibri Light"/>
              </a:rPr>
              <a:t>EXAMPLE:</a:t>
            </a:r>
            <a:r>
              <a:rPr sz="4800" spc="-20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30" dirty="0">
                <a:solidFill>
                  <a:srgbClr val="000000"/>
                </a:solidFill>
                <a:latin typeface="Calibri Light"/>
                <a:cs typeface="Calibri Light"/>
              </a:rPr>
              <a:t>FRACTIONS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810259" y="1679849"/>
            <a:ext cx="7488555" cy="45478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create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new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type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represent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fraction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internal</a:t>
            </a:r>
            <a:r>
              <a:rPr sz="26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representation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integers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2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spc="-10" dirty="0">
                <a:latin typeface="Calibri"/>
                <a:cs typeface="Calibri"/>
              </a:rPr>
              <a:t>numerator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spc="-10" dirty="0">
                <a:latin typeface="Calibri"/>
                <a:cs typeface="Calibri"/>
              </a:rPr>
              <a:t>denominator</a:t>
            </a:r>
            <a:endParaRPr sz="2400">
              <a:latin typeface="Calibri"/>
              <a:cs typeface="Calibri"/>
            </a:endParaRPr>
          </a:p>
          <a:p>
            <a:pPr marL="237490" indent="-224790">
              <a:lnSpc>
                <a:spcPts val="2975"/>
              </a:lnSpc>
              <a:spcBef>
                <a:spcPts val="127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interface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a.k.a.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methods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a.k.a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how</a:t>
            </a:r>
            <a:r>
              <a:rPr sz="26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6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interact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</a:t>
            </a:r>
            <a:endParaRPr sz="2600">
              <a:latin typeface="Calibri"/>
              <a:cs typeface="Calibri"/>
            </a:endParaRPr>
          </a:p>
          <a:p>
            <a:pPr marL="104139">
              <a:lnSpc>
                <a:spcPts val="2975"/>
              </a:lnSpc>
            </a:pPr>
            <a:r>
              <a:rPr sz="2600" spc="-25" dirty="0">
                <a:latin typeface="Courier New"/>
                <a:cs typeface="Courier New"/>
              </a:rPr>
              <a:t>Fraction</a:t>
            </a:r>
            <a:r>
              <a:rPr sz="2600" spc="-880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alibri"/>
                <a:cs typeface="Calibri"/>
              </a:rPr>
              <a:t>objects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add,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subtract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print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convert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float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spc="-10" dirty="0">
                <a:latin typeface="Calibri"/>
                <a:cs typeface="Calibri"/>
              </a:rPr>
              <a:t>invert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fraction</a:t>
            </a:r>
            <a:endParaRPr sz="24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27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handout,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out!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4505"/>
            <a:ext cx="9144000" cy="523875"/>
            <a:chOff x="0" y="6334505"/>
            <a:chExt cx="9144000" cy="52387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50685"/>
            <a:ext cx="9144000" cy="325755"/>
          </a:xfrm>
          <a:custGeom>
            <a:avLst/>
            <a:gdLst/>
            <a:ahLst/>
            <a:cxnLst/>
            <a:rect l="l" t="t" r="r" b="b"/>
            <a:pathLst>
              <a:path w="9144000" h="325754">
                <a:moveTo>
                  <a:pt x="9144000" y="0"/>
                </a:moveTo>
                <a:lnTo>
                  <a:pt x="0" y="0"/>
                </a:lnTo>
                <a:lnTo>
                  <a:pt x="0" y="325373"/>
                </a:lnTo>
                <a:lnTo>
                  <a:pt x="9144000" y="325373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THE</a:t>
            </a:r>
            <a:r>
              <a:rPr sz="4800" spc="-20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40" dirty="0">
                <a:solidFill>
                  <a:srgbClr val="000000"/>
                </a:solidFill>
                <a:latin typeface="Calibri Light"/>
                <a:cs typeface="Calibri Light"/>
              </a:rPr>
              <a:t>POWER</a:t>
            </a:r>
            <a:r>
              <a:rPr sz="4800" spc="-2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sz="4800" spc="-2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000000"/>
                </a:solidFill>
                <a:latin typeface="Calibri Light"/>
                <a:cs typeface="Calibri Light"/>
              </a:rPr>
              <a:t>OOP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810259" y="1818385"/>
            <a:ext cx="7475855" cy="390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bundle</a:t>
            </a:r>
            <a:r>
              <a:rPr sz="26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together</a:t>
            </a:r>
            <a:r>
              <a:rPr sz="2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objects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share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2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common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spc="-10" dirty="0">
                <a:latin typeface="Calibri"/>
                <a:cs typeface="Calibri"/>
              </a:rPr>
              <a:t>procedures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endParaRPr sz="2400">
              <a:latin typeface="Calibri"/>
              <a:cs typeface="Calibri"/>
            </a:endParaRPr>
          </a:p>
          <a:p>
            <a:pPr marL="104139" marR="5080" indent="-91440">
              <a:lnSpc>
                <a:spcPts val="2810"/>
              </a:lnSpc>
              <a:spcBef>
                <a:spcPts val="163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use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abstraction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make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distinction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how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implement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object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how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object</a:t>
            </a:r>
            <a:endParaRPr sz="2600">
              <a:latin typeface="Calibri"/>
              <a:cs typeface="Calibri"/>
            </a:endParaRPr>
          </a:p>
          <a:p>
            <a:pPr marL="104139" marR="1114425" indent="-91440">
              <a:lnSpc>
                <a:spcPts val="2810"/>
              </a:lnSpc>
              <a:spcBef>
                <a:spcPts val="139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build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layers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object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abstractions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inherit </a:t>
            </a:r>
            <a:r>
              <a:rPr sz="2600" dirty="0">
                <a:latin typeface="Calibri"/>
                <a:cs typeface="Calibri"/>
              </a:rPr>
              <a:t>behaviors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objects</a:t>
            </a:r>
            <a:endParaRPr sz="2600">
              <a:latin typeface="Calibri"/>
              <a:cs typeface="Calibri"/>
            </a:endParaRPr>
          </a:p>
          <a:p>
            <a:pPr marL="104139" marR="208279" indent="-91440">
              <a:lnSpc>
                <a:spcPts val="2810"/>
              </a:lnSpc>
              <a:spcBef>
                <a:spcPts val="140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spc="-10" dirty="0">
                <a:latin typeface="Calibri"/>
                <a:cs typeface="Calibri"/>
              </a:rPr>
              <a:t>	create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own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classes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objects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top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Python’s </a:t>
            </a:r>
            <a:r>
              <a:rPr sz="2600" dirty="0">
                <a:latin typeface="Calibri"/>
                <a:cs typeface="Calibri"/>
              </a:rPr>
              <a:t>basic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classes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8095" y="1577846"/>
            <a:ext cx="6318505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dirty="0">
                <a:latin typeface="Arial MT"/>
                <a:cs typeface="Arial MT"/>
              </a:rPr>
              <a:t>Break for 10 mins</a:t>
            </a:r>
            <a:endParaRPr sz="5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76059"/>
            <a:ext cx="9144000" cy="281940"/>
          </a:xfrm>
          <a:custGeom>
            <a:avLst/>
            <a:gdLst/>
            <a:ahLst/>
            <a:cxnLst/>
            <a:rect l="l" t="t" r="r" b="b"/>
            <a:pathLst>
              <a:path w="9144000" h="281940">
                <a:moveTo>
                  <a:pt x="0" y="281940"/>
                </a:moveTo>
                <a:lnTo>
                  <a:pt x="9144000" y="281940"/>
                </a:lnTo>
                <a:lnTo>
                  <a:pt x="9144000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6400" y="435863"/>
            <a:ext cx="7830184" cy="12388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 marR="5080">
              <a:lnSpc>
                <a:spcPts val="4390"/>
              </a:lnSpc>
              <a:spcBef>
                <a:spcPts val="890"/>
              </a:spcBef>
              <a:tabLst>
                <a:tab pos="4597400" algn="l"/>
                <a:tab pos="5385435" algn="l"/>
                <a:tab pos="5454650" algn="l"/>
              </a:tabLst>
            </a:pPr>
            <a:r>
              <a:rPr sz="4300" spc="-30" dirty="0">
                <a:solidFill>
                  <a:srgbClr val="000000"/>
                </a:solidFill>
                <a:latin typeface="Calibri Light"/>
                <a:cs typeface="Calibri Light"/>
              </a:rPr>
              <a:t>CLASS</a:t>
            </a:r>
            <a:r>
              <a:rPr sz="4300" spc="-20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300" spc="-10" dirty="0">
                <a:solidFill>
                  <a:srgbClr val="000000"/>
                </a:solidFill>
                <a:latin typeface="Calibri Light"/>
                <a:cs typeface="Calibri Light"/>
              </a:rPr>
              <a:t>DEFINITION</a:t>
            </a:r>
            <a:r>
              <a:rPr sz="4300" dirty="0">
                <a:solidFill>
                  <a:srgbClr val="000000"/>
                </a:solidFill>
                <a:latin typeface="Calibri Light"/>
                <a:cs typeface="Calibri Light"/>
              </a:rPr>
              <a:t>			</a:t>
            </a:r>
            <a:r>
              <a:rPr sz="4300" spc="-10" dirty="0">
                <a:solidFill>
                  <a:srgbClr val="000000"/>
                </a:solidFill>
                <a:latin typeface="Calibri Light"/>
                <a:cs typeface="Calibri Light"/>
              </a:rPr>
              <a:t>INSTANCE </a:t>
            </a:r>
            <a:r>
              <a:rPr sz="4300" dirty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sz="4300" spc="-18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300" dirty="0">
                <a:solidFill>
                  <a:srgbClr val="000000"/>
                </a:solidFill>
                <a:latin typeface="Calibri Light"/>
                <a:cs typeface="Calibri Light"/>
              </a:rPr>
              <a:t>AN</a:t>
            </a:r>
            <a:r>
              <a:rPr sz="4300" spc="-17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300" spc="-35" dirty="0">
                <a:solidFill>
                  <a:srgbClr val="000000"/>
                </a:solidFill>
                <a:latin typeface="Calibri Light"/>
                <a:cs typeface="Calibri Light"/>
              </a:rPr>
              <a:t>OBJECT</a:t>
            </a:r>
            <a:r>
              <a:rPr sz="4300" spc="-19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300" spc="-20" dirty="0">
                <a:solidFill>
                  <a:srgbClr val="000000"/>
                </a:solidFill>
                <a:latin typeface="Calibri Light"/>
                <a:cs typeface="Calibri Light"/>
              </a:rPr>
              <a:t>TYPE</a:t>
            </a:r>
            <a:r>
              <a:rPr sz="4300" dirty="0">
                <a:solidFill>
                  <a:srgbClr val="000000"/>
                </a:solidFill>
                <a:latin typeface="Calibri Light"/>
                <a:cs typeface="Calibri Light"/>
              </a:rPr>
              <a:t>	</a:t>
            </a:r>
            <a:r>
              <a:rPr sz="4300" spc="-25" dirty="0">
                <a:solidFill>
                  <a:srgbClr val="000000"/>
                </a:solidFill>
                <a:latin typeface="Calibri Light"/>
                <a:cs typeface="Calibri Light"/>
              </a:rPr>
              <a:t>vs</a:t>
            </a:r>
            <a:r>
              <a:rPr sz="4300" dirty="0">
                <a:solidFill>
                  <a:srgbClr val="000000"/>
                </a:solidFill>
                <a:latin typeface="Calibri Light"/>
                <a:cs typeface="Calibri Light"/>
              </a:rPr>
              <a:t>	OF</a:t>
            </a:r>
            <a:r>
              <a:rPr sz="4300" spc="-1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300" dirty="0">
                <a:solidFill>
                  <a:srgbClr val="000000"/>
                </a:solidFill>
                <a:latin typeface="Calibri Light"/>
                <a:cs typeface="Calibri Light"/>
              </a:rPr>
              <a:t>A</a:t>
            </a:r>
            <a:r>
              <a:rPr sz="4300" spc="-1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300" spc="-45" dirty="0">
                <a:solidFill>
                  <a:srgbClr val="000000"/>
                </a:solidFill>
                <a:latin typeface="Calibri Light"/>
                <a:cs typeface="Calibri Light"/>
              </a:rPr>
              <a:t>CLASS</a:t>
            </a:r>
            <a:endParaRPr sz="43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7490" indent="-224790">
              <a:lnSpc>
                <a:spcPts val="3105"/>
              </a:lnSpc>
              <a:spcBef>
                <a:spcPts val="9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dirty="0"/>
              <a:t>class</a:t>
            </a:r>
            <a:r>
              <a:rPr spc="-20" dirty="0"/>
              <a:t> </a:t>
            </a:r>
            <a:r>
              <a:rPr dirty="0"/>
              <a:t>name</a:t>
            </a:r>
            <a:r>
              <a:rPr spc="-2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b="1" spc="-20" dirty="0">
                <a:solidFill>
                  <a:srgbClr val="C00000"/>
                </a:solidFill>
                <a:latin typeface="Calibri"/>
                <a:cs typeface="Calibri"/>
              </a:rPr>
              <a:t>type</a:t>
            </a:r>
          </a:p>
          <a:p>
            <a:pPr marL="213360">
              <a:lnSpc>
                <a:spcPts val="2145"/>
              </a:lnSpc>
            </a:pPr>
            <a:r>
              <a:rPr sz="1800" dirty="0">
                <a:latin typeface="Courier New"/>
                <a:cs typeface="Courier New"/>
              </a:rPr>
              <a:t>class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Coordinate(object)</a:t>
            </a:r>
            <a:endParaRPr sz="1800">
              <a:latin typeface="Courier New"/>
              <a:cs typeface="Courier New"/>
            </a:endParaRPr>
          </a:p>
          <a:p>
            <a:pPr marL="237490" indent="-224790">
              <a:lnSpc>
                <a:spcPts val="3030"/>
              </a:lnSpc>
              <a:spcBef>
                <a:spcPts val="98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dirty="0"/>
              <a:t>class</a:t>
            </a:r>
            <a:r>
              <a:rPr spc="-4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defined</a:t>
            </a:r>
            <a:r>
              <a:rPr spc="-70" dirty="0"/>
              <a:t> </a:t>
            </a:r>
            <a:r>
              <a:rPr spc="-10" dirty="0"/>
              <a:t>generically</a:t>
            </a:r>
          </a:p>
          <a:p>
            <a:pPr marL="394970" marR="180340" lvl="1" indent="-181610">
              <a:lnSpc>
                <a:spcPct val="80200"/>
              </a:lnSpc>
              <a:spcBef>
                <a:spcPts val="480"/>
              </a:spcBef>
              <a:buClr>
                <a:srgbClr val="585858"/>
              </a:buClr>
              <a:buFont typeface="Arial MT"/>
              <a:buChar char="•"/>
              <a:tabLst>
                <a:tab pos="396240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1800" dirty="0">
                <a:latin typeface="Courier New"/>
                <a:cs typeface="Courier New"/>
              </a:rPr>
              <a:t>self</a:t>
            </a:r>
            <a:r>
              <a:rPr sz="1800" spc="24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refer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some 	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class</a:t>
            </a:r>
            <a:endParaRPr sz="2400">
              <a:latin typeface="Calibri"/>
              <a:cs typeface="Calibri"/>
            </a:endParaRPr>
          </a:p>
          <a:p>
            <a:pPr marL="213360">
              <a:lnSpc>
                <a:spcPts val="2155"/>
              </a:lnSpc>
              <a:spcBef>
                <a:spcPts val="204"/>
              </a:spcBef>
            </a:pPr>
            <a:r>
              <a:rPr sz="1800" dirty="0">
                <a:latin typeface="Courier New"/>
                <a:cs typeface="Courier New"/>
              </a:rPr>
              <a:t>(self.x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–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self.y)**2</a:t>
            </a:r>
            <a:endParaRPr sz="1800">
              <a:latin typeface="Courier New"/>
              <a:cs typeface="Courier New"/>
            </a:endParaRPr>
          </a:p>
          <a:p>
            <a:pPr marL="396240" marR="202565" lvl="1" indent="-182880">
              <a:lnSpc>
                <a:spcPts val="2300"/>
              </a:lnSpc>
              <a:spcBef>
                <a:spcPts val="555"/>
              </a:spcBef>
              <a:buChar char="•"/>
              <a:tabLst>
                <a:tab pos="396240" algn="l"/>
                <a:tab pos="464820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self</a:t>
            </a:r>
            <a:r>
              <a:rPr sz="1800" spc="-56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parameter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definition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65"/>
              </a:spcBef>
              <a:buClr>
                <a:srgbClr val="585858"/>
              </a:buClr>
              <a:buFont typeface="Arial MT"/>
              <a:buChar char="•"/>
            </a:pPr>
            <a:endParaRPr sz="2400"/>
          </a:p>
          <a:p>
            <a:pPr marL="104139" marR="5080" indent="-91440">
              <a:lnSpc>
                <a:spcPts val="2500"/>
              </a:lnSpc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dirty="0"/>
              <a:t>	class</a:t>
            </a:r>
            <a:r>
              <a:rPr spc="-70" dirty="0"/>
              <a:t> </a:t>
            </a:r>
            <a:r>
              <a:rPr dirty="0"/>
              <a:t>defines</a:t>
            </a:r>
            <a:r>
              <a:rPr spc="-95" dirty="0"/>
              <a:t> </a:t>
            </a:r>
            <a:r>
              <a:rPr dirty="0"/>
              <a:t>data</a:t>
            </a:r>
            <a:r>
              <a:rPr spc="-65" dirty="0"/>
              <a:t> </a:t>
            </a:r>
            <a:r>
              <a:rPr spc="-25" dirty="0"/>
              <a:t>and </a:t>
            </a:r>
            <a:r>
              <a:rPr dirty="0"/>
              <a:t>methods</a:t>
            </a:r>
            <a:r>
              <a:rPr spc="-95" dirty="0"/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common</a:t>
            </a:r>
            <a:r>
              <a:rPr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across</a:t>
            </a:r>
            <a:r>
              <a:rPr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spc="-25" dirty="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b="1" spc="-10" dirty="0">
                <a:solidFill>
                  <a:srgbClr val="C00000"/>
                </a:solidFill>
                <a:latin typeface="Calibri"/>
                <a:cs typeface="Calibri"/>
              </a:rPr>
              <a:t>instances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70628" y="1786382"/>
            <a:ext cx="4253230" cy="417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ts val="3105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instance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one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specific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object</a:t>
            </a:r>
            <a:endParaRPr sz="2600">
              <a:latin typeface="Calibri"/>
              <a:cs typeface="Calibri"/>
            </a:endParaRPr>
          </a:p>
          <a:p>
            <a:pPr marL="213360">
              <a:lnSpc>
                <a:spcPts val="2145"/>
              </a:lnSpc>
            </a:pPr>
            <a:r>
              <a:rPr sz="1800" dirty="0">
                <a:latin typeface="Courier New"/>
                <a:cs typeface="Courier New"/>
              </a:rPr>
              <a:t>coord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Coordinate(1,2)</a:t>
            </a:r>
            <a:endParaRPr sz="1800">
              <a:latin typeface="Courier New"/>
              <a:cs typeface="Courier New"/>
            </a:endParaRPr>
          </a:p>
          <a:p>
            <a:pPr marL="103505" marR="594360" indent="-91440">
              <a:lnSpc>
                <a:spcPct val="80000"/>
              </a:lnSpc>
              <a:spcBef>
                <a:spcPts val="1600"/>
              </a:spcBef>
              <a:buClr>
                <a:srgbClr val="585858"/>
              </a:buClr>
              <a:buFont typeface="Wingdings"/>
              <a:buChar char=""/>
              <a:tabLst>
                <a:tab pos="103505" algn="l"/>
                <a:tab pos="236854" algn="l"/>
              </a:tabLst>
            </a:pPr>
            <a:r>
              <a:rPr sz="2600" dirty="0">
                <a:latin typeface="Calibri"/>
                <a:cs typeface="Calibri"/>
              </a:rPr>
              <a:t>	data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attribute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vary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instances</a:t>
            </a:r>
            <a:endParaRPr sz="2600">
              <a:latin typeface="Calibri"/>
              <a:cs typeface="Calibri"/>
            </a:endParaRPr>
          </a:p>
          <a:p>
            <a:pPr marL="213360">
              <a:lnSpc>
                <a:spcPts val="2130"/>
              </a:lnSpc>
            </a:pPr>
            <a:r>
              <a:rPr sz="1800" dirty="0">
                <a:latin typeface="Courier New"/>
                <a:cs typeface="Courier New"/>
              </a:rPr>
              <a:t>c1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Coordinate(1,2)</a:t>
            </a:r>
            <a:endParaRPr sz="1800">
              <a:latin typeface="Courier New"/>
              <a:cs typeface="Courier New"/>
            </a:endParaRPr>
          </a:p>
          <a:p>
            <a:pPr marL="213360">
              <a:lnSpc>
                <a:spcPct val="100000"/>
              </a:lnSpc>
              <a:spcBef>
                <a:spcPts val="165"/>
              </a:spcBef>
            </a:pPr>
            <a:r>
              <a:rPr sz="1800" dirty="0">
                <a:latin typeface="Courier New"/>
                <a:cs typeface="Courier New"/>
              </a:rPr>
              <a:t>c2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Coordinate(3,4)</a:t>
            </a:r>
            <a:endParaRPr sz="1800">
              <a:latin typeface="Courier New"/>
              <a:cs typeface="Courier New"/>
            </a:endParaRPr>
          </a:p>
          <a:p>
            <a:pPr marL="396240" marR="79375" lvl="1" indent="-182880">
              <a:lnSpc>
                <a:spcPct val="80000"/>
              </a:lnSpc>
              <a:spcBef>
                <a:spcPts val="605"/>
              </a:spcBef>
              <a:buChar char="•"/>
              <a:tabLst>
                <a:tab pos="396240" algn="l"/>
                <a:tab pos="464820" algn="l"/>
                <a:tab pos="1477645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1800" dirty="0">
                <a:latin typeface="Courier New"/>
                <a:cs typeface="Courier New"/>
              </a:rPr>
              <a:t>c1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c2</a:t>
            </a:r>
            <a:r>
              <a:rPr sz="1800" spc="-55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c1.x</a:t>
            </a:r>
            <a:r>
              <a:rPr sz="1800" spc="-56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ourier New"/>
                <a:cs typeface="Courier New"/>
              </a:rPr>
              <a:t>c2.x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different objects</a:t>
            </a:r>
            <a:endParaRPr sz="2400">
              <a:latin typeface="Calibri"/>
              <a:cs typeface="Calibri"/>
            </a:endParaRPr>
          </a:p>
          <a:p>
            <a:pPr marL="103505" marR="156210" indent="-91440">
              <a:lnSpc>
                <a:spcPct val="80000"/>
              </a:lnSpc>
              <a:spcBef>
                <a:spcPts val="1595"/>
              </a:spcBef>
              <a:buClr>
                <a:srgbClr val="585858"/>
              </a:buClr>
              <a:buFont typeface="Wingdings"/>
              <a:buChar char=""/>
              <a:tabLst>
                <a:tab pos="103505" algn="l"/>
                <a:tab pos="236854" algn="l"/>
              </a:tabLst>
            </a:pPr>
            <a:r>
              <a:rPr sz="2600" dirty="0">
                <a:latin typeface="Calibri"/>
                <a:cs typeface="Calibri"/>
              </a:rPr>
              <a:t>	instance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structure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14646" y="1956435"/>
            <a:ext cx="0" cy="4480560"/>
          </a:xfrm>
          <a:custGeom>
            <a:avLst/>
            <a:gdLst/>
            <a:ahLst/>
            <a:cxnLst/>
            <a:rect l="l" t="t" r="r" b="b"/>
            <a:pathLst>
              <a:path h="4480560">
                <a:moveTo>
                  <a:pt x="0" y="0"/>
                </a:moveTo>
                <a:lnTo>
                  <a:pt x="0" y="448056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44009" y="6645275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330"/>
              </a:spcBef>
            </a:pPr>
            <a:r>
              <a:rPr spc="-50" dirty="0"/>
              <a:t>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76059"/>
            <a:ext cx="9144000" cy="281940"/>
          </a:xfrm>
          <a:custGeom>
            <a:avLst/>
            <a:gdLst/>
            <a:ahLst/>
            <a:cxnLst/>
            <a:rect l="l" t="t" r="r" b="b"/>
            <a:pathLst>
              <a:path w="9144000" h="281940">
                <a:moveTo>
                  <a:pt x="0" y="281940"/>
                </a:moveTo>
                <a:lnTo>
                  <a:pt x="9144000" y="281940"/>
                </a:lnTo>
                <a:lnTo>
                  <a:pt x="9144000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926846"/>
            <a:ext cx="76200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5" dirty="0">
                <a:solidFill>
                  <a:srgbClr val="000000"/>
                </a:solidFill>
                <a:latin typeface="Calibri Light"/>
                <a:cs typeface="Calibri Light"/>
              </a:rPr>
              <a:t>GETTER</a:t>
            </a:r>
            <a:r>
              <a:rPr sz="4800" spc="-2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sz="4800" spc="-229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30" dirty="0">
                <a:solidFill>
                  <a:srgbClr val="000000"/>
                </a:solidFill>
                <a:latin typeface="Calibri Light"/>
                <a:cs typeface="Calibri Light"/>
              </a:rPr>
              <a:t>SETTER</a:t>
            </a:r>
            <a:r>
              <a:rPr sz="4800" spc="-2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METHODS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259" y="1846041"/>
            <a:ext cx="3667125" cy="230632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700" dirty="0">
                <a:latin typeface="Courier New"/>
                <a:cs typeface="Courier New"/>
              </a:rPr>
              <a:t>class</a:t>
            </a:r>
            <a:r>
              <a:rPr sz="1700" spc="-5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Animal(object):</a:t>
            </a:r>
            <a:endParaRPr sz="1700">
              <a:latin typeface="Courier New"/>
              <a:cs typeface="Courier New"/>
            </a:endParaRPr>
          </a:p>
          <a:p>
            <a:pPr marL="1053465" marR="5080" indent="-520700">
              <a:lnSpc>
                <a:spcPct val="110000"/>
              </a:lnSpc>
              <a:spcBef>
                <a:spcPts val="5"/>
              </a:spcBef>
            </a:pPr>
            <a:r>
              <a:rPr sz="1700" dirty="0">
                <a:latin typeface="Courier New"/>
                <a:cs typeface="Courier New"/>
              </a:rPr>
              <a:t>def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700" dirty="0">
                <a:latin typeface="Courier New"/>
                <a:cs typeface="Courier New"/>
              </a:rPr>
              <a:t>init</a:t>
            </a:r>
            <a:r>
              <a:rPr sz="1700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700" dirty="0">
                <a:latin typeface="Courier New"/>
                <a:cs typeface="Courier New"/>
              </a:rPr>
              <a:t>(self,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age): </a:t>
            </a:r>
            <a:r>
              <a:rPr sz="1700" dirty="0">
                <a:latin typeface="Courier New"/>
                <a:cs typeface="Courier New"/>
              </a:rPr>
              <a:t>self.age</a:t>
            </a:r>
            <a:r>
              <a:rPr sz="1700" spc="-2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=</a:t>
            </a:r>
            <a:r>
              <a:rPr sz="1700" spc="-4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age </a:t>
            </a:r>
            <a:r>
              <a:rPr sz="1700" dirty="0">
                <a:latin typeface="Courier New"/>
                <a:cs typeface="Courier New"/>
              </a:rPr>
              <a:t>self.name</a:t>
            </a:r>
            <a:r>
              <a:rPr sz="1700" spc="-5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=</a:t>
            </a:r>
            <a:r>
              <a:rPr sz="1700" spc="-4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None</a:t>
            </a:r>
            <a:endParaRPr sz="1700">
              <a:latin typeface="Courier New"/>
              <a:cs typeface="Courier New"/>
            </a:endParaRPr>
          </a:p>
          <a:p>
            <a:pPr marL="1053465" marR="654050" indent="-520700">
              <a:lnSpc>
                <a:spcPct val="110000"/>
              </a:lnSpc>
            </a:pPr>
            <a:r>
              <a:rPr sz="1700" dirty="0">
                <a:latin typeface="Courier New"/>
                <a:cs typeface="Courier New"/>
              </a:rPr>
              <a:t>def</a:t>
            </a:r>
            <a:r>
              <a:rPr sz="1700" spc="-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get_age(self): </a:t>
            </a:r>
            <a:r>
              <a:rPr sz="1700" dirty="0">
                <a:latin typeface="Courier New"/>
                <a:cs typeface="Courier New"/>
              </a:rPr>
              <a:t>return</a:t>
            </a:r>
            <a:r>
              <a:rPr sz="1700" spc="-5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self.age</a:t>
            </a:r>
            <a:endParaRPr sz="1700">
              <a:latin typeface="Courier New"/>
              <a:cs typeface="Courier New"/>
            </a:endParaRPr>
          </a:p>
          <a:p>
            <a:pPr marL="1053465" marR="525145" indent="-520700">
              <a:lnSpc>
                <a:spcPct val="110000"/>
              </a:lnSpc>
            </a:pPr>
            <a:r>
              <a:rPr sz="1700" dirty="0">
                <a:latin typeface="Courier New"/>
                <a:cs typeface="Courier New"/>
              </a:rPr>
              <a:t>def</a:t>
            </a:r>
            <a:r>
              <a:rPr sz="1700" spc="-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get_name(self): </a:t>
            </a:r>
            <a:r>
              <a:rPr sz="1700" dirty="0">
                <a:latin typeface="Courier New"/>
                <a:cs typeface="Courier New"/>
              </a:rPr>
              <a:t>return</a:t>
            </a:r>
            <a:r>
              <a:rPr sz="1700" spc="-5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self.name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7958" y="4139565"/>
            <a:ext cx="4718685" cy="119570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675640" marR="1170940" indent="-520700">
              <a:lnSpc>
                <a:spcPts val="2240"/>
              </a:lnSpc>
              <a:spcBef>
                <a:spcPts val="110"/>
              </a:spcBef>
            </a:pPr>
            <a:r>
              <a:rPr sz="1700" dirty="0">
                <a:latin typeface="Courier New"/>
                <a:cs typeface="Courier New"/>
              </a:rPr>
              <a:t>def</a:t>
            </a:r>
            <a:r>
              <a:rPr sz="1700" spc="-6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set_age(self,</a:t>
            </a:r>
            <a:r>
              <a:rPr sz="1700" spc="-5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newage): </a:t>
            </a:r>
            <a:r>
              <a:rPr sz="1700" dirty="0">
                <a:latin typeface="Courier New"/>
                <a:cs typeface="Courier New"/>
              </a:rPr>
              <a:t>self.age</a:t>
            </a:r>
            <a:r>
              <a:rPr sz="1700" spc="-2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=</a:t>
            </a:r>
            <a:r>
              <a:rPr sz="1700" spc="-4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newage</a:t>
            </a:r>
            <a:endParaRPr sz="1700">
              <a:latin typeface="Courier New"/>
              <a:cs typeface="Courier New"/>
            </a:endParaRPr>
          </a:p>
          <a:p>
            <a:pPr marL="15494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Courier New"/>
                <a:cs typeface="Courier New"/>
              </a:rPr>
              <a:t>def</a:t>
            </a:r>
            <a:r>
              <a:rPr sz="1700" spc="-8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set_name(self,</a:t>
            </a:r>
            <a:r>
              <a:rPr sz="1700" spc="-7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newname=""):</a:t>
            </a:r>
            <a:endParaRPr sz="1700">
              <a:latin typeface="Courier New"/>
              <a:cs typeface="Courier New"/>
            </a:endParaRPr>
          </a:p>
          <a:p>
            <a:pPr marL="675640">
              <a:lnSpc>
                <a:spcPct val="100000"/>
              </a:lnSpc>
              <a:spcBef>
                <a:spcPts val="204"/>
              </a:spcBef>
            </a:pPr>
            <a:r>
              <a:rPr sz="1700" dirty="0">
                <a:latin typeface="Courier New"/>
                <a:cs typeface="Courier New"/>
              </a:rPr>
              <a:t>self.name</a:t>
            </a:r>
            <a:r>
              <a:rPr sz="1700" spc="-5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=</a:t>
            </a:r>
            <a:r>
              <a:rPr sz="1700" spc="-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newname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0259" y="5266893"/>
            <a:ext cx="7444105" cy="13290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305"/>
              </a:spcBef>
            </a:pPr>
            <a:r>
              <a:rPr sz="1700" dirty="0">
                <a:latin typeface="Courier New"/>
                <a:cs typeface="Courier New"/>
              </a:rPr>
              <a:t>def</a:t>
            </a:r>
            <a:r>
              <a:rPr sz="1700" spc="-5" dirty="0">
                <a:latin typeface="Courier New"/>
                <a:cs typeface="Courier New"/>
              </a:rPr>
              <a:t> </a:t>
            </a:r>
            <a:r>
              <a:rPr sz="1700" u="sng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700" dirty="0">
                <a:latin typeface="Courier New"/>
                <a:cs typeface="Courier New"/>
              </a:rPr>
              <a:t>str</a:t>
            </a:r>
            <a:r>
              <a:rPr sz="1700" u="sng" spc="-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700" spc="-10" dirty="0">
                <a:latin typeface="Courier New"/>
                <a:cs typeface="Courier New"/>
              </a:rPr>
              <a:t>(self):</a:t>
            </a:r>
            <a:endParaRPr sz="1700">
              <a:latin typeface="Courier New"/>
              <a:cs typeface="Courier New"/>
            </a:endParaRPr>
          </a:p>
          <a:p>
            <a:pPr marL="1053465">
              <a:lnSpc>
                <a:spcPct val="100000"/>
              </a:lnSpc>
              <a:spcBef>
                <a:spcPts val="200"/>
              </a:spcBef>
            </a:pPr>
            <a:r>
              <a:rPr sz="1700" dirty="0">
                <a:latin typeface="Courier New"/>
                <a:cs typeface="Courier New"/>
              </a:rPr>
              <a:t>return</a:t>
            </a:r>
            <a:r>
              <a:rPr sz="1700" spc="-6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"animal:"+str(self.name)+":"+str(self.age)</a:t>
            </a:r>
            <a:endParaRPr sz="1700">
              <a:latin typeface="Courier New"/>
              <a:cs typeface="Courier New"/>
            </a:endParaRPr>
          </a:p>
          <a:p>
            <a:pPr marL="104139" marR="1196340" indent="-91440">
              <a:lnSpc>
                <a:spcPts val="2900"/>
              </a:lnSpc>
              <a:spcBef>
                <a:spcPts val="8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03835" algn="l"/>
              </a:tabLst>
            </a:pP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	getters</a:t>
            </a:r>
            <a:r>
              <a:rPr sz="22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2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setters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outside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attributes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280" y="3345434"/>
            <a:ext cx="481736" cy="36957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199769" y="3054476"/>
            <a:ext cx="4002404" cy="1064895"/>
          </a:xfrm>
          <a:custGeom>
            <a:avLst/>
            <a:gdLst/>
            <a:ahLst/>
            <a:cxnLst/>
            <a:rect l="l" t="t" r="r" b="b"/>
            <a:pathLst>
              <a:path w="4002404" h="1064895">
                <a:moveTo>
                  <a:pt x="0" y="1064514"/>
                </a:moveTo>
                <a:lnTo>
                  <a:pt x="4002024" y="1064514"/>
                </a:lnTo>
                <a:lnTo>
                  <a:pt x="4002024" y="0"/>
                </a:lnTo>
                <a:lnTo>
                  <a:pt x="0" y="0"/>
                </a:lnTo>
                <a:lnTo>
                  <a:pt x="0" y="1064514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133" y="4529073"/>
            <a:ext cx="469722" cy="32893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76059"/>
            <a:ext cx="9144000" cy="281940"/>
          </a:xfrm>
          <a:custGeom>
            <a:avLst/>
            <a:gdLst/>
            <a:ahLst/>
            <a:cxnLst/>
            <a:rect l="l" t="t" r="r" b="b"/>
            <a:pathLst>
              <a:path w="9144000" h="281940">
                <a:moveTo>
                  <a:pt x="0" y="281940"/>
                </a:moveTo>
                <a:lnTo>
                  <a:pt x="9144000" y="281940"/>
                </a:lnTo>
                <a:lnTo>
                  <a:pt x="9144000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85" dirty="0">
                <a:solidFill>
                  <a:srgbClr val="000000"/>
                </a:solidFill>
                <a:latin typeface="Calibri Light"/>
                <a:cs typeface="Calibri Light"/>
              </a:rPr>
              <a:t>INFORMATION</a:t>
            </a:r>
            <a:r>
              <a:rPr sz="4800" spc="-17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000000"/>
                </a:solidFill>
                <a:latin typeface="Calibri Light"/>
                <a:cs typeface="Calibri Light"/>
              </a:rPr>
              <a:t>HIDING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259" y="1793239"/>
            <a:ext cx="6688455" cy="1291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indent="-207010">
              <a:lnSpc>
                <a:spcPts val="2595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author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definition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change</a:t>
            </a:r>
            <a:r>
              <a:rPr sz="24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attribute</a:t>
            </a:r>
            <a:endParaRPr sz="2400">
              <a:latin typeface="Calibri"/>
              <a:cs typeface="Calibri"/>
            </a:endParaRPr>
          </a:p>
          <a:p>
            <a:pPr marL="104139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variable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names</a:t>
            </a:r>
            <a:endParaRPr sz="2400">
              <a:latin typeface="Calibri"/>
              <a:cs typeface="Calibri"/>
            </a:endParaRPr>
          </a:p>
          <a:p>
            <a:pPr marL="275590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ourier New"/>
                <a:cs typeface="Courier New"/>
              </a:rPr>
              <a:t>class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Animal(object):</a:t>
            </a:r>
            <a:endParaRPr sz="1800">
              <a:latin typeface="Courier New"/>
              <a:cs typeface="Courier New"/>
            </a:endParaRPr>
          </a:p>
          <a:p>
            <a:pPr marL="330200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Courier New"/>
                <a:cs typeface="Courier New"/>
              </a:rPr>
              <a:t>def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dirty="0">
                <a:latin typeface="Courier New"/>
                <a:cs typeface="Courier New"/>
              </a:rPr>
              <a:t>init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dirty="0">
                <a:latin typeface="Courier New"/>
                <a:cs typeface="Courier New"/>
              </a:rPr>
              <a:t>(self,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age):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76446" y="3108579"/>
            <a:ext cx="2497455" cy="31813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82675">
              <a:lnSpc>
                <a:spcPts val="2090"/>
              </a:lnSpc>
            </a:pPr>
            <a:r>
              <a:rPr sz="1800" spc="-10" dirty="0">
                <a:latin typeface="Courier New"/>
                <a:cs typeface="Courier New"/>
              </a:rPr>
              <a:t>self.years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8578" y="3086861"/>
            <a:ext cx="70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age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3358134"/>
            <a:ext cx="7252970" cy="311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48735" marR="1073150" indent="-546735">
              <a:lnSpc>
                <a:spcPct val="1111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def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get_age(self): </a:t>
            </a:r>
            <a:r>
              <a:rPr sz="1800" dirty="0">
                <a:latin typeface="Courier New"/>
                <a:cs typeface="Courier New"/>
              </a:rPr>
              <a:t>return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self.years</a:t>
            </a:r>
            <a:endParaRPr sz="1800">
              <a:latin typeface="Courier New"/>
              <a:cs typeface="Courier New"/>
            </a:endParaRPr>
          </a:p>
          <a:p>
            <a:pPr marL="104139" marR="5080" indent="-91440">
              <a:lnSpc>
                <a:spcPct val="80000"/>
              </a:lnSpc>
              <a:spcBef>
                <a:spcPts val="134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accessing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attributes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outside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definition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changes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errors</a:t>
            </a:r>
            <a:endParaRPr sz="2400">
              <a:latin typeface="Calibri"/>
              <a:cs typeface="Calibri"/>
            </a:endParaRPr>
          </a:p>
          <a:p>
            <a:pPr marL="167005" marR="1703705" indent="-154940">
              <a:lnSpc>
                <a:spcPct val="79500"/>
              </a:lnSpc>
              <a:spcBef>
                <a:spcPts val="1425"/>
              </a:spcBef>
              <a:buFont typeface="Wingdings"/>
              <a:buChar char=""/>
              <a:tabLst>
                <a:tab pos="167005" algn="l"/>
                <a:tab pos="203200" algn="l"/>
              </a:tabLst>
            </a:pP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2200" dirty="0">
                <a:latin typeface="Calibri"/>
                <a:cs typeface="Calibri"/>
              </a:rPr>
              <a:t>outside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getters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setters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instead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a.get_age()</a:t>
            </a:r>
            <a:r>
              <a:rPr sz="2200" spc="-795" dirty="0">
                <a:latin typeface="Courier New"/>
                <a:cs typeface="Courier New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a.age</a:t>
            </a:r>
            <a:endParaRPr sz="2200">
              <a:latin typeface="Courier New"/>
              <a:cs typeface="Courier New"/>
            </a:endParaRPr>
          </a:p>
          <a:p>
            <a:pPr marL="459740" lvl="1" indent="-246379">
              <a:lnSpc>
                <a:spcPts val="2520"/>
              </a:lnSpc>
              <a:buClr>
                <a:srgbClr val="585858"/>
              </a:buClr>
              <a:buFont typeface="Arial MT"/>
              <a:buChar char="•"/>
              <a:tabLst>
                <a:tab pos="459740" algn="l"/>
              </a:tabLst>
            </a:pPr>
            <a:r>
              <a:rPr sz="2200" dirty="0">
                <a:latin typeface="Calibri"/>
                <a:cs typeface="Calibri"/>
              </a:rPr>
              <a:t>good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style</a:t>
            </a:r>
            <a:endParaRPr sz="2200">
              <a:latin typeface="Calibri"/>
              <a:cs typeface="Calibri"/>
            </a:endParaRPr>
          </a:p>
          <a:p>
            <a:pPr marL="459740" lvl="1" indent="-246379">
              <a:lnSpc>
                <a:spcPct val="100000"/>
              </a:lnSpc>
              <a:spcBef>
                <a:spcPts val="70"/>
              </a:spcBef>
              <a:buClr>
                <a:srgbClr val="585858"/>
              </a:buClr>
              <a:buFont typeface="Arial MT"/>
              <a:buChar char="•"/>
              <a:tabLst>
                <a:tab pos="459740" algn="l"/>
              </a:tabLst>
            </a:pPr>
            <a:r>
              <a:rPr sz="2200" dirty="0">
                <a:latin typeface="Calibri"/>
                <a:cs typeface="Calibri"/>
              </a:rPr>
              <a:t>easy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maintain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code</a:t>
            </a:r>
            <a:endParaRPr sz="2200">
              <a:latin typeface="Calibri"/>
              <a:cs typeface="Calibri"/>
            </a:endParaRPr>
          </a:p>
          <a:p>
            <a:pPr marL="459740" lvl="1" indent="-246379">
              <a:lnSpc>
                <a:spcPct val="100000"/>
              </a:lnSpc>
              <a:spcBef>
                <a:spcPts val="75"/>
              </a:spcBef>
              <a:buClr>
                <a:srgbClr val="585858"/>
              </a:buClr>
              <a:buFont typeface="Arial MT"/>
              <a:buChar char="•"/>
              <a:tabLst>
                <a:tab pos="459740" algn="l"/>
              </a:tabLst>
            </a:pPr>
            <a:r>
              <a:rPr sz="2200" spc="-10" dirty="0">
                <a:latin typeface="Calibri"/>
                <a:cs typeface="Calibri"/>
              </a:rPr>
              <a:t>prevents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bugs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91106" y="3022234"/>
            <a:ext cx="1165860" cy="818515"/>
            <a:chOff x="1491106" y="3022234"/>
            <a:chExt cx="1165860" cy="818515"/>
          </a:xfrm>
        </p:grpSpPr>
        <p:sp>
          <p:nvSpPr>
            <p:cNvPr id="10" name="object 10"/>
            <p:cNvSpPr/>
            <p:nvPr/>
          </p:nvSpPr>
          <p:spPr>
            <a:xfrm>
              <a:off x="2291079" y="3022234"/>
              <a:ext cx="365760" cy="220979"/>
            </a:xfrm>
            <a:custGeom>
              <a:avLst/>
              <a:gdLst/>
              <a:ahLst/>
              <a:cxnLst/>
              <a:rect l="l" t="t" r="r" b="b"/>
              <a:pathLst>
                <a:path w="365760" h="220980">
                  <a:moveTo>
                    <a:pt x="74847" y="119110"/>
                  </a:moveTo>
                  <a:lnTo>
                    <a:pt x="51816" y="119110"/>
                  </a:lnTo>
                  <a:lnTo>
                    <a:pt x="63500" y="122158"/>
                  </a:lnTo>
                  <a:lnTo>
                    <a:pt x="67564" y="125333"/>
                  </a:lnTo>
                  <a:lnTo>
                    <a:pt x="69596" y="130032"/>
                  </a:lnTo>
                  <a:lnTo>
                    <a:pt x="75636" y="143748"/>
                  </a:lnTo>
                  <a:lnTo>
                    <a:pt x="75692" y="143875"/>
                  </a:lnTo>
                  <a:lnTo>
                    <a:pt x="36361" y="158162"/>
                  </a:lnTo>
                  <a:lnTo>
                    <a:pt x="12954" y="190896"/>
                  </a:lnTo>
                  <a:lnTo>
                    <a:pt x="13117" y="194139"/>
                  </a:lnTo>
                  <a:lnTo>
                    <a:pt x="13183" y="195437"/>
                  </a:lnTo>
                  <a:lnTo>
                    <a:pt x="38619" y="220499"/>
                  </a:lnTo>
                  <a:lnTo>
                    <a:pt x="45081" y="220499"/>
                  </a:lnTo>
                  <a:lnTo>
                    <a:pt x="51869" y="219186"/>
                  </a:lnTo>
                  <a:lnTo>
                    <a:pt x="52123" y="219186"/>
                  </a:lnTo>
                  <a:lnTo>
                    <a:pt x="59944" y="216392"/>
                  </a:lnTo>
                  <a:lnTo>
                    <a:pt x="67438" y="212201"/>
                  </a:lnTo>
                  <a:lnTo>
                    <a:pt x="41275" y="212201"/>
                  </a:lnTo>
                  <a:lnTo>
                    <a:pt x="30099" y="208645"/>
                  </a:lnTo>
                  <a:lnTo>
                    <a:pt x="26034" y="205216"/>
                  </a:lnTo>
                  <a:lnTo>
                    <a:pt x="23928" y="200136"/>
                  </a:lnTo>
                  <a:lnTo>
                    <a:pt x="21335" y="194421"/>
                  </a:lnTo>
                  <a:lnTo>
                    <a:pt x="21635" y="190896"/>
                  </a:lnTo>
                  <a:lnTo>
                    <a:pt x="21731" y="189777"/>
                  </a:lnTo>
                  <a:lnTo>
                    <a:pt x="21843" y="188452"/>
                  </a:lnTo>
                  <a:lnTo>
                    <a:pt x="25328" y="182229"/>
                  </a:lnTo>
                  <a:lnTo>
                    <a:pt x="25400" y="182102"/>
                  </a:lnTo>
                  <a:lnTo>
                    <a:pt x="29642" y="176079"/>
                  </a:lnTo>
                  <a:lnTo>
                    <a:pt x="65659" y="155813"/>
                  </a:lnTo>
                  <a:lnTo>
                    <a:pt x="70358" y="154289"/>
                  </a:lnTo>
                  <a:lnTo>
                    <a:pt x="75057" y="153273"/>
                  </a:lnTo>
                  <a:lnTo>
                    <a:pt x="79629" y="152765"/>
                  </a:lnTo>
                  <a:lnTo>
                    <a:pt x="89929" y="152765"/>
                  </a:lnTo>
                  <a:lnTo>
                    <a:pt x="78232" y="126222"/>
                  </a:lnTo>
                  <a:lnTo>
                    <a:pt x="75311" y="119491"/>
                  </a:lnTo>
                  <a:lnTo>
                    <a:pt x="74847" y="119110"/>
                  </a:lnTo>
                  <a:close/>
                </a:path>
                <a:path w="365760" h="220980">
                  <a:moveTo>
                    <a:pt x="89929" y="152765"/>
                  </a:moveTo>
                  <a:lnTo>
                    <a:pt x="79629" y="152765"/>
                  </a:lnTo>
                  <a:lnTo>
                    <a:pt x="87884" y="171561"/>
                  </a:lnTo>
                  <a:lnTo>
                    <a:pt x="84795" y="178419"/>
                  </a:lnTo>
                  <a:lnTo>
                    <a:pt x="48006" y="211439"/>
                  </a:lnTo>
                  <a:lnTo>
                    <a:pt x="41275" y="212201"/>
                  </a:lnTo>
                  <a:lnTo>
                    <a:pt x="67438" y="212201"/>
                  </a:lnTo>
                  <a:lnTo>
                    <a:pt x="69943" y="210800"/>
                  </a:lnTo>
                  <a:lnTo>
                    <a:pt x="78787" y="203374"/>
                  </a:lnTo>
                  <a:lnTo>
                    <a:pt x="86465" y="194139"/>
                  </a:lnTo>
                  <a:lnTo>
                    <a:pt x="92964" y="183118"/>
                  </a:lnTo>
                  <a:lnTo>
                    <a:pt x="122540" y="183118"/>
                  </a:lnTo>
                  <a:lnTo>
                    <a:pt x="103250" y="182991"/>
                  </a:lnTo>
                  <a:lnTo>
                    <a:pt x="102915" y="182229"/>
                  </a:lnTo>
                  <a:lnTo>
                    <a:pt x="105009" y="182229"/>
                  </a:lnTo>
                  <a:lnTo>
                    <a:pt x="105302" y="182102"/>
                  </a:lnTo>
                  <a:lnTo>
                    <a:pt x="102859" y="182102"/>
                  </a:lnTo>
                  <a:lnTo>
                    <a:pt x="100676" y="177149"/>
                  </a:lnTo>
                  <a:lnTo>
                    <a:pt x="116570" y="177149"/>
                  </a:lnTo>
                  <a:lnTo>
                    <a:pt x="116839" y="177022"/>
                  </a:lnTo>
                  <a:lnTo>
                    <a:pt x="100620" y="177022"/>
                  </a:lnTo>
                  <a:lnTo>
                    <a:pt x="90153" y="153273"/>
                  </a:lnTo>
                  <a:lnTo>
                    <a:pt x="90041" y="153019"/>
                  </a:lnTo>
                  <a:lnTo>
                    <a:pt x="89929" y="152765"/>
                  </a:lnTo>
                  <a:close/>
                </a:path>
                <a:path w="365760" h="220980">
                  <a:moveTo>
                    <a:pt x="122540" y="183118"/>
                  </a:moveTo>
                  <a:lnTo>
                    <a:pt x="92964" y="183118"/>
                  </a:lnTo>
                  <a:lnTo>
                    <a:pt x="98425" y="195437"/>
                  </a:lnTo>
                  <a:lnTo>
                    <a:pt x="118491" y="186547"/>
                  </a:lnTo>
                  <a:lnTo>
                    <a:pt x="120650" y="185658"/>
                  </a:lnTo>
                  <a:lnTo>
                    <a:pt x="121920" y="184642"/>
                  </a:lnTo>
                  <a:lnTo>
                    <a:pt x="122428" y="183372"/>
                  </a:lnTo>
                  <a:lnTo>
                    <a:pt x="122540" y="183118"/>
                  </a:lnTo>
                  <a:close/>
                </a:path>
                <a:path w="365760" h="220980">
                  <a:moveTo>
                    <a:pt x="118491" y="176768"/>
                  </a:moveTo>
                  <a:lnTo>
                    <a:pt x="116839" y="177022"/>
                  </a:lnTo>
                  <a:lnTo>
                    <a:pt x="114680" y="178038"/>
                  </a:lnTo>
                  <a:lnTo>
                    <a:pt x="103251" y="182991"/>
                  </a:lnTo>
                  <a:lnTo>
                    <a:pt x="122597" y="182991"/>
                  </a:lnTo>
                  <a:lnTo>
                    <a:pt x="122936" y="182229"/>
                  </a:lnTo>
                  <a:lnTo>
                    <a:pt x="122936" y="180959"/>
                  </a:lnTo>
                  <a:lnTo>
                    <a:pt x="121920" y="178419"/>
                  </a:lnTo>
                  <a:lnTo>
                    <a:pt x="120904" y="177530"/>
                  </a:lnTo>
                  <a:lnTo>
                    <a:pt x="119761" y="177149"/>
                  </a:lnTo>
                  <a:lnTo>
                    <a:pt x="118491" y="176768"/>
                  </a:lnTo>
                  <a:close/>
                </a:path>
                <a:path w="365760" h="220980">
                  <a:moveTo>
                    <a:pt x="55047" y="110886"/>
                  </a:moveTo>
                  <a:lnTo>
                    <a:pt x="47704" y="110886"/>
                  </a:lnTo>
                  <a:lnTo>
                    <a:pt x="40264" y="112339"/>
                  </a:lnTo>
                  <a:lnTo>
                    <a:pt x="4191" y="134858"/>
                  </a:lnTo>
                  <a:lnTo>
                    <a:pt x="381" y="139430"/>
                  </a:lnTo>
                  <a:lnTo>
                    <a:pt x="0" y="140319"/>
                  </a:lnTo>
                  <a:lnTo>
                    <a:pt x="126" y="141462"/>
                  </a:lnTo>
                  <a:lnTo>
                    <a:pt x="1142" y="143748"/>
                  </a:lnTo>
                  <a:lnTo>
                    <a:pt x="2032" y="144637"/>
                  </a:lnTo>
                  <a:lnTo>
                    <a:pt x="4317" y="145653"/>
                  </a:lnTo>
                  <a:lnTo>
                    <a:pt x="5333" y="145653"/>
                  </a:lnTo>
                  <a:lnTo>
                    <a:pt x="7111" y="144891"/>
                  </a:lnTo>
                  <a:lnTo>
                    <a:pt x="8382" y="143875"/>
                  </a:lnTo>
                  <a:lnTo>
                    <a:pt x="10287" y="142224"/>
                  </a:lnTo>
                  <a:lnTo>
                    <a:pt x="17668" y="135939"/>
                  </a:lnTo>
                  <a:lnTo>
                    <a:pt x="51816" y="119110"/>
                  </a:lnTo>
                  <a:lnTo>
                    <a:pt x="74847" y="119110"/>
                  </a:lnTo>
                  <a:lnTo>
                    <a:pt x="69596" y="114792"/>
                  </a:lnTo>
                  <a:lnTo>
                    <a:pt x="61214" y="112125"/>
                  </a:lnTo>
                  <a:lnTo>
                    <a:pt x="55047" y="110886"/>
                  </a:lnTo>
                  <a:close/>
                </a:path>
                <a:path w="365760" h="220980">
                  <a:moveTo>
                    <a:pt x="229041" y="117332"/>
                  </a:moveTo>
                  <a:lnTo>
                    <a:pt x="218821" y="117332"/>
                  </a:lnTo>
                  <a:lnTo>
                    <a:pt x="230123" y="143113"/>
                  </a:lnTo>
                  <a:lnTo>
                    <a:pt x="232156" y="147558"/>
                  </a:lnTo>
                  <a:lnTo>
                    <a:pt x="232918" y="151495"/>
                  </a:lnTo>
                  <a:lnTo>
                    <a:pt x="188976" y="192262"/>
                  </a:lnTo>
                  <a:lnTo>
                    <a:pt x="187706" y="193278"/>
                  </a:lnTo>
                  <a:lnTo>
                    <a:pt x="187198" y="194548"/>
                  </a:lnTo>
                  <a:lnTo>
                    <a:pt x="186690" y="195691"/>
                  </a:lnTo>
                  <a:lnTo>
                    <a:pt x="186690" y="196961"/>
                  </a:lnTo>
                  <a:lnTo>
                    <a:pt x="187325" y="198231"/>
                  </a:lnTo>
                  <a:lnTo>
                    <a:pt x="187833" y="199628"/>
                  </a:lnTo>
                  <a:lnTo>
                    <a:pt x="188722" y="200390"/>
                  </a:lnTo>
                  <a:lnTo>
                    <a:pt x="189992" y="200771"/>
                  </a:lnTo>
                  <a:lnTo>
                    <a:pt x="191135" y="201152"/>
                  </a:lnTo>
                  <a:lnTo>
                    <a:pt x="192786" y="200898"/>
                  </a:lnTo>
                  <a:lnTo>
                    <a:pt x="228346" y="184515"/>
                  </a:lnTo>
                  <a:lnTo>
                    <a:pt x="242315" y="157464"/>
                  </a:lnTo>
                  <a:lnTo>
                    <a:pt x="242800" y="152130"/>
                  </a:lnTo>
                  <a:lnTo>
                    <a:pt x="242754" y="151495"/>
                  </a:lnTo>
                  <a:lnTo>
                    <a:pt x="241808" y="146288"/>
                  </a:lnTo>
                  <a:lnTo>
                    <a:pt x="229041" y="117332"/>
                  </a:lnTo>
                  <a:close/>
                </a:path>
                <a:path w="365760" h="220980">
                  <a:moveTo>
                    <a:pt x="174085" y="58483"/>
                  </a:moveTo>
                  <a:lnTo>
                    <a:pt x="137223" y="72977"/>
                  </a:lnTo>
                  <a:lnTo>
                    <a:pt x="124343" y="106584"/>
                  </a:lnTo>
                  <a:lnTo>
                    <a:pt x="124269" y="107616"/>
                  </a:lnTo>
                  <a:lnTo>
                    <a:pt x="146653" y="147724"/>
                  </a:lnTo>
                  <a:lnTo>
                    <a:pt x="173720" y="155813"/>
                  </a:lnTo>
                  <a:lnTo>
                    <a:pt x="181808" y="154912"/>
                  </a:lnTo>
                  <a:lnTo>
                    <a:pt x="182421" y="154912"/>
                  </a:lnTo>
                  <a:lnTo>
                    <a:pt x="191643" y="151876"/>
                  </a:lnTo>
                  <a:lnTo>
                    <a:pt x="201224" y="146288"/>
                  </a:lnTo>
                  <a:lnTo>
                    <a:pt x="174341" y="146288"/>
                  </a:lnTo>
                  <a:lnTo>
                    <a:pt x="166282" y="145557"/>
                  </a:lnTo>
                  <a:lnTo>
                    <a:pt x="134737" y="114833"/>
                  </a:lnTo>
                  <a:lnTo>
                    <a:pt x="133782" y="107616"/>
                  </a:lnTo>
                  <a:lnTo>
                    <a:pt x="133803" y="106584"/>
                  </a:lnTo>
                  <a:lnTo>
                    <a:pt x="156464" y="70977"/>
                  </a:lnTo>
                  <a:lnTo>
                    <a:pt x="171053" y="67675"/>
                  </a:lnTo>
                  <a:lnTo>
                    <a:pt x="207192" y="67675"/>
                  </a:lnTo>
                  <a:lnTo>
                    <a:pt x="206298" y="65643"/>
                  </a:lnTo>
                  <a:lnTo>
                    <a:pt x="196088" y="65643"/>
                  </a:lnTo>
                  <a:lnTo>
                    <a:pt x="185062" y="60664"/>
                  </a:lnTo>
                  <a:lnTo>
                    <a:pt x="174085" y="58483"/>
                  </a:lnTo>
                  <a:close/>
                </a:path>
                <a:path w="365760" h="220980">
                  <a:moveTo>
                    <a:pt x="207192" y="67675"/>
                  </a:moveTo>
                  <a:lnTo>
                    <a:pt x="171053" y="67675"/>
                  </a:lnTo>
                  <a:lnTo>
                    <a:pt x="178448" y="68298"/>
                  </a:lnTo>
                  <a:lnTo>
                    <a:pt x="185928" y="70469"/>
                  </a:lnTo>
                  <a:lnTo>
                    <a:pt x="211058" y="106584"/>
                  </a:lnTo>
                  <a:lnTo>
                    <a:pt x="210500" y="114123"/>
                  </a:lnTo>
                  <a:lnTo>
                    <a:pt x="187986" y="143113"/>
                  </a:lnTo>
                  <a:lnTo>
                    <a:pt x="187826" y="143113"/>
                  </a:lnTo>
                  <a:lnTo>
                    <a:pt x="180951" y="145367"/>
                  </a:lnTo>
                  <a:lnTo>
                    <a:pt x="173099" y="146288"/>
                  </a:lnTo>
                  <a:lnTo>
                    <a:pt x="201328" y="146288"/>
                  </a:lnTo>
                  <a:lnTo>
                    <a:pt x="209280" y="138461"/>
                  </a:lnTo>
                  <a:lnTo>
                    <a:pt x="215056" y="128855"/>
                  </a:lnTo>
                  <a:lnTo>
                    <a:pt x="218821" y="117332"/>
                  </a:lnTo>
                  <a:lnTo>
                    <a:pt x="229041" y="117332"/>
                  </a:lnTo>
                  <a:lnTo>
                    <a:pt x="207192" y="67675"/>
                  </a:lnTo>
                  <a:close/>
                </a:path>
                <a:path w="365760" h="220980">
                  <a:moveTo>
                    <a:pt x="212979" y="39862"/>
                  </a:moveTo>
                  <a:lnTo>
                    <a:pt x="211328" y="40116"/>
                  </a:lnTo>
                  <a:lnTo>
                    <a:pt x="189230" y="49895"/>
                  </a:lnTo>
                  <a:lnTo>
                    <a:pt x="196088" y="65643"/>
                  </a:lnTo>
                  <a:lnTo>
                    <a:pt x="206298" y="65643"/>
                  </a:lnTo>
                  <a:lnTo>
                    <a:pt x="201549" y="54848"/>
                  </a:lnTo>
                  <a:lnTo>
                    <a:pt x="215137" y="48879"/>
                  </a:lnTo>
                  <a:lnTo>
                    <a:pt x="216408" y="47736"/>
                  </a:lnTo>
                  <a:lnTo>
                    <a:pt x="217043" y="46593"/>
                  </a:lnTo>
                  <a:lnTo>
                    <a:pt x="217551" y="45323"/>
                  </a:lnTo>
                  <a:lnTo>
                    <a:pt x="217551" y="44180"/>
                  </a:lnTo>
                  <a:lnTo>
                    <a:pt x="216915" y="42910"/>
                  </a:lnTo>
                  <a:lnTo>
                    <a:pt x="216408" y="41640"/>
                  </a:lnTo>
                  <a:lnTo>
                    <a:pt x="215519" y="40751"/>
                  </a:lnTo>
                  <a:lnTo>
                    <a:pt x="214248" y="40370"/>
                  </a:lnTo>
                  <a:lnTo>
                    <a:pt x="212979" y="39862"/>
                  </a:lnTo>
                  <a:close/>
                </a:path>
                <a:path w="365760" h="220980">
                  <a:moveTo>
                    <a:pt x="303609" y="0"/>
                  </a:moveTo>
                  <a:lnTo>
                    <a:pt x="265636" y="16605"/>
                  </a:lnTo>
                  <a:lnTo>
                    <a:pt x="250634" y="52752"/>
                  </a:lnTo>
                  <a:lnTo>
                    <a:pt x="251642" y="61833"/>
                  </a:lnTo>
                  <a:lnTo>
                    <a:pt x="275175" y="95400"/>
                  </a:lnTo>
                  <a:lnTo>
                    <a:pt x="306339" y="103679"/>
                  </a:lnTo>
                  <a:lnTo>
                    <a:pt x="317188" y="102151"/>
                  </a:lnTo>
                  <a:lnTo>
                    <a:pt x="328168" y="98409"/>
                  </a:lnTo>
                  <a:lnTo>
                    <a:pt x="334593" y="95216"/>
                  </a:lnTo>
                  <a:lnTo>
                    <a:pt x="336199" y="94249"/>
                  </a:lnTo>
                  <a:lnTo>
                    <a:pt x="299697" y="94249"/>
                  </a:lnTo>
                  <a:lnTo>
                    <a:pt x="290957" y="92440"/>
                  </a:lnTo>
                  <a:lnTo>
                    <a:pt x="283285" y="89223"/>
                  </a:lnTo>
                  <a:lnTo>
                    <a:pt x="276447" y="84709"/>
                  </a:lnTo>
                  <a:lnTo>
                    <a:pt x="270418" y="78884"/>
                  </a:lnTo>
                  <a:lnTo>
                    <a:pt x="265176" y="71739"/>
                  </a:lnTo>
                  <a:lnTo>
                    <a:pt x="285102" y="62976"/>
                  </a:lnTo>
                  <a:lnTo>
                    <a:pt x="261493" y="62976"/>
                  </a:lnTo>
                  <a:lnTo>
                    <a:pt x="260330" y="55306"/>
                  </a:lnTo>
                  <a:lnTo>
                    <a:pt x="260380" y="52752"/>
                  </a:lnTo>
                  <a:lnTo>
                    <a:pt x="260476" y="47910"/>
                  </a:lnTo>
                  <a:lnTo>
                    <a:pt x="286572" y="13803"/>
                  </a:lnTo>
                  <a:lnTo>
                    <a:pt x="293965" y="11160"/>
                  </a:lnTo>
                  <a:lnTo>
                    <a:pt x="293648" y="11160"/>
                  </a:lnTo>
                  <a:lnTo>
                    <a:pt x="301483" y="9806"/>
                  </a:lnTo>
                  <a:lnTo>
                    <a:pt x="334638" y="9806"/>
                  </a:lnTo>
                  <a:lnTo>
                    <a:pt x="332783" y="8272"/>
                  </a:lnTo>
                  <a:lnTo>
                    <a:pt x="323596" y="3540"/>
                  </a:lnTo>
                  <a:lnTo>
                    <a:pt x="313691" y="704"/>
                  </a:lnTo>
                  <a:lnTo>
                    <a:pt x="303609" y="0"/>
                  </a:lnTo>
                  <a:close/>
                </a:path>
                <a:path w="365760" h="220980">
                  <a:moveTo>
                    <a:pt x="361569" y="58404"/>
                  </a:moveTo>
                  <a:lnTo>
                    <a:pt x="360426" y="58404"/>
                  </a:lnTo>
                  <a:lnTo>
                    <a:pt x="358902" y="58912"/>
                  </a:lnTo>
                  <a:lnTo>
                    <a:pt x="359060" y="58912"/>
                  </a:lnTo>
                  <a:lnTo>
                    <a:pt x="358394" y="59293"/>
                  </a:lnTo>
                  <a:lnTo>
                    <a:pt x="357505" y="60309"/>
                  </a:lnTo>
                  <a:lnTo>
                    <a:pt x="356616" y="61833"/>
                  </a:lnTo>
                  <a:lnTo>
                    <a:pt x="353695" y="67294"/>
                  </a:lnTo>
                  <a:lnTo>
                    <a:pt x="349250" y="72628"/>
                  </a:lnTo>
                  <a:lnTo>
                    <a:pt x="315835" y="92797"/>
                  </a:lnTo>
                  <a:lnTo>
                    <a:pt x="307419" y="94249"/>
                  </a:lnTo>
                  <a:lnTo>
                    <a:pt x="336199" y="94249"/>
                  </a:lnTo>
                  <a:lnTo>
                    <a:pt x="365125" y="65389"/>
                  </a:lnTo>
                  <a:lnTo>
                    <a:pt x="365760" y="63865"/>
                  </a:lnTo>
                  <a:lnTo>
                    <a:pt x="365654" y="62230"/>
                  </a:lnTo>
                  <a:lnTo>
                    <a:pt x="364800" y="60309"/>
                  </a:lnTo>
                  <a:lnTo>
                    <a:pt x="363982" y="59293"/>
                  </a:lnTo>
                  <a:lnTo>
                    <a:pt x="362712" y="58912"/>
                  </a:lnTo>
                  <a:lnTo>
                    <a:pt x="361569" y="58404"/>
                  </a:lnTo>
                  <a:close/>
                </a:path>
                <a:path w="365760" h="220980">
                  <a:moveTo>
                    <a:pt x="334638" y="9806"/>
                  </a:moveTo>
                  <a:lnTo>
                    <a:pt x="309179" y="9806"/>
                  </a:lnTo>
                  <a:lnTo>
                    <a:pt x="316611" y="11160"/>
                  </a:lnTo>
                  <a:lnTo>
                    <a:pt x="323588" y="13803"/>
                  </a:lnTo>
                  <a:lnTo>
                    <a:pt x="329850" y="17541"/>
                  </a:lnTo>
                  <a:lnTo>
                    <a:pt x="335399" y="22375"/>
                  </a:lnTo>
                  <a:lnTo>
                    <a:pt x="340233" y="28305"/>
                  </a:lnTo>
                  <a:lnTo>
                    <a:pt x="261493" y="62976"/>
                  </a:lnTo>
                  <a:lnTo>
                    <a:pt x="285102" y="62976"/>
                  </a:lnTo>
                  <a:lnTo>
                    <a:pt x="352679" y="33258"/>
                  </a:lnTo>
                  <a:lnTo>
                    <a:pt x="347348" y="23167"/>
                  </a:lnTo>
                  <a:lnTo>
                    <a:pt x="340709" y="14827"/>
                  </a:lnTo>
                  <a:lnTo>
                    <a:pt x="334638" y="9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1106" y="3144774"/>
              <a:ext cx="1150366" cy="695705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2052" y="2822828"/>
            <a:ext cx="619220" cy="57848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76059"/>
            <a:ext cx="9144000" cy="281940"/>
          </a:xfrm>
          <a:custGeom>
            <a:avLst/>
            <a:gdLst/>
            <a:ahLst/>
            <a:cxnLst/>
            <a:rect l="l" t="t" r="r" b="b"/>
            <a:pathLst>
              <a:path w="9144000" h="281940">
                <a:moveTo>
                  <a:pt x="0" y="281940"/>
                </a:moveTo>
                <a:lnTo>
                  <a:pt x="9144000" y="281940"/>
                </a:lnTo>
                <a:lnTo>
                  <a:pt x="9144000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291845"/>
            <a:ext cx="5623560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z="4800" spc="-45" dirty="0">
                <a:solidFill>
                  <a:srgbClr val="000000"/>
                </a:solidFill>
                <a:latin typeface="Calibri Light"/>
                <a:cs typeface="Calibri Light"/>
              </a:rPr>
              <a:t>PYTHON</a:t>
            </a:r>
            <a:r>
              <a:rPr sz="4800" spc="-2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50" dirty="0">
                <a:solidFill>
                  <a:srgbClr val="000000"/>
                </a:solidFill>
                <a:latin typeface="Calibri Light"/>
                <a:cs typeface="Calibri Light"/>
              </a:rPr>
              <a:t>NOT</a:t>
            </a:r>
            <a:r>
              <a:rPr sz="4800" spc="-17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30" dirty="0">
                <a:solidFill>
                  <a:srgbClr val="000000"/>
                </a:solidFill>
                <a:latin typeface="Calibri Light"/>
                <a:cs typeface="Calibri Light"/>
              </a:rPr>
              <a:t>GREAT</a:t>
            </a:r>
            <a:r>
              <a:rPr sz="4800" spc="-1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60" dirty="0">
                <a:solidFill>
                  <a:srgbClr val="000000"/>
                </a:solidFill>
                <a:latin typeface="Calibri Light"/>
                <a:cs typeface="Calibri Light"/>
              </a:rPr>
              <a:t>AT </a:t>
            </a:r>
            <a:r>
              <a:rPr sz="4800" spc="-85" dirty="0">
                <a:solidFill>
                  <a:srgbClr val="000000"/>
                </a:solidFill>
                <a:latin typeface="Calibri Light"/>
                <a:cs typeface="Calibri Light"/>
              </a:rPr>
              <a:t>INFORMATION</a:t>
            </a:r>
            <a:r>
              <a:rPr sz="4800" spc="-17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HIDING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12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0259" y="1827783"/>
            <a:ext cx="7842884" cy="3698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7490" indent="-224790">
              <a:lnSpc>
                <a:spcPts val="3015"/>
              </a:lnSpc>
              <a:spcBef>
                <a:spcPts val="9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allows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access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outside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definition</a:t>
            </a:r>
            <a:endParaRPr sz="2600">
              <a:latin typeface="Calibri"/>
              <a:cs typeface="Calibri"/>
            </a:endParaRPr>
          </a:p>
          <a:p>
            <a:pPr marL="213360">
              <a:lnSpc>
                <a:spcPts val="2775"/>
              </a:lnSpc>
            </a:pPr>
            <a:r>
              <a:rPr sz="2400" spc="-10" dirty="0">
                <a:latin typeface="Courier New"/>
                <a:cs typeface="Courier New"/>
              </a:rPr>
              <a:t>print(a.age)</a:t>
            </a:r>
            <a:endParaRPr sz="2400">
              <a:latin typeface="Courier New"/>
              <a:cs typeface="Courier New"/>
            </a:endParaRPr>
          </a:p>
          <a:p>
            <a:pPr marL="237490" indent="-224790">
              <a:lnSpc>
                <a:spcPts val="3015"/>
              </a:lnSpc>
              <a:spcBef>
                <a:spcPts val="101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allows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write</a:t>
            </a:r>
            <a:r>
              <a:rPr sz="26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outside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definition</a:t>
            </a:r>
            <a:endParaRPr sz="2600">
              <a:latin typeface="Calibri"/>
              <a:cs typeface="Calibri"/>
            </a:endParaRPr>
          </a:p>
          <a:p>
            <a:pPr marL="213360">
              <a:lnSpc>
                <a:spcPts val="2775"/>
              </a:lnSpc>
            </a:pPr>
            <a:r>
              <a:rPr sz="2400" dirty="0">
                <a:latin typeface="Courier New"/>
                <a:cs typeface="Courier New"/>
              </a:rPr>
              <a:t>a.age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'infinite'</a:t>
            </a:r>
            <a:endParaRPr sz="2400">
              <a:latin typeface="Courier New"/>
              <a:cs typeface="Courier New"/>
            </a:endParaRPr>
          </a:p>
          <a:p>
            <a:pPr marL="104139" marR="5080" indent="-91440">
              <a:lnSpc>
                <a:spcPts val="2500"/>
              </a:lnSpc>
              <a:spcBef>
                <a:spcPts val="161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allows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create</a:t>
            </a:r>
            <a:r>
              <a:rPr sz="2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attributes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instance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from </a:t>
            </a:r>
            <a:r>
              <a:rPr sz="2600" dirty="0">
                <a:latin typeface="Calibri"/>
                <a:cs typeface="Calibri"/>
              </a:rPr>
              <a:t>outside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-10" dirty="0">
                <a:latin typeface="Calibri"/>
                <a:cs typeface="Calibri"/>
              </a:rPr>
              <a:t> definition</a:t>
            </a:r>
            <a:endParaRPr sz="2600">
              <a:latin typeface="Calibri"/>
              <a:cs typeface="Calibri"/>
            </a:endParaRPr>
          </a:p>
          <a:p>
            <a:pPr marL="213360">
              <a:lnSpc>
                <a:spcPts val="2685"/>
              </a:lnSpc>
            </a:pPr>
            <a:r>
              <a:rPr sz="2400" dirty="0">
                <a:latin typeface="Courier New"/>
                <a:cs typeface="Courier New"/>
              </a:rPr>
              <a:t>a.size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"tiny"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2400">
              <a:latin typeface="Courier New"/>
              <a:cs typeface="Courier New"/>
            </a:endParaRPr>
          </a:p>
          <a:p>
            <a:pPr marL="237490" indent="-224790">
              <a:lnSpc>
                <a:spcPct val="100000"/>
              </a:lnSpc>
              <a:spcBef>
                <a:spcPts val="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it’s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good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style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these!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76059"/>
            <a:ext cx="9144000" cy="281940"/>
          </a:xfrm>
          <a:custGeom>
            <a:avLst/>
            <a:gdLst/>
            <a:ahLst/>
            <a:cxnLst/>
            <a:rect l="l" t="t" r="r" b="b"/>
            <a:pathLst>
              <a:path w="9144000" h="281940">
                <a:moveTo>
                  <a:pt x="0" y="281940"/>
                </a:moveTo>
                <a:lnTo>
                  <a:pt x="9144000" y="281940"/>
                </a:lnTo>
                <a:lnTo>
                  <a:pt x="9144000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27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55" dirty="0">
                <a:solidFill>
                  <a:srgbClr val="000000"/>
                </a:solidFill>
                <a:latin typeface="Calibri Light"/>
                <a:cs typeface="Calibri Light"/>
              </a:rPr>
              <a:t>DEFAULT</a:t>
            </a:r>
            <a:r>
              <a:rPr sz="4800" spc="-1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40" dirty="0">
                <a:solidFill>
                  <a:srgbClr val="000000"/>
                </a:solidFill>
                <a:latin typeface="Calibri Light"/>
                <a:cs typeface="Calibri Light"/>
              </a:rPr>
              <a:t>ARGUMENTS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259" y="1842769"/>
            <a:ext cx="7689850" cy="42906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04139" marR="5080" indent="-91440">
              <a:lnSpc>
                <a:spcPts val="2780"/>
              </a:lnSpc>
              <a:spcBef>
                <a:spcPts val="47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	default</a:t>
            </a:r>
            <a:r>
              <a:rPr sz="26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arguments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parameters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no </a:t>
            </a:r>
            <a:r>
              <a:rPr sz="2600" dirty="0">
                <a:latin typeface="Calibri"/>
                <a:cs typeface="Calibri"/>
              </a:rPr>
              <a:t>actual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argument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given</a:t>
            </a:r>
            <a:endParaRPr sz="2600">
              <a:latin typeface="Calibri"/>
              <a:cs typeface="Calibri"/>
            </a:endParaRPr>
          </a:p>
          <a:p>
            <a:pPr marL="622300" marR="2944495" indent="-609600">
              <a:lnSpc>
                <a:spcPts val="2910"/>
              </a:lnSpc>
              <a:spcBef>
                <a:spcPts val="150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10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set_name(self,</a:t>
            </a:r>
            <a:r>
              <a:rPr sz="2000" spc="-1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newname=""): </a:t>
            </a:r>
            <a:r>
              <a:rPr sz="2000" dirty="0">
                <a:latin typeface="Courier New"/>
                <a:cs typeface="Courier New"/>
              </a:rPr>
              <a:t>self.name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newname</a:t>
            </a:r>
            <a:endParaRPr sz="2000">
              <a:latin typeface="Courier New"/>
              <a:cs typeface="Courier New"/>
            </a:endParaRPr>
          </a:p>
          <a:p>
            <a:pPr marL="237490" indent="-224790">
              <a:lnSpc>
                <a:spcPct val="100000"/>
              </a:lnSpc>
              <a:spcBef>
                <a:spcPts val="35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default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argument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here</a:t>
            </a:r>
            <a:endParaRPr sz="2600">
              <a:latin typeface="Calibri"/>
              <a:cs typeface="Calibri"/>
            </a:endParaRPr>
          </a:p>
          <a:p>
            <a:pPr marL="213360" marR="4572000">
              <a:lnSpc>
                <a:spcPct val="120000"/>
              </a:lnSpc>
              <a:spcBef>
                <a:spcPts val="60"/>
              </a:spcBef>
            </a:pP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Animal(3) a.set_name() print(a.get_name())</a:t>
            </a:r>
            <a:endParaRPr sz="2000">
              <a:latin typeface="Courier New"/>
              <a:cs typeface="Courier New"/>
            </a:endParaRPr>
          </a:p>
          <a:p>
            <a:pPr marL="361315" indent="-348615">
              <a:lnSpc>
                <a:spcPct val="100000"/>
              </a:lnSpc>
              <a:spcBef>
                <a:spcPts val="555"/>
              </a:spcBef>
              <a:buClr>
                <a:srgbClr val="585858"/>
              </a:buClr>
              <a:buFont typeface="Wingdings"/>
              <a:buChar char=""/>
              <a:tabLst>
                <a:tab pos="361315" algn="l"/>
              </a:tabLst>
            </a:pPr>
            <a:r>
              <a:rPr sz="2600" dirty="0">
                <a:latin typeface="Calibri"/>
                <a:cs typeface="Calibri"/>
              </a:rPr>
              <a:t>argument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passed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here</a:t>
            </a:r>
            <a:endParaRPr sz="2600">
              <a:latin typeface="Calibri"/>
              <a:cs typeface="Calibri"/>
            </a:endParaRPr>
          </a:p>
          <a:p>
            <a:pPr marL="213360" marR="4419600">
              <a:lnSpc>
                <a:spcPct val="120000"/>
              </a:lnSpc>
              <a:spcBef>
                <a:spcPts val="70"/>
              </a:spcBef>
            </a:pP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Animal(3) a.set_name("fluffy")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3341" y="6232016"/>
            <a:ext cx="4563110" cy="31750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0660">
              <a:lnSpc>
                <a:spcPts val="2035"/>
              </a:lnSpc>
            </a:pPr>
            <a:r>
              <a:rPr sz="2000" spc="-10" dirty="0">
                <a:latin typeface="Courier New"/>
                <a:cs typeface="Courier New"/>
              </a:rPr>
              <a:t>print(a.get_name())</a:t>
            </a:r>
            <a:endParaRPr sz="20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0213" y="4212463"/>
            <a:ext cx="673893" cy="47320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23341" y="4646295"/>
            <a:ext cx="4563110" cy="317500"/>
          </a:xfrm>
          <a:custGeom>
            <a:avLst/>
            <a:gdLst/>
            <a:ahLst/>
            <a:cxnLst/>
            <a:rect l="l" t="t" r="r" b="b"/>
            <a:pathLst>
              <a:path w="4563110" h="317500">
                <a:moveTo>
                  <a:pt x="0" y="316991"/>
                </a:moveTo>
                <a:lnTo>
                  <a:pt x="4562856" y="316991"/>
                </a:lnTo>
                <a:lnTo>
                  <a:pt x="4562856" y="0"/>
                </a:lnTo>
                <a:lnTo>
                  <a:pt x="0" y="0"/>
                </a:lnTo>
                <a:lnTo>
                  <a:pt x="0" y="316991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0209" y="5602439"/>
            <a:ext cx="1118905" cy="66901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A751-5F9A-7F95-AA27-8D1B0ED9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2" y="2743200"/>
            <a:ext cx="7381875" cy="615553"/>
          </a:xfrm>
        </p:spPr>
        <p:txBody>
          <a:bodyPr/>
          <a:lstStyle/>
          <a:p>
            <a:r>
              <a:rPr lang="en-US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495623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" y="6576059"/>
            <a:ext cx="9142095" cy="281940"/>
          </a:xfrm>
          <a:custGeom>
            <a:avLst/>
            <a:gdLst/>
            <a:ahLst/>
            <a:cxnLst/>
            <a:rect l="l" t="t" r="r" b="b"/>
            <a:pathLst>
              <a:path w="9142095" h="281940">
                <a:moveTo>
                  <a:pt x="0" y="281940"/>
                </a:moveTo>
                <a:lnTo>
                  <a:pt x="9141714" y="281940"/>
                </a:lnTo>
                <a:lnTo>
                  <a:pt x="9141714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1342" y="787399"/>
            <a:ext cx="6972300" cy="1931670"/>
          </a:xfrm>
          <a:custGeom>
            <a:avLst/>
            <a:gdLst/>
            <a:ahLst/>
            <a:cxnLst/>
            <a:rect l="l" t="t" r="r" b="b"/>
            <a:pathLst>
              <a:path w="6972300" h="1931670">
                <a:moveTo>
                  <a:pt x="6972300" y="0"/>
                </a:moveTo>
                <a:lnTo>
                  <a:pt x="0" y="0"/>
                </a:lnTo>
                <a:lnTo>
                  <a:pt x="0" y="91440"/>
                </a:lnTo>
                <a:lnTo>
                  <a:pt x="0" y="1892300"/>
                </a:lnTo>
                <a:lnTo>
                  <a:pt x="0" y="1931670"/>
                </a:lnTo>
                <a:lnTo>
                  <a:pt x="6972300" y="1931670"/>
                </a:lnTo>
                <a:lnTo>
                  <a:pt x="6972300" y="1892300"/>
                </a:lnTo>
                <a:lnTo>
                  <a:pt x="6972300" y="1658620"/>
                </a:lnTo>
                <a:lnTo>
                  <a:pt x="6388608" y="1658620"/>
                </a:lnTo>
                <a:lnTo>
                  <a:pt x="6388608" y="1892300"/>
                </a:lnTo>
                <a:lnTo>
                  <a:pt x="1201928" y="1892300"/>
                </a:lnTo>
                <a:lnTo>
                  <a:pt x="1201928" y="91440"/>
                </a:lnTo>
                <a:lnTo>
                  <a:pt x="6972300" y="91440"/>
                </a:lnTo>
                <a:lnTo>
                  <a:pt x="6972300" y="0"/>
                </a:lnTo>
                <a:close/>
              </a:path>
            </a:pathLst>
          </a:custGeom>
          <a:solidFill>
            <a:srgbClr val="BFEBD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15340" y="771907"/>
            <a:ext cx="7004684" cy="1963420"/>
            <a:chOff x="815340" y="771907"/>
            <a:chExt cx="7004684" cy="1963420"/>
          </a:xfrm>
        </p:grpSpPr>
        <p:sp>
          <p:nvSpPr>
            <p:cNvPr id="5" name="object 5"/>
            <p:cNvSpPr/>
            <p:nvPr/>
          </p:nvSpPr>
          <p:spPr>
            <a:xfrm>
              <a:off x="7219950" y="878839"/>
              <a:ext cx="584200" cy="1567180"/>
            </a:xfrm>
            <a:custGeom>
              <a:avLst/>
              <a:gdLst/>
              <a:ahLst/>
              <a:cxnLst/>
              <a:rect l="l" t="t" r="r" b="b"/>
              <a:pathLst>
                <a:path w="584200" h="1567180">
                  <a:moveTo>
                    <a:pt x="583692" y="0"/>
                  </a:moveTo>
                  <a:lnTo>
                    <a:pt x="0" y="0"/>
                  </a:lnTo>
                  <a:lnTo>
                    <a:pt x="0" y="772160"/>
                  </a:lnTo>
                  <a:lnTo>
                    <a:pt x="445389" y="772160"/>
                  </a:lnTo>
                  <a:lnTo>
                    <a:pt x="445389" y="1567180"/>
                  </a:lnTo>
                  <a:lnTo>
                    <a:pt x="583692" y="1567180"/>
                  </a:lnTo>
                  <a:lnTo>
                    <a:pt x="583692" y="772160"/>
                  </a:lnTo>
                  <a:lnTo>
                    <a:pt x="583692" y="0"/>
                  </a:lnTo>
                  <a:close/>
                </a:path>
              </a:pathLst>
            </a:custGeom>
            <a:solidFill>
              <a:srgbClr val="BFE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340" y="771907"/>
              <a:ext cx="7004684" cy="1963420"/>
            </a:xfrm>
            <a:custGeom>
              <a:avLst/>
              <a:gdLst/>
              <a:ahLst/>
              <a:cxnLst/>
              <a:rect l="l" t="t" r="r" b="b"/>
              <a:pathLst>
                <a:path w="7004684" h="1963420">
                  <a:moveTo>
                    <a:pt x="6998411" y="0"/>
                  </a:moveTo>
                  <a:lnTo>
                    <a:pt x="5892" y="0"/>
                  </a:lnTo>
                  <a:lnTo>
                    <a:pt x="3835" y="850"/>
                  </a:lnTo>
                  <a:lnTo>
                    <a:pt x="850" y="3835"/>
                  </a:lnTo>
                  <a:lnTo>
                    <a:pt x="0" y="5892"/>
                  </a:lnTo>
                  <a:lnTo>
                    <a:pt x="0" y="1957019"/>
                  </a:lnTo>
                  <a:lnTo>
                    <a:pt x="850" y="1959076"/>
                  </a:lnTo>
                  <a:lnTo>
                    <a:pt x="3835" y="1962061"/>
                  </a:lnTo>
                  <a:lnTo>
                    <a:pt x="5892" y="1962912"/>
                  </a:lnTo>
                  <a:lnTo>
                    <a:pt x="6998411" y="1962912"/>
                  </a:lnTo>
                  <a:lnTo>
                    <a:pt x="7000468" y="1962061"/>
                  </a:lnTo>
                  <a:lnTo>
                    <a:pt x="7003453" y="1959076"/>
                  </a:lnTo>
                  <a:lnTo>
                    <a:pt x="7004304" y="1957019"/>
                  </a:lnTo>
                  <a:lnTo>
                    <a:pt x="7004304" y="1954910"/>
                  </a:lnTo>
                  <a:lnTo>
                    <a:pt x="8000" y="1954911"/>
                  </a:lnTo>
                  <a:lnTo>
                    <a:pt x="8000" y="1946910"/>
                  </a:lnTo>
                  <a:lnTo>
                    <a:pt x="16001" y="1946910"/>
                  </a:lnTo>
                  <a:lnTo>
                    <a:pt x="16001" y="16002"/>
                  </a:lnTo>
                  <a:lnTo>
                    <a:pt x="7004304" y="16002"/>
                  </a:lnTo>
                  <a:lnTo>
                    <a:pt x="7004304" y="5892"/>
                  </a:lnTo>
                  <a:lnTo>
                    <a:pt x="7003453" y="3835"/>
                  </a:lnTo>
                  <a:lnTo>
                    <a:pt x="7000468" y="850"/>
                  </a:lnTo>
                  <a:lnTo>
                    <a:pt x="6998411" y="0"/>
                  </a:lnTo>
                  <a:close/>
                </a:path>
                <a:path w="7004684" h="1963420">
                  <a:moveTo>
                    <a:pt x="16001" y="1946910"/>
                  </a:moveTo>
                  <a:lnTo>
                    <a:pt x="8000" y="1946910"/>
                  </a:lnTo>
                  <a:lnTo>
                    <a:pt x="8000" y="1954911"/>
                  </a:lnTo>
                  <a:lnTo>
                    <a:pt x="16001" y="1954911"/>
                  </a:lnTo>
                  <a:lnTo>
                    <a:pt x="16001" y="1946910"/>
                  </a:lnTo>
                  <a:close/>
                </a:path>
                <a:path w="7004684" h="1963420">
                  <a:moveTo>
                    <a:pt x="7004304" y="16002"/>
                  </a:moveTo>
                  <a:lnTo>
                    <a:pt x="6988302" y="16002"/>
                  </a:lnTo>
                  <a:lnTo>
                    <a:pt x="6988302" y="1946910"/>
                  </a:lnTo>
                  <a:lnTo>
                    <a:pt x="16001" y="1946910"/>
                  </a:lnTo>
                  <a:lnTo>
                    <a:pt x="16001" y="1954911"/>
                  </a:lnTo>
                  <a:lnTo>
                    <a:pt x="7004304" y="1954910"/>
                  </a:lnTo>
                  <a:lnTo>
                    <a:pt x="7004304" y="16002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176529"/>
            <a:ext cx="31953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5" dirty="0">
                <a:solidFill>
                  <a:srgbClr val="404040"/>
                </a:solidFill>
                <a:latin typeface="Calibri Light"/>
                <a:cs typeface="Calibri Light"/>
              </a:rPr>
              <a:t>HIERARCHIES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67802" y="305689"/>
            <a:ext cx="835025" cy="612140"/>
          </a:xfrm>
          <a:custGeom>
            <a:avLst/>
            <a:gdLst/>
            <a:ahLst/>
            <a:cxnLst/>
            <a:rect l="l" t="t" r="r" b="b"/>
            <a:pathLst>
              <a:path w="835025" h="612140">
                <a:moveTo>
                  <a:pt x="29972" y="381000"/>
                </a:moveTo>
                <a:lnTo>
                  <a:pt x="24765" y="381000"/>
                </a:lnTo>
                <a:lnTo>
                  <a:pt x="22987" y="382270"/>
                </a:lnTo>
                <a:lnTo>
                  <a:pt x="18923" y="383540"/>
                </a:lnTo>
                <a:lnTo>
                  <a:pt x="16383" y="384810"/>
                </a:lnTo>
                <a:lnTo>
                  <a:pt x="13208" y="387350"/>
                </a:lnTo>
                <a:lnTo>
                  <a:pt x="8128" y="389890"/>
                </a:lnTo>
                <a:lnTo>
                  <a:pt x="6350" y="391160"/>
                </a:lnTo>
                <a:lnTo>
                  <a:pt x="4572" y="391160"/>
                </a:lnTo>
                <a:lnTo>
                  <a:pt x="3175" y="392430"/>
                </a:lnTo>
                <a:lnTo>
                  <a:pt x="2159" y="393700"/>
                </a:lnTo>
                <a:lnTo>
                  <a:pt x="254" y="396240"/>
                </a:lnTo>
                <a:lnTo>
                  <a:pt x="0" y="397510"/>
                </a:lnTo>
                <a:lnTo>
                  <a:pt x="0" y="400050"/>
                </a:lnTo>
                <a:lnTo>
                  <a:pt x="27051" y="604520"/>
                </a:lnTo>
                <a:lnTo>
                  <a:pt x="27178" y="605790"/>
                </a:lnTo>
                <a:lnTo>
                  <a:pt x="27305" y="607060"/>
                </a:lnTo>
                <a:lnTo>
                  <a:pt x="27813" y="608330"/>
                </a:lnTo>
                <a:lnTo>
                  <a:pt x="29083" y="610870"/>
                </a:lnTo>
                <a:lnTo>
                  <a:pt x="29845" y="612140"/>
                </a:lnTo>
                <a:lnTo>
                  <a:pt x="35433" y="612140"/>
                </a:lnTo>
                <a:lnTo>
                  <a:pt x="37211" y="610870"/>
                </a:lnTo>
                <a:lnTo>
                  <a:pt x="39624" y="609600"/>
                </a:lnTo>
                <a:lnTo>
                  <a:pt x="42291" y="608330"/>
                </a:lnTo>
                <a:lnTo>
                  <a:pt x="45085" y="607060"/>
                </a:lnTo>
                <a:lnTo>
                  <a:pt x="47117" y="605790"/>
                </a:lnTo>
                <a:lnTo>
                  <a:pt x="48768" y="604520"/>
                </a:lnTo>
                <a:lnTo>
                  <a:pt x="50292" y="604520"/>
                </a:lnTo>
                <a:lnTo>
                  <a:pt x="51435" y="603250"/>
                </a:lnTo>
                <a:lnTo>
                  <a:pt x="53340" y="599440"/>
                </a:lnTo>
                <a:lnTo>
                  <a:pt x="53340" y="596900"/>
                </a:lnTo>
                <a:lnTo>
                  <a:pt x="45466" y="544830"/>
                </a:lnTo>
                <a:lnTo>
                  <a:pt x="88757" y="521970"/>
                </a:lnTo>
                <a:lnTo>
                  <a:pt x="41529" y="521970"/>
                </a:lnTo>
                <a:lnTo>
                  <a:pt x="25781" y="412750"/>
                </a:lnTo>
                <a:lnTo>
                  <a:pt x="64492" y="412750"/>
                </a:lnTo>
                <a:lnTo>
                  <a:pt x="32893" y="383540"/>
                </a:lnTo>
                <a:lnTo>
                  <a:pt x="29972" y="381000"/>
                </a:lnTo>
                <a:close/>
              </a:path>
              <a:path w="835025" h="612140">
                <a:moveTo>
                  <a:pt x="163414" y="504190"/>
                </a:moveTo>
                <a:lnTo>
                  <a:pt x="122428" y="504190"/>
                </a:lnTo>
                <a:lnTo>
                  <a:pt x="161671" y="541020"/>
                </a:lnTo>
                <a:lnTo>
                  <a:pt x="163957" y="542290"/>
                </a:lnTo>
                <a:lnTo>
                  <a:pt x="166751" y="543560"/>
                </a:lnTo>
                <a:lnTo>
                  <a:pt x="167767" y="543560"/>
                </a:lnTo>
                <a:lnTo>
                  <a:pt x="169291" y="542290"/>
                </a:lnTo>
                <a:lnTo>
                  <a:pt x="172847" y="541020"/>
                </a:lnTo>
                <a:lnTo>
                  <a:pt x="175260" y="539750"/>
                </a:lnTo>
                <a:lnTo>
                  <a:pt x="178308" y="538480"/>
                </a:lnTo>
                <a:lnTo>
                  <a:pt x="181229" y="537210"/>
                </a:lnTo>
                <a:lnTo>
                  <a:pt x="185166" y="534670"/>
                </a:lnTo>
                <a:lnTo>
                  <a:pt x="186817" y="533400"/>
                </a:lnTo>
                <a:lnTo>
                  <a:pt x="187960" y="532130"/>
                </a:lnTo>
                <a:lnTo>
                  <a:pt x="188722" y="529590"/>
                </a:lnTo>
                <a:lnTo>
                  <a:pt x="188595" y="528320"/>
                </a:lnTo>
                <a:lnTo>
                  <a:pt x="187833" y="527050"/>
                </a:lnTo>
                <a:lnTo>
                  <a:pt x="187198" y="525780"/>
                </a:lnTo>
                <a:lnTo>
                  <a:pt x="185928" y="524510"/>
                </a:lnTo>
                <a:lnTo>
                  <a:pt x="184023" y="523240"/>
                </a:lnTo>
                <a:lnTo>
                  <a:pt x="163414" y="504190"/>
                </a:lnTo>
                <a:close/>
              </a:path>
              <a:path w="835025" h="612140">
                <a:moveTo>
                  <a:pt x="64492" y="412750"/>
                </a:moveTo>
                <a:lnTo>
                  <a:pt x="25781" y="412750"/>
                </a:lnTo>
                <a:lnTo>
                  <a:pt x="105918" y="487680"/>
                </a:lnTo>
                <a:lnTo>
                  <a:pt x="41529" y="521970"/>
                </a:lnTo>
                <a:lnTo>
                  <a:pt x="88757" y="521970"/>
                </a:lnTo>
                <a:lnTo>
                  <a:pt x="122428" y="504190"/>
                </a:lnTo>
                <a:lnTo>
                  <a:pt x="163414" y="504190"/>
                </a:lnTo>
                <a:lnTo>
                  <a:pt x="64492" y="412750"/>
                </a:lnTo>
                <a:close/>
              </a:path>
              <a:path w="835025" h="612140">
                <a:moveTo>
                  <a:pt x="168275" y="372110"/>
                </a:moveTo>
                <a:lnTo>
                  <a:pt x="162306" y="372110"/>
                </a:lnTo>
                <a:lnTo>
                  <a:pt x="160782" y="373380"/>
                </a:lnTo>
                <a:lnTo>
                  <a:pt x="159004" y="373380"/>
                </a:lnTo>
                <a:lnTo>
                  <a:pt x="156972" y="374650"/>
                </a:lnTo>
                <a:lnTo>
                  <a:pt x="154813" y="375920"/>
                </a:lnTo>
                <a:lnTo>
                  <a:pt x="153035" y="377190"/>
                </a:lnTo>
                <a:lnTo>
                  <a:pt x="151765" y="377190"/>
                </a:lnTo>
                <a:lnTo>
                  <a:pt x="150495" y="378460"/>
                </a:lnTo>
                <a:lnTo>
                  <a:pt x="149606" y="379730"/>
                </a:lnTo>
                <a:lnTo>
                  <a:pt x="148971" y="379730"/>
                </a:lnTo>
                <a:lnTo>
                  <a:pt x="147955" y="382270"/>
                </a:lnTo>
                <a:lnTo>
                  <a:pt x="148463" y="384810"/>
                </a:lnTo>
                <a:lnTo>
                  <a:pt x="215138" y="513080"/>
                </a:lnTo>
                <a:lnTo>
                  <a:pt x="216662" y="515620"/>
                </a:lnTo>
                <a:lnTo>
                  <a:pt x="221742" y="515620"/>
                </a:lnTo>
                <a:lnTo>
                  <a:pt x="223393" y="514350"/>
                </a:lnTo>
                <a:lnTo>
                  <a:pt x="224917" y="514350"/>
                </a:lnTo>
                <a:lnTo>
                  <a:pt x="226949" y="513080"/>
                </a:lnTo>
                <a:lnTo>
                  <a:pt x="229235" y="511810"/>
                </a:lnTo>
                <a:lnTo>
                  <a:pt x="233553" y="509270"/>
                </a:lnTo>
                <a:lnTo>
                  <a:pt x="236347" y="508000"/>
                </a:lnTo>
                <a:lnTo>
                  <a:pt x="237363" y="506730"/>
                </a:lnTo>
                <a:lnTo>
                  <a:pt x="238125" y="505460"/>
                </a:lnTo>
                <a:lnTo>
                  <a:pt x="239268" y="502920"/>
                </a:lnTo>
                <a:lnTo>
                  <a:pt x="238760" y="501650"/>
                </a:lnTo>
                <a:lnTo>
                  <a:pt x="192151" y="411480"/>
                </a:lnTo>
                <a:lnTo>
                  <a:pt x="194008" y="402590"/>
                </a:lnTo>
                <a:lnTo>
                  <a:pt x="196151" y="396240"/>
                </a:lnTo>
                <a:lnTo>
                  <a:pt x="197770" y="391160"/>
                </a:lnTo>
                <a:lnTo>
                  <a:pt x="178689" y="391160"/>
                </a:lnTo>
                <a:lnTo>
                  <a:pt x="169799" y="373380"/>
                </a:lnTo>
                <a:lnTo>
                  <a:pt x="168275" y="372110"/>
                </a:lnTo>
                <a:close/>
              </a:path>
              <a:path w="835025" h="612140">
                <a:moveTo>
                  <a:pt x="277496" y="364490"/>
                </a:moveTo>
                <a:lnTo>
                  <a:pt x="237617" y="364490"/>
                </a:lnTo>
                <a:lnTo>
                  <a:pt x="241554" y="367030"/>
                </a:lnTo>
                <a:lnTo>
                  <a:pt x="245364" y="369570"/>
                </a:lnTo>
                <a:lnTo>
                  <a:pt x="249047" y="372110"/>
                </a:lnTo>
                <a:lnTo>
                  <a:pt x="252476" y="375920"/>
                </a:lnTo>
                <a:lnTo>
                  <a:pt x="256032" y="379730"/>
                </a:lnTo>
                <a:lnTo>
                  <a:pt x="259588" y="386080"/>
                </a:lnTo>
                <a:lnTo>
                  <a:pt x="263398" y="392430"/>
                </a:lnTo>
                <a:lnTo>
                  <a:pt x="302514" y="468630"/>
                </a:lnTo>
                <a:lnTo>
                  <a:pt x="304038" y="469900"/>
                </a:lnTo>
                <a:lnTo>
                  <a:pt x="310642" y="469900"/>
                </a:lnTo>
                <a:lnTo>
                  <a:pt x="312293" y="468630"/>
                </a:lnTo>
                <a:lnTo>
                  <a:pt x="314198" y="467360"/>
                </a:lnTo>
                <a:lnTo>
                  <a:pt x="316611" y="466090"/>
                </a:lnTo>
                <a:lnTo>
                  <a:pt x="318897" y="464820"/>
                </a:lnTo>
                <a:lnTo>
                  <a:pt x="320802" y="464820"/>
                </a:lnTo>
                <a:lnTo>
                  <a:pt x="323596" y="462280"/>
                </a:lnTo>
                <a:lnTo>
                  <a:pt x="324739" y="461010"/>
                </a:lnTo>
                <a:lnTo>
                  <a:pt x="325374" y="461010"/>
                </a:lnTo>
                <a:lnTo>
                  <a:pt x="326517" y="458470"/>
                </a:lnTo>
                <a:lnTo>
                  <a:pt x="326009" y="455930"/>
                </a:lnTo>
                <a:lnTo>
                  <a:pt x="285369" y="377190"/>
                </a:lnTo>
                <a:lnTo>
                  <a:pt x="281820" y="370840"/>
                </a:lnTo>
                <a:lnTo>
                  <a:pt x="278225" y="365760"/>
                </a:lnTo>
                <a:lnTo>
                  <a:pt x="277496" y="364490"/>
                </a:lnTo>
                <a:close/>
              </a:path>
              <a:path w="835025" h="612140">
                <a:moveTo>
                  <a:pt x="324866" y="290830"/>
                </a:moveTo>
                <a:lnTo>
                  <a:pt x="319913" y="290830"/>
                </a:lnTo>
                <a:lnTo>
                  <a:pt x="318262" y="292100"/>
                </a:lnTo>
                <a:lnTo>
                  <a:pt x="316611" y="292100"/>
                </a:lnTo>
                <a:lnTo>
                  <a:pt x="312293" y="294640"/>
                </a:lnTo>
                <a:lnTo>
                  <a:pt x="309880" y="295910"/>
                </a:lnTo>
                <a:lnTo>
                  <a:pt x="308102" y="297180"/>
                </a:lnTo>
                <a:lnTo>
                  <a:pt x="306705" y="297180"/>
                </a:lnTo>
                <a:lnTo>
                  <a:pt x="305181" y="298450"/>
                </a:lnTo>
                <a:lnTo>
                  <a:pt x="304165" y="299720"/>
                </a:lnTo>
                <a:lnTo>
                  <a:pt x="303403" y="300990"/>
                </a:lnTo>
                <a:lnTo>
                  <a:pt x="302387" y="302260"/>
                </a:lnTo>
                <a:lnTo>
                  <a:pt x="302768" y="304800"/>
                </a:lnTo>
                <a:lnTo>
                  <a:pt x="369443" y="433070"/>
                </a:lnTo>
                <a:lnTo>
                  <a:pt x="370967" y="435610"/>
                </a:lnTo>
                <a:lnTo>
                  <a:pt x="376047" y="435610"/>
                </a:lnTo>
                <a:lnTo>
                  <a:pt x="377571" y="434340"/>
                </a:lnTo>
                <a:lnTo>
                  <a:pt x="379222" y="434340"/>
                </a:lnTo>
                <a:lnTo>
                  <a:pt x="381254" y="433070"/>
                </a:lnTo>
                <a:lnTo>
                  <a:pt x="385826" y="430530"/>
                </a:lnTo>
                <a:lnTo>
                  <a:pt x="387731" y="429260"/>
                </a:lnTo>
                <a:lnTo>
                  <a:pt x="389255" y="429260"/>
                </a:lnTo>
                <a:lnTo>
                  <a:pt x="390652" y="427990"/>
                </a:lnTo>
                <a:lnTo>
                  <a:pt x="391668" y="426720"/>
                </a:lnTo>
                <a:lnTo>
                  <a:pt x="392303" y="425450"/>
                </a:lnTo>
                <a:lnTo>
                  <a:pt x="393446" y="424180"/>
                </a:lnTo>
                <a:lnTo>
                  <a:pt x="393065" y="421640"/>
                </a:lnTo>
                <a:lnTo>
                  <a:pt x="326390" y="292100"/>
                </a:lnTo>
                <a:lnTo>
                  <a:pt x="324866" y="290830"/>
                </a:lnTo>
                <a:close/>
              </a:path>
              <a:path w="835025" h="612140">
                <a:moveTo>
                  <a:pt x="387223" y="256540"/>
                </a:moveTo>
                <a:lnTo>
                  <a:pt x="385064" y="256540"/>
                </a:lnTo>
                <a:lnTo>
                  <a:pt x="383540" y="257810"/>
                </a:lnTo>
                <a:lnTo>
                  <a:pt x="382143" y="257810"/>
                </a:lnTo>
                <a:lnTo>
                  <a:pt x="380365" y="259080"/>
                </a:lnTo>
                <a:lnTo>
                  <a:pt x="376047" y="261620"/>
                </a:lnTo>
                <a:lnTo>
                  <a:pt x="374269" y="262890"/>
                </a:lnTo>
                <a:lnTo>
                  <a:pt x="372999" y="262890"/>
                </a:lnTo>
                <a:lnTo>
                  <a:pt x="371729" y="264160"/>
                </a:lnTo>
                <a:lnTo>
                  <a:pt x="370840" y="265430"/>
                </a:lnTo>
                <a:lnTo>
                  <a:pt x="370205" y="265430"/>
                </a:lnTo>
                <a:lnTo>
                  <a:pt x="369189" y="267970"/>
                </a:lnTo>
                <a:lnTo>
                  <a:pt x="369824" y="270510"/>
                </a:lnTo>
                <a:lnTo>
                  <a:pt x="436499" y="398780"/>
                </a:lnTo>
                <a:lnTo>
                  <a:pt x="438023" y="400050"/>
                </a:lnTo>
                <a:lnTo>
                  <a:pt x="440563" y="401320"/>
                </a:lnTo>
                <a:lnTo>
                  <a:pt x="441579" y="401320"/>
                </a:lnTo>
                <a:lnTo>
                  <a:pt x="442976" y="400050"/>
                </a:lnTo>
                <a:lnTo>
                  <a:pt x="446278" y="398780"/>
                </a:lnTo>
                <a:lnTo>
                  <a:pt x="448183" y="398780"/>
                </a:lnTo>
                <a:lnTo>
                  <a:pt x="450469" y="397510"/>
                </a:lnTo>
                <a:lnTo>
                  <a:pt x="452882" y="396240"/>
                </a:lnTo>
                <a:lnTo>
                  <a:pt x="454787" y="394970"/>
                </a:lnTo>
                <a:lnTo>
                  <a:pt x="457581" y="392430"/>
                </a:lnTo>
                <a:lnTo>
                  <a:pt x="458724" y="392430"/>
                </a:lnTo>
                <a:lnTo>
                  <a:pt x="459359" y="391160"/>
                </a:lnTo>
                <a:lnTo>
                  <a:pt x="460502" y="388620"/>
                </a:lnTo>
                <a:lnTo>
                  <a:pt x="460121" y="387350"/>
                </a:lnTo>
                <a:lnTo>
                  <a:pt x="413512" y="297180"/>
                </a:lnTo>
                <a:lnTo>
                  <a:pt x="415321" y="288290"/>
                </a:lnTo>
                <a:lnTo>
                  <a:pt x="417322" y="280670"/>
                </a:lnTo>
                <a:lnTo>
                  <a:pt x="419074" y="275590"/>
                </a:lnTo>
                <a:lnTo>
                  <a:pt x="399923" y="275590"/>
                </a:lnTo>
                <a:lnTo>
                  <a:pt x="391160" y="259080"/>
                </a:lnTo>
                <a:lnTo>
                  <a:pt x="389636" y="257810"/>
                </a:lnTo>
                <a:lnTo>
                  <a:pt x="387223" y="256540"/>
                </a:lnTo>
                <a:close/>
              </a:path>
              <a:path w="835025" h="612140">
                <a:moveTo>
                  <a:pt x="241300" y="337820"/>
                </a:moveTo>
                <a:lnTo>
                  <a:pt x="226568" y="337820"/>
                </a:lnTo>
                <a:lnTo>
                  <a:pt x="218567" y="340360"/>
                </a:lnTo>
                <a:lnTo>
                  <a:pt x="187368" y="368300"/>
                </a:lnTo>
                <a:lnTo>
                  <a:pt x="178689" y="391160"/>
                </a:lnTo>
                <a:lnTo>
                  <a:pt x="197770" y="391160"/>
                </a:lnTo>
                <a:lnTo>
                  <a:pt x="198580" y="388620"/>
                </a:lnTo>
                <a:lnTo>
                  <a:pt x="201295" y="383540"/>
                </a:lnTo>
                <a:lnTo>
                  <a:pt x="204978" y="375920"/>
                </a:lnTo>
                <a:lnTo>
                  <a:pt x="209804" y="370840"/>
                </a:lnTo>
                <a:lnTo>
                  <a:pt x="215773" y="368300"/>
                </a:lnTo>
                <a:lnTo>
                  <a:pt x="220345" y="365760"/>
                </a:lnTo>
                <a:lnTo>
                  <a:pt x="224790" y="364490"/>
                </a:lnTo>
                <a:lnTo>
                  <a:pt x="277496" y="364490"/>
                </a:lnTo>
                <a:lnTo>
                  <a:pt x="274581" y="359410"/>
                </a:lnTo>
                <a:lnTo>
                  <a:pt x="270891" y="355600"/>
                </a:lnTo>
                <a:lnTo>
                  <a:pt x="265938" y="349250"/>
                </a:lnTo>
                <a:lnTo>
                  <a:pt x="260350" y="345440"/>
                </a:lnTo>
                <a:lnTo>
                  <a:pt x="254254" y="341630"/>
                </a:lnTo>
                <a:lnTo>
                  <a:pt x="248031" y="339090"/>
                </a:lnTo>
                <a:lnTo>
                  <a:pt x="241300" y="337820"/>
                </a:lnTo>
                <a:close/>
              </a:path>
              <a:path w="835025" h="612140">
                <a:moveTo>
                  <a:pt x="497989" y="250190"/>
                </a:moveTo>
                <a:lnTo>
                  <a:pt x="443738" y="250190"/>
                </a:lnTo>
                <a:lnTo>
                  <a:pt x="451866" y="251460"/>
                </a:lnTo>
                <a:lnTo>
                  <a:pt x="455803" y="251460"/>
                </a:lnTo>
                <a:lnTo>
                  <a:pt x="463423" y="256540"/>
                </a:lnTo>
                <a:lnTo>
                  <a:pt x="520192" y="355600"/>
                </a:lnTo>
                <a:lnTo>
                  <a:pt x="521716" y="356870"/>
                </a:lnTo>
                <a:lnTo>
                  <a:pt x="522224" y="358140"/>
                </a:lnTo>
                <a:lnTo>
                  <a:pt x="525272" y="358140"/>
                </a:lnTo>
                <a:lnTo>
                  <a:pt x="526669" y="356870"/>
                </a:lnTo>
                <a:lnTo>
                  <a:pt x="528320" y="356870"/>
                </a:lnTo>
                <a:lnTo>
                  <a:pt x="530098" y="355600"/>
                </a:lnTo>
                <a:lnTo>
                  <a:pt x="532003" y="355600"/>
                </a:lnTo>
                <a:lnTo>
                  <a:pt x="534162" y="354330"/>
                </a:lnTo>
                <a:lnTo>
                  <a:pt x="536448" y="353060"/>
                </a:lnTo>
                <a:lnTo>
                  <a:pt x="538353" y="351790"/>
                </a:lnTo>
                <a:lnTo>
                  <a:pt x="541147" y="349250"/>
                </a:lnTo>
                <a:lnTo>
                  <a:pt x="542290" y="349250"/>
                </a:lnTo>
                <a:lnTo>
                  <a:pt x="544195" y="345440"/>
                </a:lnTo>
                <a:lnTo>
                  <a:pt x="543814" y="342900"/>
                </a:lnTo>
                <a:lnTo>
                  <a:pt x="497205" y="254000"/>
                </a:lnTo>
                <a:lnTo>
                  <a:pt x="497989" y="250190"/>
                </a:lnTo>
                <a:close/>
              </a:path>
              <a:path w="835025" h="612140">
                <a:moveTo>
                  <a:pt x="578942" y="207010"/>
                </a:moveTo>
                <a:lnTo>
                  <a:pt x="535686" y="207010"/>
                </a:lnTo>
                <a:lnTo>
                  <a:pt x="539623" y="208280"/>
                </a:lnTo>
                <a:lnTo>
                  <a:pt x="547243" y="213360"/>
                </a:lnTo>
                <a:lnTo>
                  <a:pt x="603758" y="312420"/>
                </a:lnTo>
                <a:lnTo>
                  <a:pt x="605282" y="313690"/>
                </a:lnTo>
                <a:lnTo>
                  <a:pt x="607949" y="314960"/>
                </a:lnTo>
                <a:lnTo>
                  <a:pt x="608965" y="313690"/>
                </a:lnTo>
                <a:lnTo>
                  <a:pt x="612013" y="313690"/>
                </a:lnTo>
                <a:lnTo>
                  <a:pt x="613664" y="312420"/>
                </a:lnTo>
                <a:lnTo>
                  <a:pt x="615569" y="312420"/>
                </a:lnTo>
                <a:lnTo>
                  <a:pt x="617982" y="311150"/>
                </a:lnTo>
                <a:lnTo>
                  <a:pt x="620268" y="309880"/>
                </a:lnTo>
                <a:lnTo>
                  <a:pt x="622173" y="308610"/>
                </a:lnTo>
                <a:lnTo>
                  <a:pt x="624967" y="306070"/>
                </a:lnTo>
                <a:lnTo>
                  <a:pt x="626110" y="304800"/>
                </a:lnTo>
                <a:lnTo>
                  <a:pt x="626745" y="304800"/>
                </a:lnTo>
                <a:lnTo>
                  <a:pt x="627888" y="302260"/>
                </a:lnTo>
                <a:lnTo>
                  <a:pt x="627507" y="299720"/>
                </a:lnTo>
                <a:lnTo>
                  <a:pt x="585343" y="218440"/>
                </a:lnTo>
                <a:lnTo>
                  <a:pt x="581533" y="210820"/>
                </a:lnTo>
                <a:lnTo>
                  <a:pt x="578942" y="207010"/>
                </a:lnTo>
                <a:close/>
              </a:path>
              <a:path w="835025" h="612140">
                <a:moveTo>
                  <a:pt x="458851" y="224790"/>
                </a:moveTo>
                <a:lnTo>
                  <a:pt x="449707" y="224790"/>
                </a:lnTo>
                <a:lnTo>
                  <a:pt x="444881" y="226060"/>
                </a:lnTo>
                <a:lnTo>
                  <a:pt x="440055" y="226060"/>
                </a:lnTo>
                <a:lnTo>
                  <a:pt x="434848" y="228600"/>
                </a:lnTo>
                <a:lnTo>
                  <a:pt x="429514" y="231140"/>
                </a:lnTo>
                <a:lnTo>
                  <a:pt x="422529" y="234950"/>
                </a:lnTo>
                <a:lnTo>
                  <a:pt x="402375" y="267970"/>
                </a:lnTo>
                <a:lnTo>
                  <a:pt x="399923" y="275590"/>
                </a:lnTo>
                <a:lnTo>
                  <a:pt x="419074" y="275590"/>
                </a:lnTo>
                <a:lnTo>
                  <a:pt x="419512" y="274320"/>
                </a:lnTo>
                <a:lnTo>
                  <a:pt x="421894" y="269240"/>
                </a:lnTo>
                <a:lnTo>
                  <a:pt x="425323" y="261620"/>
                </a:lnTo>
                <a:lnTo>
                  <a:pt x="429641" y="256540"/>
                </a:lnTo>
                <a:lnTo>
                  <a:pt x="439547" y="251460"/>
                </a:lnTo>
                <a:lnTo>
                  <a:pt x="443738" y="250190"/>
                </a:lnTo>
                <a:lnTo>
                  <a:pt x="497989" y="250190"/>
                </a:lnTo>
                <a:lnTo>
                  <a:pt x="499034" y="245110"/>
                </a:lnTo>
                <a:lnTo>
                  <a:pt x="501078" y="237490"/>
                </a:lnTo>
                <a:lnTo>
                  <a:pt x="501525" y="236220"/>
                </a:lnTo>
                <a:lnTo>
                  <a:pt x="482346" y="236220"/>
                </a:lnTo>
                <a:lnTo>
                  <a:pt x="478917" y="232410"/>
                </a:lnTo>
                <a:lnTo>
                  <a:pt x="475107" y="231140"/>
                </a:lnTo>
                <a:lnTo>
                  <a:pt x="471297" y="228600"/>
                </a:lnTo>
                <a:lnTo>
                  <a:pt x="467360" y="227330"/>
                </a:lnTo>
                <a:lnTo>
                  <a:pt x="458851" y="224790"/>
                </a:lnTo>
                <a:close/>
              </a:path>
              <a:path w="835025" h="612140">
                <a:moveTo>
                  <a:pt x="294767" y="237490"/>
                </a:moveTo>
                <a:lnTo>
                  <a:pt x="273812" y="252730"/>
                </a:lnTo>
                <a:lnTo>
                  <a:pt x="274701" y="257810"/>
                </a:lnTo>
                <a:lnTo>
                  <a:pt x="280416" y="267970"/>
                </a:lnTo>
                <a:lnTo>
                  <a:pt x="283337" y="271780"/>
                </a:lnTo>
                <a:lnTo>
                  <a:pt x="289433" y="273050"/>
                </a:lnTo>
                <a:lnTo>
                  <a:pt x="293751" y="273050"/>
                </a:lnTo>
                <a:lnTo>
                  <a:pt x="299212" y="269240"/>
                </a:lnTo>
                <a:lnTo>
                  <a:pt x="304927" y="266700"/>
                </a:lnTo>
                <a:lnTo>
                  <a:pt x="308229" y="264160"/>
                </a:lnTo>
                <a:lnTo>
                  <a:pt x="309245" y="260350"/>
                </a:lnTo>
                <a:lnTo>
                  <a:pt x="310388" y="257810"/>
                </a:lnTo>
                <a:lnTo>
                  <a:pt x="309499" y="252730"/>
                </a:lnTo>
                <a:lnTo>
                  <a:pt x="306578" y="247650"/>
                </a:lnTo>
                <a:lnTo>
                  <a:pt x="303784" y="242570"/>
                </a:lnTo>
                <a:lnTo>
                  <a:pt x="300863" y="238760"/>
                </a:lnTo>
                <a:lnTo>
                  <a:pt x="294767" y="237490"/>
                </a:lnTo>
                <a:close/>
              </a:path>
              <a:path w="835025" h="612140">
                <a:moveTo>
                  <a:pt x="718566" y="133350"/>
                </a:moveTo>
                <a:lnTo>
                  <a:pt x="677672" y="133350"/>
                </a:lnTo>
                <a:lnTo>
                  <a:pt x="685038" y="135890"/>
                </a:lnTo>
                <a:lnTo>
                  <a:pt x="688340" y="138430"/>
                </a:lnTo>
                <a:lnTo>
                  <a:pt x="691388" y="140970"/>
                </a:lnTo>
                <a:lnTo>
                  <a:pt x="694436" y="144780"/>
                </a:lnTo>
                <a:lnTo>
                  <a:pt x="697230" y="148590"/>
                </a:lnTo>
                <a:lnTo>
                  <a:pt x="699770" y="153670"/>
                </a:lnTo>
                <a:lnTo>
                  <a:pt x="704977" y="163830"/>
                </a:lnTo>
                <a:lnTo>
                  <a:pt x="687197" y="172720"/>
                </a:lnTo>
                <a:lnTo>
                  <a:pt x="679956" y="177800"/>
                </a:lnTo>
                <a:lnTo>
                  <a:pt x="673274" y="181610"/>
                </a:lnTo>
                <a:lnTo>
                  <a:pt x="641604" y="214630"/>
                </a:lnTo>
                <a:lnTo>
                  <a:pt x="639529" y="226060"/>
                </a:lnTo>
                <a:lnTo>
                  <a:pt x="639445" y="228600"/>
                </a:lnTo>
                <a:lnTo>
                  <a:pt x="639318" y="234950"/>
                </a:lnTo>
                <a:lnTo>
                  <a:pt x="641096" y="242570"/>
                </a:lnTo>
                <a:lnTo>
                  <a:pt x="644779" y="248920"/>
                </a:lnTo>
                <a:lnTo>
                  <a:pt x="648081" y="255270"/>
                </a:lnTo>
                <a:lnTo>
                  <a:pt x="652018" y="260350"/>
                </a:lnTo>
                <a:lnTo>
                  <a:pt x="661289" y="267970"/>
                </a:lnTo>
                <a:lnTo>
                  <a:pt x="666369" y="270510"/>
                </a:lnTo>
                <a:lnTo>
                  <a:pt x="677545" y="273050"/>
                </a:lnTo>
                <a:lnTo>
                  <a:pt x="683641" y="273050"/>
                </a:lnTo>
                <a:lnTo>
                  <a:pt x="689991" y="271780"/>
                </a:lnTo>
                <a:lnTo>
                  <a:pt x="696341" y="271780"/>
                </a:lnTo>
                <a:lnTo>
                  <a:pt x="702945" y="269240"/>
                </a:lnTo>
                <a:lnTo>
                  <a:pt x="717423" y="261620"/>
                </a:lnTo>
                <a:lnTo>
                  <a:pt x="723900" y="256540"/>
                </a:lnTo>
                <a:lnTo>
                  <a:pt x="728239" y="250190"/>
                </a:lnTo>
                <a:lnTo>
                  <a:pt x="689356" y="250190"/>
                </a:lnTo>
                <a:lnTo>
                  <a:pt x="683006" y="248920"/>
                </a:lnTo>
                <a:lnTo>
                  <a:pt x="665226" y="220980"/>
                </a:lnTo>
                <a:lnTo>
                  <a:pt x="666115" y="217170"/>
                </a:lnTo>
                <a:lnTo>
                  <a:pt x="693547" y="191770"/>
                </a:lnTo>
                <a:lnTo>
                  <a:pt x="713740" y="181610"/>
                </a:lnTo>
                <a:lnTo>
                  <a:pt x="743846" y="181610"/>
                </a:lnTo>
                <a:lnTo>
                  <a:pt x="722630" y="140970"/>
                </a:lnTo>
                <a:lnTo>
                  <a:pt x="718566" y="133350"/>
                </a:lnTo>
                <a:close/>
              </a:path>
              <a:path w="835025" h="612140">
                <a:moveTo>
                  <a:pt x="743846" y="181610"/>
                </a:moveTo>
                <a:lnTo>
                  <a:pt x="713740" y="181610"/>
                </a:lnTo>
                <a:lnTo>
                  <a:pt x="727837" y="208280"/>
                </a:lnTo>
                <a:lnTo>
                  <a:pt x="725424" y="217170"/>
                </a:lnTo>
                <a:lnTo>
                  <a:pt x="722376" y="226060"/>
                </a:lnTo>
                <a:lnTo>
                  <a:pt x="718693" y="231140"/>
                </a:lnTo>
                <a:lnTo>
                  <a:pt x="715010" y="237490"/>
                </a:lnTo>
                <a:lnTo>
                  <a:pt x="710057" y="241300"/>
                </a:lnTo>
                <a:lnTo>
                  <a:pt x="696341" y="248920"/>
                </a:lnTo>
                <a:lnTo>
                  <a:pt x="689356" y="250190"/>
                </a:lnTo>
                <a:lnTo>
                  <a:pt x="728239" y="250190"/>
                </a:lnTo>
                <a:lnTo>
                  <a:pt x="729107" y="248920"/>
                </a:lnTo>
                <a:lnTo>
                  <a:pt x="732752" y="243840"/>
                </a:lnTo>
                <a:lnTo>
                  <a:pt x="735885" y="237490"/>
                </a:lnTo>
                <a:lnTo>
                  <a:pt x="738518" y="232410"/>
                </a:lnTo>
                <a:lnTo>
                  <a:pt x="740664" y="224790"/>
                </a:lnTo>
                <a:lnTo>
                  <a:pt x="766388" y="224790"/>
                </a:lnTo>
                <a:lnTo>
                  <a:pt x="743846" y="181610"/>
                </a:lnTo>
                <a:close/>
              </a:path>
              <a:path w="835025" h="612140">
                <a:moveTo>
                  <a:pt x="766388" y="224790"/>
                </a:moveTo>
                <a:lnTo>
                  <a:pt x="740664" y="224790"/>
                </a:lnTo>
                <a:lnTo>
                  <a:pt x="747395" y="238760"/>
                </a:lnTo>
                <a:lnTo>
                  <a:pt x="749681" y="240030"/>
                </a:lnTo>
                <a:lnTo>
                  <a:pt x="753618" y="240030"/>
                </a:lnTo>
                <a:lnTo>
                  <a:pt x="755142" y="238760"/>
                </a:lnTo>
                <a:lnTo>
                  <a:pt x="757301" y="238760"/>
                </a:lnTo>
                <a:lnTo>
                  <a:pt x="759714" y="237490"/>
                </a:lnTo>
                <a:lnTo>
                  <a:pt x="762254" y="236220"/>
                </a:lnTo>
                <a:lnTo>
                  <a:pt x="764159" y="234950"/>
                </a:lnTo>
                <a:lnTo>
                  <a:pt x="766572" y="232410"/>
                </a:lnTo>
                <a:lnTo>
                  <a:pt x="767334" y="231140"/>
                </a:lnTo>
                <a:lnTo>
                  <a:pt x="767842" y="231140"/>
                </a:lnTo>
                <a:lnTo>
                  <a:pt x="767715" y="227330"/>
                </a:lnTo>
                <a:lnTo>
                  <a:pt x="766388" y="224790"/>
                </a:lnTo>
                <a:close/>
              </a:path>
              <a:path w="835025" h="612140">
                <a:moveTo>
                  <a:pt x="543560" y="181610"/>
                </a:moveTo>
                <a:lnTo>
                  <a:pt x="529209" y="181610"/>
                </a:lnTo>
                <a:lnTo>
                  <a:pt x="521589" y="182880"/>
                </a:lnTo>
                <a:lnTo>
                  <a:pt x="493014" y="208280"/>
                </a:lnTo>
                <a:lnTo>
                  <a:pt x="488442" y="218440"/>
                </a:lnTo>
                <a:lnTo>
                  <a:pt x="486283" y="223520"/>
                </a:lnTo>
                <a:lnTo>
                  <a:pt x="484251" y="228600"/>
                </a:lnTo>
                <a:lnTo>
                  <a:pt x="482346" y="236220"/>
                </a:lnTo>
                <a:lnTo>
                  <a:pt x="501525" y="236220"/>
                </a:lnTo>
                <a:lnTo>
                  <a:pt x="503312" y="231140"/>
                </a:lnTo>
                <a:lnTo>
                  <a:pt x="505714" y="226060"/>
                </a:lnTo>
                <a:lnTo>
                  <a:pt x="509016" y="218440"/>
                </a:lnTo>
                <a:lnTo>
                  <a:pt x="513334" y="213360"/>
                </a:lnTo>
                <a:lnTo>
                  <a:pt x="518795" y="210820"/>
                </a:lnTo>
                <a:lnTo>
                  <a:pt x="523240" y="208280"/>
                </a:lnTo>
                <a:lnTo>
                  <a:pt x="527431" y="207010"/>
                </a:lnTo>
                <a:lnTo>
                  <a:pt x="578942" y="207010"/>
                </a:lnTo>
                <a:lnTo>
                  <a:pt x="577215" y="204470"/>
                </a:lnTo>
                <a:lnTo>
                  <a:pt x="572389" y="199390"/>
                </a:lnTo>
                <a:lnTo>
                  <a:pt x="567563" y="193040"/>
                </a:lnTo>
                <a:lnTo>
                  <a:pt x="562102" y="189230"/>
                </a:lnTo>
                <a:lnTo>
                  <a:pt x="556133" y="185420"/>
                </a:lnTo>
                <a:lnTo>
                  <a:pt x="550037" y="182880"/>
                </a:lnTo>
                <a:lnTo>
                  <a:pt x="543560" y="181610"/>
                </a:lnTo>
                <a:close/>
              </a:path>
              <a:path w="835025" h="612140">
                <a:moveTo>
                  <a:pt x="733679" y="0"/>
                </a:moveTo>
                <a:lnTo>
                  <a:pt x="728726" y="0"/>
                </a:lnTo>
                <a:lnTo>
                  <a:pt x="727075" y="1270"/>
                </a:lnTo>
                <a:lnTo>
                  <a:pt x="725424" y="1270"/>
                </a:lnTo>
                <a:lnTo>
                  <a:pt x="723392" y="2540"/>
                </a:lnTo>
                <a:lnTo>
                  <a:pt x="720979" y="3810"/>
                </a:lnTo>
                <a:lnTo>
                  <a:pt x="718693" y="5080"/>
                </a:lnTo>
                <a:lnTo>
                  <a:pt x="716915" y="5080"/>
                </a:lnTo>
                <a:lnTo>
                  <a:pt x="715518" y="6350"/>
                </a:lnTo>
                <a:lnTo>
                  <a:pt x="713994" y="7620"/>
                </a:lnTo>
                <a:lnTo>
                  <a:pt x="712978" y="8890"/>
                </a:lnTo>
                <a:lnTo>
                  <a:pt x="712216" y="8890"/>
                </a:lnTo>
                <a:lnTo>
                  <a:pt x="711200" y="11430"/>
                </a:lnTo>
                <a:lnTo>
                  <a:pt x="711708" y="13970"/>
                </a:lnTo>
                <a:lnTo>
                  <a:pt x="810641" y="205740"/>
                </a:lnTo>
                <a:lnTo>
                  <a:pt x="812165" y="207010"/>
                </a:lnTo>
                <a:lnTo>
                  <a:pt x="817245" y="207010"/>
                </a:lnTo>
                <a:lnTo>
                  <a:pt x="818769" y="205740"/>
                </a:lnTo>
                <a:lnTo>
                  <a:pt x="820420" y="205740"/>
                </a:lnTo>
                <a:lnTo>
                  <a:pt x="822452" y="204470"/>
                </a:lnTo>
                <a:lnTo>
                  <a:pt x="827024" y="201930"/>
                </a:lnTo>
                <a:lnTo>
                  <a:pt x="828929" y="200660"/>
                </a:lnTo>
                <a:lnTo>
                  <a:pt x="830453" y="200660"/>
                </a:lnTo>
                <a:lnTo>
                  <a:pt x="831850" y="199390"/>
                </a:lnTo>
                <a:lnTo>
                  <a:pt x="832866" y="198120"/>
                </a:lnTo>
                <a:lnTo>
                  <a:pt x="833501" y="198120"/>
                </a:lnTo>
                <a:lnTo>
                  <a:pt x="834644" y="195580"/>
                </a:lnTo>
                <a:lnTo>
                  <a:pt x="834263" y="193040"/>
                </a:lnTo>
                <a:lnTo>
                  <a:pt x="735330" y="2540"/>
                </a:lnTo>
                <a:lnTo>
                  <a:pt x="733679" y="0"/>
                </a:lnTo>
                <a:close/>
              </a:path>
              <a:path w="835025" h="612140">
                <a:moveTo>
                  <a:pt x="679577" y="107950"/>
                </a:moveTo>
                <a:lnTo>
                  <a:pt x="671957" y="109220"/>
                </a:lnTo>
                <a:lnTo>
                  <a:pt x="666170" y="110490"/>
                </a:lnTo>
                <a:lnTo>
                  <a:pt x="660050" y="113030"/>
                </a:lnTo>
                <a:lnTo>
                  <a:pt x="653597" y="115570"/>
                </a:lnTo>
                <a:lnTo>
                  <a:pt x="646811" y="118110"/>
                </a:lnTo>
                <a:lnTo>
                  <a:pt x="641858" y="121920"/>
                </a:lnTo>
                <a:lnTo>
                  <a:pt x="637159" y="124460"/>
                </a:lnTo>
                <a:lnTo>
                  <a:pt x="632714" y="128270"/>
                </a:lnTo>
                <a:lnTo>
                  <a:pt x="628396" y="130810"/>
                </a:lnTo>
                <a:lnTo>
                  <a:pt x="624459" y="134620"/>
                </a:lnTo>
                <a:lnTo>
                  <a:pt x="621030" y="138430"/>
                </a:lnTo>
                <a:lnTo>
                  <a:pt x="617728" y="140970"/>
                </a:lnTo>
                <a:lnTo>
                  <a:pt x="614807" y="144780"/>
                </a:lnTo>
                <a:lnTo>
                  <a:pt x="612521" y="148590"/>
                </a:lnTo>
                <a:lnTo>
                  <a:pt x="610362" y="151130"/>
                </a:lnTo>
                <a:lnTo>
                  <a:pt x="608838" y="153670"/>
                </a:lnTo>
                <a:lnTo>
                  <a:pt x="607568" y="157480"/>
                </a:lnTo>
                <a:lnTo>
                  <a:pt x="607441" y="160020"/>
                </a:lnTo>
                <a:lnTo>
                  <a:pt x="608965" y="165100"/>
                </a:lnTo>
                <a:lnTo>
                  <a:pt x="610235" y="167640"/>
                </a:lnTo>
                <a:lnTo>
                  <a:pt x="612521" y="171450"/>
                </a:lnTo>
                <a:lnTo>
                  <a:pt x="617347" y="173990"/>
                </a:lnTo>
                <a:lnTo>
                  <a:pt x="619633" y="173990"/>
                </a:lnTo>
                <a:lnTo>
                  <a:pt x="620776" y="172720"/>
                </a:lnTo>
                <a:lnTo>
                  <a:pt x="622173" y="171450"/>
                </a:lnTo>
                <a:lnTo>
                  <a:pt x="625475" y="166370"/>
                </a:lnTo>
                <a:lnTo>
                  <a:pt x="627507" y="163830"/>
                </a:lnTo>
                <a:lnTo>
                  <a:pt x="632841" y="156210"/>
                </a:lnTo>
                <a:lnTo>
                  <a:pt x="636016" y="152400"/>
                </a:lnTo>
                <a:lnTo>
                  <a:pt x="643890" y="144780"/>
                </a:lnTo>
                <a:lnTo>
                  <a:pt x="648716" y="142240"/>
                </a:lnTo>
                <a:lnTo>
                  <a:pt x="654558" y="138430"/>
                </a:lnTo>
                <a:lnTo>
                  <a:pt x="660019" y="135890"/>
                </a:lnTo>
                <a:lnTo>
                  <a:pt x="664972" y="134620"/>
                </a:lnTo>
                <a:lnTo>
                  <a:pt x="673735" y="133350"/>
                </a:lnTo>
                <a:lnTo>
                  <a:pt x="718566" y="133350"/>
                </a:lnTo>
                <a:lnTo>
                  <a:pt x="713994" y="125730"/>
                </a:lnTo>
                <a:lnTo>
                  <a:pt x="709041" y="121920"/>
                </a:lnTo>
                <a:lnTo>
                  <a:pt x="704215" y="116840"/>
                </a:lnTo>
                <a:lnTo>
                  <a:pt x="698627" y="113030"/>
                </a:lnTo>
                <a:lnTo>
                  <a:pt x="692531" y="110490"/>
                </a:lnTo>
                <a:lnTo>
                  <a:pt x="686435" y="109220"/>
                </a:lnTo>
                <a:lnTo>
                  <a:pt x="679577" y="1079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42390" y="879347"/>
            <a:ext cx="6752590" cy="1800225"/>
            <a:chOff x="942390" y="879347"/>
            <a:chExt cx="6752590" cy="1800225"/>
          </a:xfrm>
        </p:grpSpPr>
        <p:sp>
          <p:nvSpPr>
            <p:cNvPr id="10" name="object 10"/>
            <p:cNvSpPr/>
            <p:nvPr/>
          </p:nvSpPr>
          <p:spPr>
            <a:xfrm>
              <a:off x="5951093" y="892936"/>
              <a:ext cx="856615" cy="516255"/>
            </a:xfrm>
            <a:custGeom>
              <a:avLst/>
              <a:gdLst/>
              <a:ahLst/>
              <a:cxnLst/>
              <a:rect l="l" t="t" r="r" b="b"/>
              <a:pathLst>
                <a:path w="856615" h="516255">
                  <a:moveTo>
                    <a:pt x="33648" y="343534"/>
                  </a:moveTo>
                  <a:lnTo>
                    <a:pt x="2478" y="343534"/>
                  </a:lnTo>
                  <a:lnTo>
                    <a:pt x="90932" y="514222"/>
                  </a:lnTo>
                  <a:lnTo>
                    <a:pt x="92456" y="515873"/>
                  </a:lnTo>
                  <a:lnTo>
                    <a:pt x="95250" y="516254"/>
                  </a:lnTo>
                  <a:lnTo>
                    <a:pt x="95758" y="516254"/>
                  </a:lnTo>
                  <a:lnTo>
                    <a:pt x="97282" y="515873"/>
                  </a:lnTo>
                  <a:lnTo>
                    <a:pt x="97459" y="515873"/>
                  </a:lnTo>
                  <a:lnTo>
                    <a:pt x="99441" y="515111"/>
                  </a:lnTo>
                  <a:lnTo>
                    <a:pt x="101092" y="514603"/>
                  </a:lnTo>
                  <a:lnTo>
                    <a:pt x="103124" y="513714"/>
                  </a:lnTo>
                  <a:lnTo>
                    <a:pt x="107950" y="511174"/>
                  </a:lnTo>
                  <a:lnTo>
                    <a:pt x="109855" y="510031"/>
                  </a:lnTo>
                  <a:lnTo>
                    <a:pt x="111252" y="509015"/>
                  </a:lnTo>
                  <a:lnTo>
                    <a:pt x="112776" y="507999"/>
                  </a:lnTo>
                  <a:lnTo>
                    <a:pt x="114554" y="506221"/>
                  </a:lnTo>
                  <a:lnTo>
                    <a:pt x="115824" y="503808"/>
                  </a:lnTo>
                  <a:lnTo>
                    <a:pt x="115443" y="501522"/>
                  </a:lnTo>
                  <a:lnTo>
                    <a:pt x="80899" y="434847"/>
                  </a:lnTo>
                  <a:lnTo>
                    <a:pt x="101981" y="423925"/>
                  </a:lnTo>
                  <a:lnTo>
                    <a:pt x="110122" y="419352"/>
                  </a:lnTo>
                  <a:lnTo>
                    <a:pt x="117274" y="414654"/>
                  </a:lnTo>
                  <a:lnTo>
                    <a:pt x="70485" y="414654"/>
                  </a:lnTo>
                  <a:lnTo>
                    <a:pt x="33648" y="343534"/>
                  </a:lnTo>
                  <a:close/>
                </a:path>
                <a:path w="856615" h="516255">
                  <a:moveTo>
                    <a:pt x="144826" y="343534"/>
                  </a:moveTo>
                  <a:lnTo>
                    <a:pt x="113919" y="343534"/>
                  </a:lnTo>
                  <a:lnTo>
                    <a:pt x="116713" y="349122"/>
                  </a:lnTo>
                  <a:lnTo>
                    <a:pt x="118491" y="354710"/>
                  </a:lnTo>
                  <a:lnTo>
                    <a:pt x="120015" y="365886"/>
                  </a:lnTo>
                  <a:lnTo>
                    <a:pt x="119634" y="371220"/>
                  </a:lnTo>
                  <a:lnTo>
                    <a:pt x="117983" y="376300"/>
                  </a:lnTo>
                  <a:lnTo>
                    <a:pt x="116459" y="381507"/>
                  </a:lnTo>
                  <a:lnTo>
                    <a:pt x="113665" y="386206"/>
                  </a:lnTo>
                  <a:lnTo>
                    <a:pt x="105791" y="395096"/>
                  </a:lnTo>
                  <a:lnTo>
                    <a:pt x="100076" y="399287"/>
                  </a:lnTo>
                  <a:lnTo>
                    <a:pt x="70485" y="414654"/>
                  </a:lnTo>
                  <a:lnTo>
                    <a:pt x="117293" y="414654"/>
                  </a:lnTo>
                  <a:lnTo>
                    <a:pt x="143836" y="381507"/>
                  </a:lnTo>
                  <a:lnTo>
                    <a:pt x="147409" y="362271"/>
                  </a:lnTo>
                  <a:lnTo>
                    <a:pt x="147193" y="355599"/>
                  </a:lnTo>
                  <a:lnTo>
                    <a:pt x="146215" y="349122"/>
                  </a:lnTo>
                  <a:lnTo>
                    <a:pt x="146169" y="348813"/>
                  </a:lnTo>
                  <a:lnTo>
                    <a:pt x="144826" y="343534"/>
                  </a:lnTo>
                  <a:close/>
                </a:path>
                <a:path w="856615" h="516255">
                  <a:moveTo>
                    <a:pt x="113852" y="343407"/>
                  </a:moveTo>
                  <a:lnTo>
                    <a:pt x="33582" y="343407"/>
                  </a:lnTo>
                  <a:lnTo>
                    <a:pt x="33648" y="343534"/>
                  </a:lnTo>
                  <a:lnTo>
                    <a:pt x="113919" y="343534"/>
                  </a:lnTo>
                  <a:lnTo>
                    <a:pt x="113852" y="343407"/>
                  </a:lnTo>
                  <a:close/>
                </a:path>
                <a:path w="856615" h="516255">
                  <a:moveTo>
                    <a:pt x="83947" y="295147"/>
                  </a:moveTo>
                  <a:lnTo>
                    <a:pt x="4191" y="329056"/>
                  </a:lnTo>
                  <a:lnTo>
                    <a:pt x="114" y="336041"/>
                  </a:lnTo>
                  <a:lnTo>
                    <a:pt x="0" y="336295"/>
                  </a:lnTo>
                  <a:lnTo>
                    <a:pt x="381" y="339597"/>
                  </a:lnTo>
                  <a:lnTo>
                    <a:pt x="2413" y="343407"/>
                  </a:lnTo>
                  <a:lnTo>
                    <a:pt x="33582" y="343407"/>
                  </a:lnTo>
                  <a:lnTo>
                    <a:pt x="32004" y="340359"/>
                  </a:lnTo>
                  <a:lnTo>
                    <a:pt x="54864" y="328675"/>
                  </a:lnTo>
                  <a:lnTo>
                    <a:pt x="59055" y="326389"/>
                  </a:lnTo>
                  <a:lnTo>
                    <a:pt x="63500" y="324484"/>
                  </a:lnTo>
                  <a:lnTo>
                    <a:pt x="68326" y="322960"/>
                  </a:lnTo>
                  <a:lnTo>
                    <a:pt x="73025" y="321309"/>
                  </a:lnTo>
                  <a:lnTo>
                    <a:pt x="78105" y="320674"/>
                  </a:lnTo>
                  <a:lnTo>
                    <a:pt x="134752" y="320674"/>
                  </a:lnTo>
                  <a:lnTo>
                    <a:pt x="130810" y="315340"/>
                  </a:lnTo>
                  <a:lnTo>
                    <a:pt x="125984" y="310514"/>
                  </a:lnTo>
                  <a:lnTo>
                    <a:pt x="121031" y="305815"/>
                  </a:lnTo>
                  <a:lnTo>
                    <a:pt x="115570" y="302132"/>
                  </a:lnTo>
                  <a:lnTo>
                    <a:pt x="109728" y="299719"/>
                  </a:lnTo>
                  <a:lnTo>
                    <a:pt x="103759" y="297179"/>
                  </a:lnTo>
                  <a:lnTo>
                    <a:pt x="97409" y="295782"/>
                  </a:lnTo>
                  <a:lnTo>
                    <a:pt x="90678" y="295401"/>
                  </a:lnTo>
                  <a:lnTo>
                    <a:pt x="83947" y="295147"/>
                  </a:lnTo>
                  <a:close/>
                </a:path>
                <a:path w="856615" h="516255">
                  <a:moveTo>
                    <a:pt x="134752" y="320674"/>
                  </a:moveTo>
                  <a:lnTo>
                    <a:pt x="78105" y="320674"/>
                  </a:lnTo>
                  <a:lnTo>
                    <a:pt x="83566" y="320928"/>
                  </a:lnTo>
                  <a:lnTo>
                    <a:pt x="89027" y="321309"/>
                  </a:lnTo>
                  <a:lnTo>
                    <a:pt x="94488" y="323214"/>
                  </a:lnTo>
                  <a:lnTo>
                    <a:pt x="105283" y="330453"/>
                  </a:lnTo>
                  <a:lnTo>
                    <a:pt x="109982" y="336041"/>
                  </a:lnTo>
                  <a:lnTo>
                    <a:pt x="113852" y="343407"/>
                  </a:lnTo>
                  <a:lnTo>
                    <a:pt x="144794" y="343407"/>
                  </a:lnTo>
                  <a:lnTo>
                    <a:pt x="144430" y="341979"/>
                  </a:lnTo>
                  <a:lnTo>
                    <a:pt x="141978" y="335097"/>
                  </a:lnTo>
                  <a:lnTo>
                    <a:pt x="138811" y="328167"/>
                  </a:lnTo>
                  <a:lnTo>
                    <a:pt x="135194" y="321309"/>
                  </a:lnTo>
                  <a:lnTo>
                    <a:pt x="135128" y="321182"/>
                  </a:lnTo>
                  <a:lnTo>
                    <a:pt x="134752" y="320674"/>
                  </a:lnTo>
                  <a:close/>
                </a:path>
                <a:path w="856615" h="516255">
                  <a:moveTo>
                    <a:pt x="254000" y="268731"/>
                  </a:moveTo>
                  <a:lnTo>
                    <a:pt x="216916" y="277748"/>
                  </a:lnTo>
                  <a:lnTo>
                    <a:pt x="186404" y="307419"/>
                  </a:lnTo>
                  <a:lnTo>
                    <a:pt x="179907" y="333120"/>
                  </a:lnTo>
                  <a:lnTo>
                    <a:pt x="180022" y="341401"/>
                  </a:lnTo>
                  <a:lnTo>
                    <a:pt x="192024" y="381126"/>
                  </a:lnTo>
                  <a:lnTo>
                    <a:pt x="217709" y="414674"/>
                  </a:lnTo>
                  <a:lnTo>
                    <a:pt x="255607" y="428337"/>
                  </a:lnTo>
                  <a:lnTo>
                    <a:pt x="262636" y="427862"/>
                  </a:lnTo>
                  <a:lnTo>
                    <a:pt x="298792" y="414674"/>
                  </a:lnTo>
                  <a:lnTo>
                    <a:pt x="309245" y="407542"/>
                  </a:lnTo>
                  <a:lnTo>
                    <a:pt x="312660" y="405002"/>
                  </a:lnTo>
                  <a:lnTo>
                    <a:pt x="257175" y="405002"/>
                  </a:lnTo>
                  <a:lnTo>
                    <a:pt x="251206" y="404113"/>
                  </a:lnTo>
                  <a:lnTo>
                    <a:pt x="245618" y="401827"/>
                  </a:lnTo>
                  <a:lnTo>
                    <a:pt x="240157" y="399414"/>
                  </a:lnTo>
                  <a:lnTo>
                    <a:pt x="235204" y="395731"/>
                  </a:lnTo>
                  <a:lnTo>
                    <a:pt x="231107" y="391032"/>
                  </a:lnTo>
                  <a:lnTo>
                    <a:pt x="226554" y="385952"/>
                  </a:lnTo>
                  <a:lnTo>
                    <a:pt x="225340" y="384174"/>
                  </a:lnTo>
                  <a:lnTo>
                    <a:pt x="222377" y="379729"/>
                  </a:lnTo>
                  <a:lnTo>
                    <a:pt x="218694" y="372617"/>
                  </a:lnTo>
                  <a:lnTo>
                    <a:pt x="252285" y="355218"/>
                  </a:lnTo>
                  <a:lnTo>
                    <a:pt x="209677" y="355218"/>
                  </a:lnTo>
                  <a:lnTo>
                    <a:pt x="207264" y="349884"/>
                  </a:lnTo>
                  <a:lnTo>
                    <a:pt x="205486" y="344423"/>
                  </a:lnTo>
                  <a:lnTo>
                    <a:pt x="204597" y="338708"/>
                  </a:lnTo>
                  <a:lnTo>
                    <a:pt x="203835" y="333120"/>
                  </a:lnTo>
                  <a:lnTo>
                    <a:pt x="203962" y="327659"/>
                  </a:lnTo>
                  <a:lnTo>
                    <a:pt x="233680" y="293272"/>
                  </a:lnTo>
                  <a:lnTo>
                    <a:pt x="241681" y="291639"/>
                  </a:lnTo>
                  <a:lnTo>
                    <a:pt x="293504" y="291639"/>
                  </a:lnTo>
                  <a:lnTo>
                    <a:pt x="289687" y="287273"/>
                  </a:lnTo>
                  <a:lnTo>
                    <a:pt x="283718" y="281050"/>
                  </a:lnTo>
                  <a:lnTo>
                    <a:pt x="276987" y="276351"/>
                  </a:lnTo>
                  <a:lnTo>
                    <a:pt x="269621" y="273176"/>
                  </a:lnTo>
                  <a:lnTo>
                    <a:pt x="262128" y="270128"/>
                  </a:lnTo>
                  <a:lnTo>
                    <a:pt x="254000" y="268731"/>
                  </a:lnTo>
                  <a:close/>
                </a:path>
                <a:path w="856615" h="516255">
                  <a:moveTo>
                    <a:pt x="324902" y="365505"/>
                  </a:moveTo>
                  <a:lnTo>
                    <a:pt x="323934" y="365505"/>
                  </a:lnTo>
                  <a:lnTo>
                    <a:pt x="322580" y="365759"/>
                  </a:lnTo>
                  <a:lnTo>
                    <a:pt x="321437" y="366394"/>
                  </a:lnTo>
                  <a:lnTo>
                    <a:pt x="319913" y="367791"/>
                  </a:lnTo>
                  <a:lnTo>
                    <a:pt x="318262" y="369950"/>
                  </a:lnTo>
                  <a:lnTo>
                    <a:pt x="316484" y="372109"/>
                  </a:lnTo>
                  <a:lnTo>
                    <a:pt x="284988" y="397509"/>
                  </a:lnTo>
                  <a:lnTo>
                    <a:pt x="277241" y="401573"/>
                  </a:lnTo>
                  <a:lnTo>
                    <a:pt x="270129" y="403859"/>
                  </a:lnTo>
                  <a:lnTo>
                    <a:pt x="263652" y="404494"/>
                  </a:lnTo>
                  <a:lnTo>
                    <a:pt x="257175" y="405002"/>
                  </a:lnTo>
                  <a:lnTo>
                    <a:pt x="312660" y="405002"/>
                  </a:lnTo>
                  <a:lnTo>
                    <a:pt x="333883" y="381126"/>
                  </a:lnTo>
                  <a:lnTo>
                    <a:pt x="333840" y="380745"/>
                  </a:lnTo>
                  <a:lnTo>
                    <a:pt x="333727" y="379729"/>
                  </a:lnTo>
                  <a:lnTo>
                    <a:pt x="326750" y="366394"/>
                  </a:lnTo>
                  <a:lnTo>
                    <a:pt x="326934" y="366394"/>
                  </a:lnTo>
                  <a:lnTo>
                    <a:pt x="324902" y="365505"/>
                  </a:lnTo>
                  <a:close/>
                </a:path>
                <a:path w="856615" h="516255">
                  <a:moveTo>
                    <a:pt x="384397" y="317372"/>
                  </a:moveTo>
                  <a:lnTo>
                    <a:pt x="354498" y="317372"/>
                  </a:lnTo>
                  <a:lnTo>
                    <a:pt x="379222" y="365124"/>
                  </a:lnTo>
                  <a:lnTo>
                    <a:pt x="380746" y="366775"/>
                  </a:lnTo>
                  <a:lnTo>
                    <a:pt x="381254" y="367156"/>
                  </a:lnTo>
                  <a:lnTo>
                    <a:pt x="382143" y="367283"/>
                  </a:lnTo>
                  <a:lnTo>
                    <a:pt x="383222" y="367156"/>
                  </a:lnTo>
                  <a:lnTo>
                    <a:pt x="383603" y="367156"/>
                  </a:lnTo>
                  <a:lnTo>
                    <a:pt x="403161" y="355218"/>
                  </a:lnTo>
                  <a:lnTo>
                    <a:pt x="402844" y="352932"/>
                  </a:lnTo>
                  <a:lnTo>
                    <a:pt x="384397" y="317372"/>
                  </a:lnTo>
                  <a:close/>
                </a:path>
                <a:path w="856615" h="516255">
                  <a:moveTo>
                    <a:pt x="293504" y="291639"/>
                  </a:moveTo>
                  <a:lnTo>
                    <a:pt x="241681" y="291639"/>
                  </a:lnTo>
                  <a:lnTo>
                    <a:pt x="249301" y="291887"/>
                  </a:lnTo>
                  <a:lnTo>
                    <a:pt x="256540" y="294004"/>
                  </a:lnTo>
                  <a:lnTo>
                    <a:pt x="263354" y="297840"/>
                  </a:lnTo>
                  <a:lnTo>
                    <a:pt x="269525" y="303260"/>
                  </a:lnTo>
                  <a:lnTo>
                    <a:pt x="275078" y="310274"/>
                  </a:lnTo>
                  <a:lnTo>
                    <a:pt x="280035" y="318896"/>
                  </a:lnTo>
                  <a:lnTo>
                    <a:pt x="209677" y="355218"/>
                  </a:lnTo>
                  <a:lnTo>
                    <a:pt x="252285" y="355218"/>
                  </a:lnTo>
                  <a:lnTo>
                    <a:pt x="305943" y="327405"/>
                  </a:lnTo>
                  <a:lnTo>
                    <a:pt x="307594" y="325500"/>
                  </a:lnTo>
                  <a:lnTo>
                    <a:pt x="308610" y="322960"/>
                  </a:lnTo>
                  <a:lnTo>
                    <a:pt x="309753" y="320420"/>
                  </a:lnTo>
                  <a:lnTo>
                    <a:pt x="309265" y="317372"/>
                  </a:lnTo>
                  <a:lnTo>
                    <a:pt x="307382" y="313644"/>
                  </a:lnTo>
                  <a:lnTo>
                    <a:pt x="305181" y="309244"/>
                  </a:lnTo>
                  <a:lnTo>
                    <a:pt x="301776" y="303260"/>
                  </a:lnTo>
                  <a:lnTo>
                    <a:pt x="298005" y="297497"/>
                  </a:lnTo>
                  <a:lnTo>
                    <a:pt x="294001" y="292207"/>
                  </a:lnTo>
                  <a:lnTo>
                    <a:pt x="293504" y="291639"/>
                  </a:lnTo>
                  <a:close/>
                </a:path>
                <a:path w="856615" h="516255">
                  <a:moveTo>
                    <a:pt x="329946" y="223011"/>
                  </a:moveTo>
                  <a:lnTo>
                    <a:pt x="328930" y="223011"/>
                  </a:lnTo>
                  <a:lnTo>
                    <a:pt x="327787" y="223265"/>
                  </a:lnTo>
                  <a:lnTo>
                    <a:pt x="326263" y="223900"/>
                  </a:lnTo>
                  <a:lnTo>
                    <a:pt x="324866" y="224408"/>
                  </a:lnTo>
                  <a:lnTo>
                    <a:pt x="323088" y="225297"/>
                  </a:lnTo>
                  <a:lnTo>
                    <a:pt x="320929" y="226313"/>
                  </a:lnTo>
                  <a:lnTo>
                    <a:pt x="318770" y="227456"/>
                  </a:lnTo>
                  <a:lnTo>
                    <a:pt x="316992" y="228472"/>
                  </a:lnTo>
                  <a:lnTo>
                    <a:pt x="315722" y="229361"/>
                  </a:lnTo>
                  <a:lnTo>
                    <a:pt x="314452" y="230123"/>
                  </a:lnTo>
                  <a:lnTo>
                    <a:pt x="313563" y="231012"/>
                  </a:lnTo>
                  <a:lnTo>
                    <a:pt x="312928" y="231901"/>
                  </a:lnTo>
                  <a:lnTo>
                    <a:pt x="311912" y="234187"/>
                  </a:lnTo>
                  <a:lnTo>
                    <a:pt x="312547" y="236346"/>
                  </a:lnTo>
                  <a:lnTo>
                    <a:pt x="354432" y="317245"/>
                  </a:lnTo>
                  <a:lnTo>
                    <a:pt x="384331" y="317245"/>
                  </a:lnTo>
                  <a:lnTo>
                    <a:pt x="358902" y="268223"/>
                  </a:lnTo>
                  <a:lnTo>
                    <a:pt x="359537" y="261238"/>
                  </a:lnTo>
                  <a:lnTo>
                    <a:pt x="360299" y="255142"/>
                  </a:lnTo>
                  <a:lnTo>
                    <a:pt x="362077" y="245109"/>
                  </a:lnTo>
                  <a:lnTo>
                    <a:pt x="362345" y="244093"/>
                  </a:lnTo>
                  <a:lnTo>
                    <a:pt x="343535" y="244093"/>
                  </a:lnTo>
                  <a:lnTo>
                    <a:pt x="333883" y="225297"/>
                  </a:lnTo>
                  <a:lnTo>
                    <a:pt x="332593" y="223900"/>
                  </a:lnTo>
                  <a:lnTo>
                    <a:pt x="333324" y="223900"/>
                  </a:lnTo>
                  <a:lnTo>
                    <a:pt x="329946" y="223011"/>
                  </a:lnTo>
                  <a:close/>
                </a:path>
                <a:path w="856615" h="516255">
                  <a:moveTo>
                    <a:pt x="384619" y="195833"/>
                  </a:moveTo>
                  <a:lnTo>
                    <a:pt x="380746" y="195833"/>
                  </a:lnTo>
                  <a:lnTo>
                    <a:pt x="377317" y="196341"/>
                  </a:lnTo>
                  <a:lnTo>
                    <a:pt x="373507" y="197357"/>
                  </a:lnTo>
                  <a:lnTo>
                    <a:pt x="371729" y="197992"/>
                  </a:lnTo>
                  <a:lnTo>
                    <a:pt x="370078" y="198627"/>
                  </a:lnTo>
                  <a:lnTo>
                    <a:pt x="368427" y="199389"/>
                  </a:lnTo>
                  <a:lnTo>
                    <a:pt x="366903" y="200024"/>
                  </a:lnTo>
                  <a:lnTo>
                    <a:pt x="344424" y="237108"/>
                  </a:lnTo>
                  <a:lnTo>
                    <a:pt x="343535" y="244093"/>
                  </a:lnTo>
                  <a:lnTo>
                    <a:pt x="362345" y="244093"/>
                  </a:lnTo>
                  <a:lnTo>
                    <a:pt x="363220" y="240791"/>
                  </a:lnTo>
                  <a:lnTo>
                    <a:pt x="364617" y="237362"/>
                  </a:lnTo>
                  <a:lnTo>
                    <a:pt x="385191" y="220598"/>
                  </a:lnTo>
                  <a:lnTo>
                    <a:pt x="386842" y="220217"/>
                  </a:lnTo>
                  <a:lnTo>
                    <a:pt x="388493" y="219963"/>
                  </a:lnTo>
                  <a:lnTo>
                    <a:pt x="389890" y="219709"/>
                  </a:lnTo>
                  <a:lnTo>
                    <a:pt x="392557" y="219455"/>
                  </a:lnTo>
                  <a:lnTo>
                    <a:pt x="393573" y="219201"/>
                  </a:lnTo>
                  <a:lnTo>
                    <a:pt x="394335" y="218820"/>
                  </a:lnTo>
                  <a:lnTo>
                    <a:pt x="395732" y="217423"/>
                  </a:lnTo>
                  <a:lnTo>
                    <a:pt x="395863" y="217423"/>
                  </a:lnTo>
                  <a:lnTo>
                    <a:pt x="390095" y="202056"/>
                  </a:lnTo>
                  <a:lnTo>
                    <a:pt x="389382" y="200659"/>
                  </a:lnTo>
                  <a:lnTo>
                    <a:pt x="388184" y="198627"/>
                  </a:lnTo>
                  <a:lnTo>
                    <a:pt x="388112" y="198500"/>
                  </a:lnTo>
                  <a:lnTo>
                    <a:pt x="387705" y="197992"/>
                  </a:lnTo>
                  <a:lnTo>
                    <a:pt x="386207" y="196468"/>
                  </a:lnTo>
                  <a:lnTo>
                    <a:pt x="384619" y="195833"/>
                  </a:lnTo>
                  <a:close/>
                </a:path>
                <a:path w="856615" h="516255">
                  <a:moveTo>
                    <a:pt x="540689" y="241299"/>
                  </a:moveTo>
                  <a:lnTo>
                    <a:pt x="498602" y="241299"/>
                  </a:lnTo>
                  <a:lnTo>
                    <a:pt x="502666" y="242569"/>
                  </a:lnTo>
                  <a:lnTo>
                    <a:pt x="506222" y="242569"/>
                  </a:lnTo>
                  <a:lnTo>
                    <a:pt x="512572" y="246379"/>
                  </a:lnTo>
                  <a:lnTo>
                    <a:pt x="515112" y="248919"/>
                  </a:lnTo>
                  <a:lnTo>
                    <a:pt x="518795" y="255269"/>
                  </a:lnTo>
                  <a:lnTo>
                    <a:pt x="519684" y="259079"/>
                  </a:lnTo>
                  <a:lnTo>
                    <a:pt x="519811" y="262889"/>
                  </a:lnTo>
                  <a:lnTo>
                    <a:pt x="519811" y="265429"/>
                  </a:lnTo>
                  <a:lnTo>
                    <a:pt x="490474" y="290829"/>
                  </a:lnTo>
                  <a:lnTo>
                    <a:pt x="480949" y="293369"/>
                  </a:lnTo>
                  <a:lnTo>
                    <a:pt x="457454" y="293369"/>
                  </a:lnTo>
                  <a:lnTo>
                    <a:pt x="455930" y="294639"/>
                  </a:lnTo>
                  <a:lnTo>
                    <a:pt x="455549" y="297179"/>
                  </a:lnTo>
                  <a:lnTo>
                    <a:pt x="455676" y="298449"/>
                  </a:lnTo>
                  <a:lnTo>
                    <a:pt x="455930" y="299719"/>
                  </a:lnTo>
                  <a:lnTo>
                    <a:pt x="456438" y="300989"/>
                  </a:lnTo>
                  <a:lnTo>
                    <a:pt x="456819" y="302259"/>
                  </a:lnTo>
                  <a:lnTo>
                    <a:pt x="457581" y="303529"/>
                  </a:lnTo>
                  <a:lnTo>
                    <a:pt x="458470" y="306069"/>
                  </a:lnTo>
                  <a:lnTo>
                    <a:pt x="461518" y="311149"/>
                  </a:lnTo>
                  <a:lnTo>
                    <a:pt x="464185" y="313689"/>
                  </a:lnTo>
                  <a:lnTo>
                    <a:pt x="465582" y="314959"/>
                  </a:lnTo>
                  <a:lnTo>
                    <a:pt x="483997" y="314959"/>
                  </a:lnTo>
                  <a:lnTo>
                    <a:pt x="487807" y="313689"/>
                  </a:lnTo>
                  <a:lnTo>
                    <a:pt x="491998" y="313689"/>
                  </a:lnTo>
                  <a:lnTo>
                    <a:pt x="496570" y="311149"/>
                  </a:lnTo>
                  <a:lnTo>
                    <a:pt x="505587" y="308609"/>
                  </a:lnTo>
                  <a:lnTo>
                    <a:pt x="510159" y="306069"/>
                  </a:lnTo>
                  <a:lnTo>
                    <a:pt x="543814" y="270509"/>
                  </a:lnTo>
                  <a:lnTo>
                    <a:pt x="544957" y="264159"/>
                  </a:lnTo>
                  <a:lnTo>
                    <a:pt x="544855" y="259079"/>
                  </a:lnTo>
                  <a:lnTo>
                    <a:pt x="544576" y="251459"/>
                  </a:lnTo>
                  <a:lnTo>
                    <a:pt x="542671" y="245109"/>
                  </a:lnTo>
                  <a:lnTo>
                    <a:pt x="540689" y="241299"/>
                  </a:lnTo>
                  <a:close/>
                </a:path>
                <a:path w="856615" h="516255">
                  <a:moveTo>
                    <a:pt x="484886" y="152399"/>
                  </a:moveTo>
                  <a:lnTo>
                    <a:pt x="464312" y="152399"/>
                  </a:lnTo>
                  <a:lnTo>
                    <a:pt x="460883" y="153669"/>
                  </a:lnTo>
                  <a:lnTo>
                    <a:pt x="457200" y="154939"/>
                  </a:lnTo>
                  <a:lnTo>
                    <a:pt x="422656" y="177799"/>
                  </a:lnTo>
                  <a:lnTo>
                    <a:pt x="417195" y="189229"/>
                  </a:lnTo>
                  <a:lnTo>
                    <a:pt x="415036" y="194309"/>
                  </a:lnTo>
                  <a:lnTo>
                    <a:pt x="425704" y="232409"/>
                  </a:lnTo>
                  <a:lnTo>
                    <a:pt x="429641" y="234949"/>
                  </a:lnTo>
                  <a:lnTo>
                    <a:pt x="433705" y="238759"/>
                  </a:lnTo>
                  <a:lnTo>
                    <a:pt x="437896" y="241299"/>
                  </a:lnTo>
                  <a:lnTo>
                    <a:pt x="447167" y="243839"/>
                  </a:lnTo>
                  <a:lnTo>
                    <a:pt x="471551" y="243839"/>
                  </a:lnTo>
                  <a:lnTo>
                    <a:pt x="476377" y="242569"/>
                  </a:lnTo>
                  <a:lnTo>
                    <a:pt x="490347" y="241299"/>
                  </a:lnTo>
                  <a:lnTo>
                    <a:pt x="540689" y="241299"/>
                  </a:lnTo>
                  <a:lnTo>
                    <a:pt x="539369" y="238759"/>
                  </a:lnTo>
                  <a:lnTo>
                    <a:pt x="536448" y="232409"/>
                  </a:lnTo>
                  <a:lnTo>
                    <a:pt x="533019" y="228599"/>
                  </a:lnTo>
                  <a:lnTo>
                    <a:pt x="525145" y="222249"/>
                  </a:lnTo>
                  <a:lnTo>
                    <a:pt x="520954" y="220979"/>
                  </a:lnTo>
                  <a:lnTo>
                    <a:pt x="518668" y="219709"/>
                  </a:lnTo>
                  <a:lnTo>
                    <a:pt x="455803" y="219709"/>
                  </a:lnTo>
                  <a:lnTo>
                    <a:pt x="452120" y="218439"/>
                  </a:lnTo>
                  <a:lnTo>
                    <a:pt x="448945" y="217169"/>
                  </a:lnTo>
                  <a:lnTo>
                    <a:pt x="445643" y="215899"/>
                  </a:lnTo>
                  <a:lnTo>
                    <a:pt x="438658" y="198119"/>
                  </a:lnTo>
                  <a:lnTo>
                    <a:pt x="439166" y="195579"/>
                  </a:lnTo>
                  <a:lnTo>
                    <a:pt x="440182" y="193039"/>
                  </a:lnTo>
                  <a:lnTo>
                    <a:pt x="441325" y="190499"/>
                  </a:lnTo>
                  <a:lnTo>
                    <a:pt x="443103" y="186689"/>
                  </a:lnTo>
                  <a:lnTo>
                    <a:pt x="448310" y="182879"/>
                  </a:lnTo>
                  <a:lnTo>
                    <a:pt x="451612" y="180339"/>
                  </a:lnTo>
                  <a:lnTo>
                    <a:pt x="455549" y="177799"/>
                  </a:lnTo>
                  <a:lnTo>
                    <a:pt x="460121" y="175259"/>
                  </a:lnTo>
                  <a:lnTo>
                    <a:pt x="464312" y="173989"/>
                  </a:lnTo>
                  <a:lnTo>
                    <a:pt x="472440" y="172719"/>
                  </a:lnTo>
                  <a:lnTo>
                    <a:pt x="475996" y="171449"/>
                  </a:lnTo>
                  <a:lnTo>
                    <a:pt x="491744" y="171449"/>
                  </a:lnTo>
                  <a:lnTo>
                    <a:pt x="493014" y="170179"/>
                  </a:lnTo>
                  <a:lnTo>
                    <a:pt x="493395" y="167639"/>
                  </a:lnTo>
                  <a:lnTo>
                    <a:pt x="493141" y="166369"/>
                  </a:lnTo>
                  <a:lnTo>
                    <a:pt x="492125" y="163829"/>
                  </a:lnTo>
                  <a:lnTo>
                    <a:pt x="491490" y="162559"/>
                  </a:lnTo>
                  <a:lnTo>
                    <a:pt x="490601" y="160019"/>
                  </a:lnTo>
                  <a:lnTo>
                    <a:pt x="489839" y="158749"/>
                  </a:lnTo>
                  <a:lnTo>
                    <a:pt x="488442" y="156209"/>
                  </a:lnTo>
                  <a:lnTo>
                    <a:pt x="486664" y="153669"/>
                  </a:lnTo>
                  <a:lnTo>
                    <a:pt x="484886" y="152399"/>
                  </a:lnTo>
                  <a:close/>
                </a:path>
                <a:path w="856615" h="516255">
                  <a:moveTo>
                    <a:pt x="614793" y="81279"/>
                  </a:moveTo>
                  <a:lnTo>
                    <a:pt x="607822" y="81279"/>
                  </a:lnTo>
                  <a:lnTo>
                    <a:pt x="600581" y="82549"/>
                  </a:lnTo>
                  <a:lnTo>
                    <a:pt x="585479" y="87629"/>
                  </a:lnTo>
                  <a:lnTo>
                    <a:pt x="577596" y="91439"/>
                  </a:lnTo>
                  <a:lnTo>
                    <a:pt x="569831" y="96519"/>
                  </a:lnTo>
                  <a:lnTo>
                    <a:pt x="562911" y="100329"/>
                  </a:lnTo>
                  <a:lnTo>
                    <a:pt x="556825" y="106679"/>
                  </a:lnTo>
                  <a:lnTo>
                    <a:pt x="551561" y="111759"/>
                  </a:lnTo>
                  <a:lnTo>
                    <a:pt x="547199" y="118109"/>
                  </a:lnTo>
                  <a:lnTo>
                    <a:pt x="537210" y="148589"/>
                  </a:lnTo>
                  <a:lnTo>
                    <a:pt x="537305" y="158749"/>
                  </a:lnTo>
                  <a:lnTo>
                    <a:pt x="549275" y="196849"/>
                  </a:lnTo>
                  <a:lnTo>
                    <a:pt x="553606" y="205739"/>
                  </a:lnTo>
                  <a:lnTo>
                    <a:pt x="585146" y="237489"/>
                  </a:lnTo>
                  <a:lnTo>
                    <a:pt x="604234" y="243839"/>
                  </a:lnTo>
                  <a:lnTo>
                    <a:pt x="618109" y="243839"/>
                  </a:lnTo>
                  <a:lnTo>
                    <a:pt x="632682" y="241299"/>
                  </a:lnTo>
                  <a:lnTo>
                    <a:pt x="640326" y="237489"/>
                  </a:lnTo>
                  <a:lnTo>
                    <a:pt x="648208" y="234949"/>
                  </a:lnTo>
                  <a:lnTo>
                    <a:pt x="655899" y="229869"/>
                  </a:lnTo>
                  <a:lnTo>
                    <a:pt x="662781" y="224789"/>
                  </a:lnTo>
                  <a:lnTo>
                    <a:pt x="668853" y="219709"/>
                  </a:lnTo>
                  <a:lnTo>
                    <a:pt x="611378" y="219709"/>
                  </a:lnTo>
                  <a:lnTo>
                    <a:pt x="605409" y="218439"/>
                  </a:lnTo>
                  <a:lnTo>
                    <a:pt x="600075" y="214629"/>
                  </a:lnTo>
                  <a:lnTo>
                    <a:pt x="594614" y="212089"/>
                  </a:lnTo>
                  <a:lnTo>
                    <a:pt x="589661" y="207009"/>
                  </a:lnTo>
                  <a:lnTo>
                    <a:pt x="566420" y="168909"/>
                  </a:lnTo>
                  <a:lnTo>
                    <a:pt x="564769" y="161289"/>
                  </a:lnTo>
                  <a:lnTo>
                    <a:pt x="563118" y="154939"/>
                  </a:lnTo>
                  <a:lnTo>
                    <a:pt x="563041" y="153669"/>
                  </a:lnTo>
                  <a:lnTo>
                    <a:pt x="562965" y="152399"/>
                  </a:lnTo>
                  <a:lnTo>
                    <a:pt x="562889" y="151129"/>
                  </a:lnTo>
                  <a:lnTo>
                    <a:pt x="562813" y="149859"/>
                  </a:lnTo>
                  <a:lnTo>
                    <a:pt x="562737" y="148589"/>
                  </a:lnTo>
                  <a:lnTo>
                    <a:pt x="563753" y="142239"/>
                  </a:lnTo>
                  <a:lnTo>
                    <a:pt x="564642" y="135889"/>
                  </a:lnTo>
                  <a:lnTo>
                    <a:pt x="594487" y="107949"/>
                  </a:lnTo>
                  <a:lnTo>
                    <a:pt x="601599" y="105409"/>
                  </a:lnTo>
                  <a:lnTo>
                    <a:pt x="661571" y="105409"/>
                  </a:lnTo>
                  <a:lnTo>
                    <a:pt x="657733" y="101599"/>
                  </a:lnTo>
                  <a:lnTo>
                    <a:pt x="652279" y="96519"/>
                  </a:lnTo>
                  <a:lnTo>
                    <a:pt x="646588" y="91439"/>
                  </a:lnTo>
                  <a:lnTo>
                    <a:pt x="640659" y="88899"/>
                  </a:lnTo>
                  <a:lnTo>
                    <a:pt x="634492" y="85089"/>
                  </a:lnTo>
                  <a:lnTo>
                    <a:pt x="614793" y="81279"/>
                  </a:lnTo>
                  <a:close/>
                </a:path>
                <a:path w="856615" h="516255">
                  <a:moveTo>
                    <a:pt x="511937" y="217169"/>
                  </a:moveTo>
                  <a:lnTo>
                    <a:pt x="497078" y="217169"/>
                  </a:lnTo>
                  <a:lnTo>
                    <a:pt x="487299" y="218439"/>
                  </a:lnTo>
                  <a:lnTo>
                    <a:pt x="482346" y="218439"/>
                  </a:lnTo>
                  <a:lnTo>
                    <a:pt x="468249" y="219709"/>
                  </a:lnTo>
                  <a:lnTo>
                    <a:pt x="518668" y="219709"/>
                  </a:lnTo>
                  <a:lnTo>
                    <a:pt x="516382" y="218439"/>
                  </a:lnTo>
                  <a:lnTo>
                    <a:pt x="511937" y="217169"/>
                  </a:lnTo>
                  <a:close/>
                </a:path>
                <a:path w="856615" h="516255">
                  <a:moveTo>
                    <a:pt x="661571" y="105409"/>
                  </a:moveTo>
                  <a:lnTo>
                    <a:pt x="614553" y="105409"/>
                  </a:lnTo>
                  <a:lnTo>
                    <a:pt x="620522" y="107949"/>
                  </a:lnTo>
                  <a:lnTo>
                    <a:pt x="625983" y="110489"/>
                  </a:lnTo>
                  <a:lnTo>
                    <a:pt x="653034" y="142239"/>
                  </a:lnTo>
                  <a:lnTo>
                    <a:pt x="663016" y="172719"/>
                  </a:lnTo>
                  <a:lnTo>
                    <a:pt x="663092" y="173989"/>
                  </a:lnTo>
                  <a:lnTo>
                    <a:pt x="663168" y="175259"/>
                  </a:lnTo>
                  <a:lnTo>
                    <a:pt x="663244" y="176529"/>
                  </a:lnTo>
                  <a:lnTo>
                    <a:pt x="663321" y="177799"/>
                  </a:lnTo>
                  <a:lnTo>
                    <a:pt x="662305" y="184149"/>
                  </a:lnTo>
                  <a:lnTo>
                    <a:pt x="661416" y="190499"/>
                  </a:lnTo>
                  <a:lnTo>
                    <a:pt x="659003" y="195579"/>
                  </a:lnTo>
                  <a:lnTo>
                    <a:pt x="651383" y="205739"/>
                  </a:lnTo>
                  <a:lnTo>
                    <a:pt x="646049" y="210819"/>
                  </a:lnTo>
                  <a:lnTo>
                    <a:pt x="639064" y="213359"/>
                  </a:lnTo>
                  <a:lnTo>
                    <a:pt x="631444" y="217169"/>
                  </a:lnTo>
                  <a:lnTo>
                    <a:pt x="624459" y="219709"/>
                  </a:lnTo>
                  <a:lnTo>
                    <a:pt x="668853" y="219709"/>
                  </a:lnTo>
                  <a:lnTo>
                    <a:pt x="688201" y="181609"/>
                  </a:lnTo>
                  <a:lnTo>
                    <a:pt x="688478" y="166369"/>
                  </a:lnTo>
                  <a:lnTo>
                    <a:pt x="687451" y="158749"/>
                  </a:lnTo>
                  <a:lnTo>
                    <a:pt x="672324" y="120649"/>
                  </a:lnTo>
                  <a:lnTo>
                    <a:pt x="662850" y="106679"/>
                  </a:lnTo>
                  <a:lnTo>
                    <a:pt x="661571" y="105409"/>
                  </a:lnTo>
                  <a:close/>
                </a:path>
                <a:path w="856615" h="516255">
                  <a:moveTo>
                    <a:pt x="698373" y="34289"/>
                  </a:moveTo>
                  <a:lnTo>
                    <a:pt x="692404" y="34289"/>
                  </a:lnTo>
                  <a:lnTo>
                    <a:pt x="689102" y="36829"/>
                  </a:lnTo>
                  <a:lnTo>
                    <a:pt x="687070" y="36829"/>
                  </a:lnTo>
                  <a:lnTo>
                    <a:pt x="684784" y="38099"/>
                  </a:lnTo>
                  <a:lnTo>
                    <a:pt x="683133" y="39369"/>
                  </a:lnTo>
                  <a:lnTo>
                    <a:pt x="680593" y="40639"/>
                  </a:lnTo>
                  <a:lnTo>
                    <a:pt x="679577" y="41909"/>
                  </a:lnTo>
                  <a:lnTo>
                    <a:pt x="678942" y="43179"/>
                  </a:lnTo>
                  <a:lnTo>
                    <a:pt x="678053" y="45719"/>
                  </a:lnTo>
                  <a:lnTo>
                    <a:pt x="678561" y="46989"/>
                  </a:lnTo>
                  <a:lnTo>
                    <a:pt x="745236" y="176529"/>
                  </a:lnTo>
                  <a:lnTo>
                    <a:pt x="746760" y="177799"/>
                  </a:lnTo>
                  <a:lnTo>
                    <a:pt x="753364" y="177799"/>
                  </a:lnTo>
                  <a:lnTo>
                    <a:pt x="755015" y="176529"/>
                  </a:lnTo>
                  <a:lnTo>
                    <a:pt x="757047" y="175259"/>
                  </a:lnTo>
                  <a:lnTo>
                    <a:pt x="761619" y="172719"/>
                  </a:lnTo>
                  <a:lnTo>
                    <a:pt x="763524" y="172719"/>
                  </a:lnTo>
                  <a:lnTo>
                    <a:pt x="765048" y="171449"/>
                  </a:lnTo>
                  <a:lnTo>
                    <a:pt x="766445" y="170179"/>
                  </a:lnTo>
                  <a:lnTo>
                    <a:pt x="767461" y="168909"/>
                  </a:lnTo>
                  <a:lnTo>
                    <a:pt x="768096" y="168909"/>
                  </a:lnTo>
                  <a:lnTo>
                    <a:pt x="769239" y="166369"/>
                  </a:lnTo>
                  <a:lnTo>
                    <a:pt x="768858" y="163829"/>
                  </a:lnTo>
                  <a:lnTo>
                    <a:pt x="722249" y="73659"/>
                  </a:lnTo>
                  <a:lnTo>
                    <a:pt x="724104" y="66039"/>
                  </a:lnTo>
                  <a:lnTo>
                    <a:pt x="726233" y="58419"/>
                  </a:lnTo>
                  <a:lnTo>
                    <a:pt x="728146" y="53339"/>
                  </a:lnTo>
                  <a:lnTo>
                    <a:pt x="708787" y="53339"/>
                  </a:lnTo>
                  <a:lnTo>
                    <a:pt x="699897" y="36829"/>
                  </a:lnTo>
                  <a:lnTo>
                    <a:pt x="698373" y="34289"/>
                  </a:lnTo>
                  <a:close/>
                </a:path>
                <a:path w="856615" h="516255">
                  <a:moveTo>
                    <a:pt x="491744" y="171449"/>
                  </a:moveTo>
                  <a:lnTo>
                    <a:pt x="485013" y="171449"/>
                  </a:lnTo>
                  <a:lnTo>
                    <a:pt x="489331" y="172719"/>
                  </a:lnTo>
                  <a:lnTo>
                    <a:pt x="490855" y="172719"/>
                  </a:lnTo>
                  <a:lnTo>
                    <a:pt x="491744" y="171449"/>
                  </a:lnTo>
                  <a:close/>
                </a:path>
                <a:path w="856615" h="516255">
                  <a:moveTo>
                    <a:pt x="481838" y="151129"/>
                  </a:moveTo>
                  <a:lnTo>
                    <a:pt x="470789" y="151129"/>
                  </a:lnTo>
                  <a:lnTo>
                    <a:pt x="467614" y="152399"/>
                  </a:lnTo>
                  <a:lnTo>
                    <a:pt x="483235" y="152399"/>
                  </a:lnTo>
                  <a:lnTo>
                    <a:pt x="481838" y="151129"/>
                  </a:lnTo>
                  <a:close/>
                </a:path>
                <a:path w="856615" h="516255">
                  <a:moveTo>
                    <a:pt x="807335" y="26669"/>
                  </a:moveTo>
                  <a:lnTo>
                    <a:pt x="763651" y="26669"/>
                  </a:lnTo>
                  <a:lnTo>
                    <a:pt x="767715" y="27939"/>
                  </a:lnTo>
                  <a:lnTo>
                    <a:pt x="771525" y="29209"/>
                  </a:lnTo>
                  <a:lnTo>
                    <a:pt x="832485" y="130809"/>
                  </a:lnTo>
                  <a:lnTo>
                    <a:pt x="834136" y="132079"/>
                  </a:lnTo>
                  <a:lnTo>
                    <a:pt x="836676" y="133349"/>
                  </a:lnTo>
                  <a:lnTo>
                    <a:pt x="837692" y="133349"/>
                  </a:lnTo>
                  <a:lnTo>
                    <a:pt x="839089" y="132079"/>
                  </a:lnTo>
                  <a:lnTo>
                    <a:pt x="840740" y="132079"/>
                  </a:lnTo>
                  <a:lnTo>
                    <a:pt x="842264" y="130809"/>
                  </a:lnTo>
                  <a:lnTo>
                    <a:pt x="844296" y="130809"/>
                  </a:lnTo>
                  <a:lnTo>
                    <a:pt x="846709" y="129539"/>
                  </a:lnTo>
                  <a:lnTo>
                    <a:pt x="848995" y="128269"/>
                  </a:lnTo>
                  <a:lnTo>
                    <a:pt x="850900" y="126999"/>
                  </a:lnTo>
                  <a:lnTo>
                    <a:pt x="853694" y="124459"/>
                  </a:lnTo>
                  <a:lnTo>
                    <a:pt x="855472" y="123189"/>
                  </a:lnTo>
                  <a:lnTo>
                    <a:pt x="856615" y="120649"/>
                  </a:lnTo>
                  <a:lnTo>
                    <a:pt x="856107" y="118109"/>
                  </a:lnTo>
                  <a:lnTo>
                    <a:pt x="815467" y="40639"/>
                  </a:lnTo>
                  <a:lnTo>
                    <a:pt x="811899" y="34289"/>
                  </a:lnTo>
                  <a:lnTo>
                    <a:pt x="808259" y="27939"/>
                  </a:lnTo>
                  <a:lnTo>
                    <a:pt x="807335" y="26669"/>
                  </a:lnTo>
                  <a:close/>
                </a:path>
                <a:path w="856615" h="516255">
                  <a:moveTo>
                    <a:pt x="771398" y="0"/>
                  </a:moveTo>
                  <a:lnTo>
                    <a:pt x="756666" y="0"/>
                  </a:lnTo>
                  <a:lnTo>
                    <a:pt x="748665" y="2539"/>
                  </a:lnTo>
                  <a:lnTo>
                    <a:pt x="717466" y="30479"/>
                  </a:lnTo>
                  <a:lnTo>
                    <a:pt x="708787" y="53339"/>
                  </a:lnTo>
                  <a:lnTo>
                    <a:pt x="728146" y="53339"/>
                  </a:lnTo>
                  <a:lnTo>
                    <a:pt x="728624" y="52069"/>
                  </a:lnTo>
                  <a:lnTo>
                    <a:pt x="731266" y="45719"/>
                  </a:lnTo>
                  <a:lnTo>
                    <a:pt x="735076" y="38099"/>
                  </a:lnTo>
                  <a:lnTo>
                    <a:pt x="739902" y="33019"/>
                  </a:lnTo>
                  <a:lnTo>
                    <a:pt x="745744" y="30479"/>
                  </a:lnTo>
                  <a:lnTo>
                    <a:pt x="750316" y="27939"/>
                  </a:lnTo>
                  <a:lnTo>
                    <a:pt x="754888" y="26669"/>
                  </a:lnTo>
                  <a:lnTo>
                    <a:pt x="807335" y="26669"/>
                  </a:lnTo>
                  <a:lnTo>
                    <a:pt x="800862" y="17779"/>
                  </a:lnTo>
                  <a:lnTo>
                    <a:pt x="795909" y="12699"/>
                  </a:lnTo>
                  <a:lnTo>
                    <a:pt x="790448" y="7619"/>
                  </a:lnTo>
                  <a:lnTo>
                    <a:pt x="784225" y="5079"/>
                  </a:lnTo>
                  <a:lnTo>
                    <a:pt x="778129" y="1269"/>
                  </a:lnTo>
                  <a:lnTo>
                    <a:pt x="77139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3270" y="879347"/>
              <a:ext cx="5186679" cy="179984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219949" y="1650872"/>
              <a:ext cx="445770" cy="795655"/>
            </a:xfrm>
            <a:custGeom>
              <a:avLst/>
              <a:gdLst/>
              <a:ahLst/>
              <a:cxnLst/>
              <a:rect l="l" t="t" r="r" b="b"/>
              <a:pathLst>
                <a:path w="445770" h="795655">
                  <a:moveTo>
                    <a:pt x="445389" y="0"/>
                  </a:moveTo>
                  <a:lnTo>
                    <a:pt x="0" y="0"/>
                  </a:lnTo>
                  <a:lnTo>
                    <a:pt x="0" y="795527"/>
                  </a:lnTo>
                  <a:lnTo>
                    <a:pt x="445389" y="795527"/>
                  </a:lnTo>
                  <a:lnTo>
                    <a:pt x="445389" y="0"/>
                  </a:lnTo>
                  <a:close/>
                </a:path>
              </a:pathLst>
            </a:custGeom>
            <a:solidFill>
              <a:srgbClr val="CFB0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7029" y="1650872"/>
              <a:ext cx="5082921" cy="79552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37029" y="1650873"/>
              <a:ext cx="5528310" cy="795655"/>
            </a:xfrm>
            <a:custGeom>
              <a:avLst/>
              <a:gdLst/>
              <a:ahLst/>
              <a:cxnLst/>
              <a:rect l="l" t="t" r="r" b="b"/>
              <a:pathLst>
                <a:path w="5528309" h="795655">
                  <a:moveTo>
                    <a:pt x="0" y="795527"/>
                  </a:moveTo>
                  <a:lnTo>
                    <a:pt x="5528310" y="795527"/>
                  </a:lnTo>
                  <a:lnTo>
                    <a:pt x="5528310" y="0"/>
                  </a:lnTo>
                  <a:lnTo>
                    <a:pt x="0" y="0"/>
                  </a:lnTo>
                  <a:lnTo>
                    <a:pt x="0" y="795527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2390" y="1143093"/>
              <a:ext cx="854913" cy="51717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06743" y="1745106"/>
              <a:ext cx="988060" cy="610870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5029961" y="2804922"/>
            <a:ext cx="3624579" cy="3326129"/>
            <a:chOff x="5029961" y="2804922"/>
            <a:chExt cx="3624579" cy="3326129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25994" y="3385313"/>
              <a:ext cx="828421" cy="52958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37962" y="2821051"/>
              <a:ext cx="3596640" cy="33020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037962" y="2812923"/>
              <a:ext cx="3596640" cy="3310254"/>
            </a:xfrm>
            <a:custGeom>
              <a:avLst/>
              <a:gdLst/>
              <a:ahLst/>
              <a:cxnLst/>
              <a:rect l="l" t="t" r="r" b="b"/>
              <a:pathLst>
                <a:path w="3596640" h="3310254">
                  <a:moveTo>
                    <a:pt x="0" y="3310128"/>
                  </a:moveTo>
                  <a:lnTo>
                    <a:pt x="3596640" y="3310128"/>
                  </a:lnTo>
                  <a:lnTo>
                    <a:pt x="3596640" y="0"/>
                  </a:lnTo>
                  <a:lnTo>
                    <a:pt x="0" y="0"/>
                  </a:lnTo>
                  <a:lnTo>
                    <a:pt x="0" y="3310128"/>
                  </a:lnTo>
                  <a:close/>
                </a:path>
              </a:pathLst>
            </a:custGeom>
            <a:ln w="16001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90615" y="3012947"/>
              <a:ext cx="2045207" cy="135559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58583" y="4501133"/>
              <a:ext cx="1450847" cy="152095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59501" y="4501133"/>
              <a:ext cx="1635251" cy="1367789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1001268" y="2787395"/>
            <a:ext cx="3127375" cy="3317875"/>
            <a:chOff x="1001268" y="2787395"/>
            <a:chExt cx="3127375" cy="3317875"/>
          </a:xfrm>
        </p:grpSpPr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9269" y="2807842"/>
              <a:ext cx="3111246" cy="32893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009269" y="2795396"/>
              <a:ext cx="3111500" cy="3302000"/>
            </a:xfrm>
            <a:custGeom>
              <a:avLst/>
              <a:gdLst/>
              <a:ahLst/>
              <a:cxnLst/>
              <a:rect l="l" t="t" r="r" b="b"/>
              <a:pathLst>
                <a:path w="3111500" h="3302000">
                  <a:moveTo>
                    <a:pt x="0" y="3301746"/>
                  </a:moveTo>
                  <a:lnTo>
                    <a:pt x="3111246" y="3301746"/>
                  </a:lnTo>
                  <a:lnTo>
                    <a:pt x="3111246" y="0"/>
                  </a:lnTo>
                  <a:lnTo>
                    <a:pt x="0" y="0"/>
                  </a:lnTo>
                  <a:lnTo>
                    <a:pt x="0" y="3301746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89532" y="4301489"/>
              <a:ext cx="955547" cy="166192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92986" y="2943605"/>
              <a:ext cx="1543799" cy="115823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2542" y="4357890"/>
              <a:ext cx="1037843" cy="153922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1754" y="6116573"/>
            <a:ext cx="8787130" cy="45275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080"/>
              </a:lnSpc>
              <a:spcBef>
                <a:spcPts val="235"/>
              </a:spcBef>
            </a:pPr>
            <a:r>
              <a:rPr sz="1000" dirty="0">
                <a:latin typeface="Calibri"/>
                <a:cs typeface="Calibri"/>
              </a:rPr>
              <a:t>Image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Credits,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clockwise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from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top: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Image Courtesy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5"/>
              </a:rPr>
              <a:t>Deeeep</a:t>
            </a:r>
            <a:r>
              <a:rPr sz="1000" spc="-10" dirty="0">
                <a:latin typeface="Calibri"/>
                <a:cs typeface="Calibri"/>
              </a:rPr>
              <a:t>,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CC-BY-</a:t>
            </a:r>
            <a:r>
              <a:rPr sz="1000" dirty="0">
                <a:latin typeface="Calibri"/>
                <a:cs typeface="Calibri"/>
              </a:rPr>
              <a:t>NC. Image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Image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Courtesy 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6"/>
              </a:rPr>
              <a:t>MTSOfan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CC-BY-NC-</a:t>
            </a:r>
            <a:r>
              <a:rPr sz="1000" dirty="0">
                <a:latin typeface="Calibri"/>
                <a:cs typeface="Calibri"/>
              </a:rPr>
              <a:t>SA.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Image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Courtesy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7"/>
              </a:rPr>
              <a:t>Carlos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7"/>
              </a:rPr>
              <a:t> 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7"/>
              </a:rPr>
              <a:t>Solana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license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CC-BY-NC-</a:t>
            </a:r>
            <a:r>
              <a:rPr sz="1000" spc="-25" dirty="0">
                <a:latin typeface="Calibri"/>
                <a:cs typeface="Calibri"/>
              </a:rPr>
              <a:t>SA.</a:t>
            </a:r>
            <a:r>
              <a:rPr sz="1000" dirty="0">
                <a:latin typeface="Calibri"/>
                <a:cs typeface="Calibri"/>
              </a:rPr>
              <a:t> Image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Courtesy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8"/>
              </a:rPr>
              <a:t>Rosemarie</a:t>
            </a:r>
            <a:r>
              <a:rPr sz="10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8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8"/>
              </a:rPr>
              <a:t>Banghart-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8"/>
              </a:rPr>
              <a:t>Kovic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license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CC-BY-NC-</a:t>
            </a:r>
            <a:r>
              <a:rPr sz="1000" dirty="0">
                <a:latin typeface="Calibri"/>
                <a:cs typeface="Calibri"/>
              </a:rPr>
              <a:t>SA.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Image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Courtesy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Paul</a:t>
            </a:r>
            <a:r>
              <a:rPr sz="10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Reynolds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license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CC-</a:t>
            </a:r>
            <a:r>
              <a:rPr sz="1000" dirty="0">
                <a:latin typeface="Calibri"/>
                <a:cs typeface="Calibri"/>
              </a:rPr>
              <a:t>BY.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Image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Courtesy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Kenny</a:t>
            </a:r>
            <a:r>
              <a:rPr sz="10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Louie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License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CC-</a:t>
            </a:r>
            <a:r>
              <a:rPr sz="1000" dirty="0">
                <a:latin typeface="Calibri"/>
                <a:cs typeface="Calibri"/>
              </a:rPr>
              <a:t>BY.</a:t>
            </a:r>
            <a:r>
              <a:rPr sz="1000" spc="-10" dirty="0">
                <a:latin typeface="Calibri"/>
                <a:cs typeface="Calibri"/>
              </a:rPr>
              <a:t> Courtesy 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Harald</a:t>
            </a:r>
            <a:r>
              <a:rPr sz="10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Wehner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public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Domain.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76059"/>
            <a:ext cx="9144000" cy="281940"/>
          </a:xfrm>
          <a:custGeom>
            <a:avLst/>
            <a:gdLst/>
            <a:ahLst/>
            <a:cxnLst/>
            <a:rect l="l" t="t" r="r" b="b"/>
            <a:pathLst>
              <a:path w="9144000" h="281940">
                <a:moveTo>
                  <a:pt x="0" y="281940"/>
                </a:moveTo>
                <a:lnTo>
                  <a:pt x="9144000" y="281940"/>
                </a:lnTo>
                <a:lnTo>
                  <a:pt x="9144000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313426" y="1837944"/>
            <a:ext cx="1503680" cy="1104265"/>
            <a:chOff x="5313426" y="1837944"/>
            <a:chExt cx="1503680" cy="1104265"/>
          </a:xfrm>
        </p:grpSpPr>
        <p:sp>
          <p:nvSpPr>
            <p:cNvPr id="5" name="object 5"/>
            <p:cNvSpPr/>
            <p:nvPr/>
          </p:nvSpPr>
          <p:spPr>
            <a:xfrm>
              <a:off x="5321427" y="1845945"/>
              <a:ext cx="1487805" cy="1088390"/>
            </a:xfrm>
            <a:custGeom>
              <a:avLst/>
              <a:gdLst/>
              <a:ahLst/>
              <a:cxnLst/>
              <a:rect l="l" t="t" r="r" b="b"/>
              <a:pathLst>
                <a:path w="1487804" h="1088389">
                  <a:moveTo>
                    <a:pt x="1487424" y="0"/>
                  </a:moveTo>
                  <a:lnTo>
                    <a:pt x="0" y="0"/>
                  </a:lnTo>
                  <a:lnTo>
                    <a:pt x="0" y="1088136"/>
                  </a:lnTo>
                  <a:lnTo>
                    <a:pt x="1487424" y="1088136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21427" y="1845945"/>
              <a:ext cx="1487805" cy="1088390"/>
            </a:xfrm>
            <a:custGeom>
              <a:avLst/>
              <a:gdLst/>
              <a:ahLst/>
              <a:cxnLst/>
              <a:rect l="l" t="t" r="r" b="b"/>
              <a:pathLst>
                <a:path w="1487804" h="1088389">
                  <a:moveTo>
                    <a:pt x="0" y="1088136"/>
                  </a:moveTo>
                  <a:lnTo>
                    <a:pt x="1487424" y="1088136"/>
                  </a:lnTo>
                  <a:lnTo>
                    <a:pt x="1487424" y="0"/>
                  </a:lnTo>
                  <a:lnTo>
                    <a:pt x="0" y="0"/>
                  </a:lnTo>
                  <a:lnTo>
                    <a:pt x="0" y="1088136"/>
                  </a:lnTo>
                  <a:close/>
                </a:path>
              </a:pathLst>
            </a:custGeom>
            <a:ln w="16001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583935" y="2158492"/>
            <a:ext cx="9639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0" dirty="0">
                <a:latin typeface="Calibri"/>
                <a:cs typeface="Calibri"/>
              </a:rPr>
              <a:t>Animal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72709" y="3161919"/>
            <a:ext cx="1487170" cy="1087755"/>
          </a:xfrm>
          <a:custGeom>
            <a:avLst/>
            <a:gdLst/>
            <a:ahLst/>
            <a:cxnLst/>
            <a:rect l="l" t="t" r="r" b="b"/>
            <a:pathLst>
              <a:path w="1487170" h="1087754">
                <a:moveTo>
                  <a:pt x="1486662" y="0"/>
                </a:moveTo>
                <a:lnTo>
                  <a:pt x="0" y="0"/>
                </a:lnTo>
                <a:lnTo>
                  <a:pt x="0" y="1087374"/>
                </a:lnTo>
                <a:lnTo>
                  <a:pt x="1486662" y="1087374"/>
                </a:lnTo>
                <a:lnTo>
                  <a:pt x="1486662" y="0"/>
                </a:lnTo>
                <a:close/>
              </a:path>
            </a:pathLst>
          </a:custGeom>
          <a:solidFill>
            <a:srgbClr val="FFF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72709" y="3161919"/>
            <a:ext cx="1487170" cy="1087755"/>
          </a:xfrm>
          <a:prstGeom prst="rect">
            <a:avLst/>
          </a:prstGeom>
          <a:solidFill>
            <a:srgbClr val="FFFFBF"/>
          </a:solidFill>
          <a:ln w="16001">
            <a:solidFill>
              <a:srgbClr val="3E3E3E"/>
            </a:solidFill>
          </a:ln>
        </p:spPr>
        <p:txBody>
          <a:bodyPr vert="horz" wrap="square" lIns="0" tIns="324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55"/>
              </a:spcBef>
            </a:pPr>
            <a:r>
              <a:rPr sz="2600" spc="-25" dirty="0">
                <a:latin typeface="Calibri"/>
                <a:cs typeface="Calibri"/>
              </a:rPr>
              <a:t>Cat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20915" y="3161919"/>
            <a:ext cx="1487170" cy="1087755"/>
          </a:xfrm>
          <a:prstGeom prst="rect">
            <a:avLst/>
          </a:prstGeom>
          <a:solidFill>
            <a:srgbClr val="BFEBFB"/>
          </a:solidFill>
          <a:ln w="16001">
            <a:solidFill>
              <a:srgbClr val="3E3E3E"/>
            </a:solidFill>
          </a:ln>
        </p:spPr>
        <p:txBody>
          <a:bodyPr vert="horz" wrap="square" lIns="0" tIns="324485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2555"/>
              </a:spcBef>
            </a:pPr>
            <a:r>
              <a:rPr sz="2600" spc="-10" dirty="0">
                <a:latin typeface="Calibri"/>
                <a:cs typeface="Calibri"/>
              </a:rPr>
              <a:t>Rabbit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5" dirty="0">
                <a:solidFill>
                  <a:srgbClr val="000000"/>
                </a:solidFill>
                <a:latin typeface="Calibri Light"/>
                <a:cs typeface="Calibri Light"/>
              </a:rPr>
              <a:t>HIERARCHIES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0259" y="1818385"/>
            <a:ext cx="1956435" cy="1313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 indent="-299720">
              <a:lnSpc>
                <a:spcPts val="2965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31242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parent</a:t>
            </a:r>
            <a:r>
              <a:rPr sz="2600" b="1" spc="-1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253365">
              <a:lnSpc>
                <a:spcPts val="2965"/>
              </a:lnSpc>
            </a:pPr>
            <a:r>
              <a:rPr sz="2600" spc="-10" dirty="0">
                <a:latin typeface="Calibri"/>
                <a:cs typeface="Calibri"/>
              </a:rPr>
              <a:t>(superclass)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child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1427" y="3066364"/>
            <a:ext cx="2667000" cy="2677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95"/>
              </a:spcBef>
            </a:pPr>
            <a:r>
              <a:rPr sz="2600" spc="-10" dirty="0">
                <a:latin typeface="Calibri"/>
                <a:cs typeface="Calibri"/>
              </a:rPr>
              <a:t>(subclass)</a:t>
            </a:r>
            <a:endParaRPr sz="2600">
              <a:latin typeface="Calibri"/>
              <a:cs typeface="Calibri"/>
            </a:endParaRPr>
          </a:p>
          <a:p>
            <a:pPr marL="195580" marR="403225" indent="-182880" algn="just">
              <a:lnSpc>
                <a:spcPts val="2590"/>
              </a:lnSpc>
              <a:spcBef>
                <a:spcPts val="450"/>
              </a:spcBef>
              <a:buFont typeface="Arial MT"/>
              <a:buChar char="•"/>
              <a:tabLst>
                <a:tab pos="195580" algn="l"/>
                <a:tab pos="262890" algn="l"/>
              </a:tabLst>
            </a:pPr>
            <a:r>
              <a:rPr sz="2400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inherits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behaviors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parent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</a:t>
            </a:r>
            <a:endParaRPr sz="24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spcBef>
                <a:spcPts val="280"/>
              </a:spcBef>
              <a:buClr>
                <a:srgbClr val="585858"/>
              </a:buClr>
              <a:buFont typeface="Arial MT"/>
              <a:buChar char="•"/>
              <a:tabLst>
                <a:tab pos="263525" algn="l"/>
              </a:tabLst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add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info</a:t>
            </a:r>
            <a:endParaRPr sz="24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263525" algn="l"/>
              </a:tabLst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add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behavior</a:t>
            </a:r>
            <a:endParaRPr sz="2400">
              <a:latin typeface="Calibri"/>
              <a:cs typeface="Calibri"/>
            </a:endParaRPr>
          </a:p>
          <a:p>
            <a:pPr marL="264160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264160" algn="l"/>
              </a:tabLst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override</a:t>
            </a:r>
            <a:r>
              <a:rPr sz="24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behavior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4503" y="3161919"/>
            <a:ext cx="1487170" cy="1087755"/>
          </a:xfrm>
          <a:prstGeom prst="rect">
            <a:avLst/>
          </a:prstGeom>
          <a:solidFill>
            <a:srgbClr val="BFEBD3"/>
          </a:solidFill>
          <a:ln w="16001">
            <a:solidFill>
              <a:srgbClr val="3E3E3E"/>
            </a:solidFill>
          </a:ln>
        </p:spPr>
        <p:txBody>
          <a:bodyPr vert="horz" wrap="square" lIns="0" tIns="324485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2555"/>
              </a:spcBef>
            </a:pPr>
            <a:r>
              <a:rPr sz="2600" spc="-10" dirty="0">
                <a:latin typeface="Calibri"/>
                <a:cs typeface="Calibri"/>
              </a:rPr>
              <a:t>Person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01109" y="4585334"/>
            <a:ext cx="1487805" cy="1088390"/>
          </a:xfrm>
          <a:prstGeom prst="rect">
            <a:avLst/>
          </a:prstGeom>
          <a:solidFill>
            <a:srgbClr val="FFBFBF"/>
          </a:solidFill>
          <a:ln w="16001">
            <a:solidFill>
              <a:srgbClr val="3E3E3E"/>
            </a:solidFill>
          </a:ln>
        </p:spPr>
        <p:txBody>
          <a:bodyPr vert="horz" wrap="square" lIns="0" tIns="325120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2560"/>
              </a:spcBef>
            </a:pPr>
            <a:r>
              <a:rPr sz="2600" spc="-10" dirty="0">
                <a:latin typeface="Calibri"/>
                <a:cs typeface="Calibri"/>
              </a:rPr>
              <a:t>Student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62246" y="2390012"/>
            <a:ext cx="559435" cy="775970"/>
          </a:xfrm>
          <a:custGeom>
            <a:avLst/>
            <a:gdLst/>
            <a:ahLst/>
            <a:cxnLst/>
            <a:rect l="l" t="t" r="r" b="b"/>
            <a:pathLst>
              <a:path w="559435" h="775969">
                <a:moveTo>
                  <a:pt x="509502" y="58045"/>
                </a:moveTo>
                <a:lnTo>
                  <a:pt x="0" y="767968"/>
                </a:lnTo>
                <a:lnTo>
                  <a:pt x="10413" y="775588"/>
                </a:lnTo>
                <a:lnTo>
                  <a:pt x="520063" y="65635"/>
                </a:lnTo>
                <a:lnTo>
                  <a:pt x="509502" y="58045"/>
                </a:lnTo>
                <a:close/>
              </a:path>
              <a:path w="559435" h="775969">
                <a:moveTo>
                  <a:pt x="551534" y="47751"/>
                </a:moveTo>
                <a:lnTo>
                  <a:pt x="516889" y="47751"/>
                </a:lnTo>
                <a:lnTo>
                  <a:pt x="527430" y="55371"/>
                </a:lnTo>
                <a:lnTo>
                  <a:pt x="520063" y="65635"/>
                </a:lnTo>
                <a:lnTo>
                  <a:pt x="545718" y="84073"/>
                </a:lnTo>
                <a:lnTo>
                  <a:pt x="551534" y="47751"/>
                </a:lnTo>
                <a:close/>
              </a:path>
              <a:path w="559435" h="775969">
                <a:moveTo>
                  <a:pt x="516889" y="47751"/>
                </a:moveTo>
                <a:lnTo>
                  <a:pt x="509502" y="58045"/>
                </a:lnTo>
                <a:lnTo>
                  <a:pt x="520063" y="65635"/>
                </a:lnTo>
                <a:lnTo>
                  <a:pt x="527430" y="55371"/>
                </a:lnTo>
                <a:lnTo>
                  <a:pt x="516889" y="47751"/>
                </a:lnTo>
                <a:close/>
              </a:path>
              <a:path w="559435" h="775969">
                <a:moveTo>
                  <a:pt x="559180" y="0"/>
                </a:moveTo>
                <a:lnTo>
                  <a:pt x="483869" y="39623"/>
                </a:lnTo>
                <a:lnTo>
                  <a:pt x="509502" y="58045"/>
                </a:lnTo>
                <a:lnTo>
                  <a:pt x="516889" y="47751"/>
                </a:lnTo>
                <a:lnTo>
                  <a:pt x="551534" y="47751"/>
                </a:lnTo>
                <a:lnTo>
                  <a:pt x="55918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65139" y="2934080"/>
            <a:ext cx="354330" cy="233679"/>
          </a:xfrm>
          <a:custGeom>
            <a:avLst/>
            <a:gdLst/>
            <a:ahLst/>
            <a:cxnLst/>
            <a:rect l="l" t="t" r="r" b="b"/>
            <a:pathLst>
              <a:path w="354329" h="233680">
                <a:moveTo>
                  <a:pt x="67470" y="36169"/>
                </a:moveTo>
                <a:lnTo>
                  <a:pt x="60425" y="47004"/>
                </a:lnTo>
                <a:lnTo>
                  <a:pt x="347217" y="233425"/>
                </a:lnTo>
                <a:lnTo>
                  <a:pt x="354202" y="222630"/>
                </a:lnTo>
                <a:lnTo>
                  <a:pt x="67470" y="36169"/>
                </a:lnTo>
                <a:close/>
              </a:path>
              <a:path w="354329" h="233680">
                <a:moveTo>
                  <a:pt x="0" y="0"/>
                </a:moveTo>
                <a:lnTo>
                  <a:pt x="43179" y="73532"/>
                </a:lnTo>
                <a:lnTo>
                  <a:pt x="60425" y="47004"/>
                </a:lnTo>
                <a:lnTo>
                  <a:pt x="49656" y="40004"/>
                </a:lnTo>
                <a:lnTo>
                  <a:pt x="56768" y="29209"/>
                </a:lnTo>
                <a:lnTo>
                  <a:pt x="71994" y="29209"/>
                </a:lnTo>
                <a:lnTo>
                  <a:pt x="84708" y="9651"/>
                </a:lnTo>
                <a:lnTo>
                  <a:pt x="0" y="0"/>
                </a:lnTo>
                <a:close/>
              </a:path>
              <a:path w="354329" h="233680">
                <a:moveTo>
                  <a:pt x="56768" y="29209"/>
                </a:moveTo>
                <a:lnTo>
                  <a:pt x="49656" y="40004"/>
                </a:lnTo>
                <a:lnTo>
                  <a:pt x="60425" y="47004"/>
                </a:lnTo>
                <a:lnTo>
                  <a:pt x="67470" y="36169"/>
                </a:lnTo>
                <a:lnTo>
                  <a:pt x="56768" y="29209"/>
                </a:lnTo>
                <a:close/>
              </a:path>
              <a:path w="354329" h="233680">
                <a:moveTo>
                  <a:pt x="71994" y="29209"/>
                </a:moveTo>
                <a:lnTo>
                  <a:pt x="56768" y="29209"/>
                </a:lnTo>
                <a:lnTo>
                  <a:pt x="67470" y="36169"/>
                </a:lnTo>
                <a:lnTo>
                  <a:pt x="71994" y="29209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08851" y="2390012"/>
            <a:ext cx="1259205" cy="777875"/>
          </a:xfrm>
          <a:custGeom>
            <a:avLst/>
            <a:gdLst/>
            <a:ahLst/>
            <a:cxnLst/>
            <a:rect l="l" t="t" r="r" b="b"/>
            <a:pathLst>
              <a:path w="1259204" h="777875">
                <a:moveTo>
                  <a:pt x="68342" y="34333"/>
                </a:moveTo>
                <a:lnTo>
                  <a:pt x="61534" y="45412"/>
                </a:lnTo>
                <a:lnTo>
                  <a:pt x="1252093" y="777366"/>
                </a:lnTo>
                <a:lnTo>
                  <a:pt x="1258824" y="766317"/>
                </a:lnTo>
                <a:lnTo>
                  <a:pt x="68342" y="34333"/>
                </a:lnTo>
                <a:close/>
              </a:path>
              <a:path w="1259204" h="777875">
                <a:moveTo>
                  <a:pt x="0" y="0"/>
                </a:moveTo>
                <a:lnTo>
                  <a:pt x="44958" y="72389"/>
                </a:lnTo>
                <a:lnTo>
                  <a:pt x="61534" y="45412"/>
                </a:lnTo>
                <a:lnTo>
                  <a:pt x="50673" y="38734"/>
                </a:lnTo>
                <a:lnTo>
                  <a:pt x="57531" y="27685"/>
                </a:lnTo>
                <a:lnTo>
                  <a:pt x="72427" y="27685"/>
                </a:lnTo>
                <a:lnTo>
                  <a:pt x="84836" y="7492"/>
                </a:lnTo>
                <a:lnTo>
                  <a:pt x="0" y="0"/>
                </a:lnTo>
                <a:close/>
              </a:path>
              <a:path w="1259204" h="777875">
                <a:moveTo>
                  <a:pt x="57531" y="27685"/>
                </a:moveTo>
                <a:lnTo>
                  <a:pt x="50673" y="38734"/>
                </a:lnTo>
                <a:lnTo>
                  <a:pt x="61534" y="45412"/>
                </a:lnTo>
                <a:lnTo>
                  <a:pt x="68342" y="34333"/>
                </a:lnTo>
                <a:lnTo>
                  <a:pt x="57531" y="27685"/>
                </a:lnTo>
                <a:close/>
              </a:path>
              <a:path w="1259204" h="777875">
                <a:moveTo>
                  <a:pt x="72427" y="27685"/>
                </a:moveTo>
                <a:lnTo>
                  <a:pt x="57531" y="27685"/>
                </a:lnTo>
                <a:lnTo>
                  <a:pt x="68342" y="34333"/>
                </a:lnTo>
                <a:lnTo>
                  <a:pt x="72427" y="27685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67452" y="4249292"/>
            <a:ext cx="282575" cy="340995"/>
          </a:xfrm>
          <a:custGeom>
            <a:avLst/>
            <a:gdLst/>
            <a:ahLst/>
            <a:cxnLst/>
            <a:rect l="l" t="t" r="r" b="b"/>
            <a:pathLst>
              <a:path w="282575" h="340995">
                <a:moveTo>
                  <a:pt x="53388" y="54726"/>
                </a:moveTo>
                <a:lnTo>
                  <a:pt x="43427" y="62945"/>
                </a:lnTo>
                <a:lnTo>
                  <a:pt x="272034" y="340487"/>
                </a:lnTo>
                <a:lnTo>
                  <a:pt x="282067" y="332232"/>
                </a:lnTo>
                <a:lnTo>
                  <a:pt x="53388" y="54726"/>
                </a:lnTo>
                <a:close/>
              </a:path>
              <a:path w="282575" h="340995">
                <a:moveTo>
                  <a:pt x="0" y="0"/>
                </a:moveTo>
                <a:lnTo>
                  <a:pt x="19050" y="83058"/>
                </a:lnTo>
                <a:lnTo>
                  <a:pt x="43427" y="62945"/>
                </a:lnTo>
                <a:lnTo>
                  <a:pt x="35306" y="53086"/>
                </a:lnTo>
                <a:lnTo>
                  <a:pt x="45339" y="44958"/>
                </a:lnTo>
                <a:lnTo>
                  <a:pt x="65228" y="44958"/>
                </a:lnTo>
                <a:lnTo>
                  <a:pt x="77851" y="34544"/>
                </a:lnTo>
                <a:lnTo>
                  <a:pt x="0" y="0"/>
                </a:lnTo>
                <a:close/>
              </a:path>
              <a:path w="282575" h="340995">
                <a:moveTo>
                  <a:pt x="45339" y="44958"/>
                </a:moveTo>
                <a:lnTo>
                  <a:pt x="35306" y="53086"/>
                </a:lnTo>
                <a:lnTo>
                  <a:pt x="43427" y="62945"/>
                </a:lnTo>
                <a:lnTo>
                  <a:pt x="53388" y="54726"/>
                </a:lnTo>
                <a:lnTo>
                  <a:pt x="45339" y="44958"/>
                </a:lnTo>
                <a:close/>
              </a:path>
              <a:path w="282575" h="340995">
                <a:moveTo>
                  <a:pt x="65228" y="44958"/>
                </a:moveTo>
                <a:lnTo>
                  <a:pt x="45339" y="44958"/>
                </a:lnTo>
                <a:lnTo>
                  <a:pt x="53388" y="54726"/>
                </a:lnTo>
                <a:lnTo>
                  <a:pt x="65228" y="44958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76059"/>
            <a:ext cx="9144000" cy="281940"/>
          </a:xfrm>
          <a:custGeom>
            <a:avLst/>
            <a:gdLst/>
            <a:ahLst/>
            <a:cxnLst/>
            <a:rect l="l" t="t" r="r" b="b"/>
            <a:pathLst>
              <a:path w="9144000" h="281940">
                <a:moveTo>
                  <a:pt x="0" y="281940"/>
                </a:moveTo>
                <a:lnTo>
                  <a:pt x="9144000" y="281940"/>
                </a:lnTo>
                <a:lnTo>
                  <a:pt x="9144000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291845"/>
            <a:ext cx="3482975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z="4800" spc="-40" dirty="0">
                <a:solidFill>
                  <a:srgbClr val="000000"/>
                </a:solidFill>
                <a:latin typeface="Calibri Light"/>
                <a:cs typeface="Calibri Light"/>
              </a:rPr>
              <a:t>INHERITANCE: </a:t>
            </a:r>
            <a:r>
              <a:rPr sz="4800" spc="-110" dirty="0">
                <a:solidFill>
                  <a:srgbClr val="000000"/>
                </a:solidFill>
                <a:latin typeface="Calibri Light"/>
                <a:cs typeface="Calibri Light"/>
              </a:rPr>
              <a:t>PARENT</a:t>
            </a:r>
            <a:r>
              <a:rPr sz="4800" spc="-1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45" dirty="0">
                <a:solidFill>
                  <a:srgbClr val="000000"/>
                </a:solidFill>
                <a:latin typeface="Calibri Light"/>
                <a:cs typeface="Calibri Light"/>
              </a:rPr>
              <a:t>CLASS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320"/>
              </a:spcBef>
            </a:pPr>
            <a:r>
              <a:rPr dirty="0">
                <a:latin typeface="Courier New"/>
                <a:cs typeface="Courier New"/>
              </a:rPr>
              <a:t>class</a:t>
            </a:r>
            <a:r>
              <a:rPr spc="-4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Animal(object):</a:t>
            </a:r>
          </a:p>
          <a:p>
            <a:pPr marL="1104900" marR="3963670" indent="-546735">
              <a:lnSpc>
                <a:spcPct val="110000"/>
              </a:lnSpc>
            </a:pPr>
            <a:r>
              <a:rPr dirty="0">
                <a:latin typeface="Courier New"/>
                <a:cs typeface="Courier New"/>
              </a:rPr>
              <a:t>def</a:t>
            </a:r>
            <a:r>
              <a:rPr spc="-35" dirty="0">
                <a:latin typeface="Courier New"/>
                <a:cs typeface="Courier New"/>
              </a:rPr>
              <a:t> </a:t>
            </a:r>
            <a:r>
              <a:rPr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dirty="0">
                <a:latin typeface="Courier New"/>
                <a:cs typeface="Courier New"/>
              </a:rPr>
              <a:t>init</a:t>
            </a:r>
            <a:r>
              <a:rPr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dirty="0">
                <a:latin typeface="Courier New"/>
                <a:cs typeface="Courier New"/>
              </a:rPr>
              <a:t>(self,</a:t>
            </a:r>
            <a:r>
              <a:rPr spc="-20" dirty="0">
                <a:latin typeface="Courier New"/>
                <a:cs typeface="Courier New"/>
              </a:rPr>
              <a:t> age): </a:t>
            </a:r>
            <a:r>
              <a:rPr dirty="0">
                <a:latin typeface="Courier New"/>
                <a:cs typeface="Courier New"/>
              </a:rPr>
              <a:t>self.age</a:t>
            </a:r>
            <a:r>
              <a:rPr spc="-4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45" dirty="0">
                <a:latin typeface="Courier New"/>
                <a:cs typeface="Courier New"/>
              </a:rPr>
              <a:t> </a:t>
            </a:r>
            <a:r>
              <a:rPr spc="-25" dirty="0">
                <a:latin typeface="Courier New"/>
                <a:cs typeface="Courier New"/>
              </a:rPr>
              <a:t>age </a:t>
            </a:r>
            <a:r>
              <a:rPr dirty="0">
                <a:latin typeface="Courier New"/>
                <a:cs typeface="Courier New"/>
              </a:rPr>
              <a:t>self.name</a:t>
            </a:r>
            <a:r>
              <a:rPr spc="-5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50" dirty="0">
                <a:latin typeface="Courier New"/>
                <a:cs typeface="Courier New"/>
              </a:rPr>
              <a:t> </a:t>
            </a:r>
            <a:r>
              <a:rPr spc="-20" dirty="0">
                <a:latin typeface="Courier New"/>
                <a:cs typeface="Courier New"/>
              </a:rPr>
              <a:t>None</a:t>
            </a:r>
          </a:p>
          <a:p>
            <a:pPr marL="1104900" marR="4646930" indent="-546735">
              <a:lnSpc>
                <a:spcPct val="110000"/>
              </a:lnSpc>
            </a:pPr>
            <a:r>
              <a:rPr dirty="0">
                <a:latin typeface="Courier New"/>
                <a:cs typeface="Courier New"/>
              </a:rPr>
              <a:t>def</a:t>
            </a:r>
            <a:r>
              <a:rPr spc="-2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get_age(self): </a:t>
            </a:r>
            <a:r>
              <a:rPr dirty="0">
                <a:latin typeface="Courier New"/>
                <a:cs typeface="Courier New"/>
              </a:rPr>
              <a:t>return</a:t>
            </a:r>
            <a:r>
              <a:rPr spc="-60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self.age</a:t>
            </a:r>
          </a:p>
          <a:p>
            <a:pPr marL="1104900" marR="4509770" indent="-546735">
              <a:lnSpc>
                <a:spcPct val="110000"/>
              </a:lnSpc>
            </a:pPr>
            <a:r>
              <a:rPr dirty="0">
                <a:latin typeface="Courier New"/>
                <a:cs typeface="Courier New"/>
              </a:rPr>
              <a:t>def</a:t>
            </a:r>
            <a:r>
              <a:rPr spc="-2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get_name(self): </a:t>
            </a:r>
            <a:r>
              <a:rPr dirty="0">
                <a:latin typeface="Courier New"/>
                <a:cs typeface="Courier New"/>
              </a:rPr>
              <a:t>return</a:t>
            </a:r>
            <a:r>
              <a:rPr spc="-70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self.name</a:t>
            </a:r>
          </a:p>
          <a:p>
            <a:pPr marL="1104900" marR="3692525" indent="-546735">
              <a:lnSpc>
                <a:spcPct val="110000"/>
              </a:lnSpc>
            </a:pPr>
            <a:r>
              <a:rPr dirty="0">
                <a:latin typeface="Courier New"/>
                <a:cs typeface="Courier New"/>
              </a:rPr>
              <a:t>def</a:t>
            </a:r>
            <a:r>
              <a:rPr spc="-7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set_age(self,</a:t>
            </a:r>
            <a:r>
              <a:rPr spc="-70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newage): </a:t>
            </a:r>
            <a:r>
              <a:rPr dirty="0">
                <a:latin typeface="Courier New"/>
                <a:cs typeface="Courier New"/>
              </a:rPr>
              <a:t>self.age</a:t>
            </a:r>
            <a:r>
              <a:rPr spc="-4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4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newage</a:t>
            </a:r>
          </a:p>
          <a:p>
            <a:pPr marL="1104900" marR="3008630" indent="-546735">
              <a:lnSpc>
                <a:spcPct val="110000"/>
              </a:lnSpc>
            </a:pPr>
            <a:r>
              <a:rPr dirty="0">
                <a:latin typeface="Courier New"/>
                <a:cs typeface="Courier New"/>
              </a:rPr>
              <a:t>def</a:t>
            </a:r>
            <a:r>
              <a:rPr spc="-9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set_name(self,</a:t>
            </a:r>
            <a:r>
              <a:rPr spc="-7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newname=""): </a:t>
            </a:r>
            <a:r>
              <a:rPr dirty="0">
                <a:latin typeface="Courier New"/>
                <a:cs typeface="Courier New"/>
              </a:rPr>
              <a:t>self.name</a:t>
            </a:r>
            <a:r>
              <a:rPr spc="-5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5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newname</a:t>
            </a:r>
          </a:p>
          <a:p>
            <a:pPr marL="558165">
              <a:lnSpc>
                <a:spcPct val="100000"/>
              </a:lnSpc>
              <a:spcBef>
                <a:spcPts val="219"/>
              </a:spcBef>
            </a:pPr>
            <a:r>
              <a:rPr dirty="0">
                <a:latin typeface="Courier New"/>
                <a:cs typeface="Courier New"/>
              </a:rPr>
              <a:t>def</a:t>
            </a:r>
            <a:r>
              <a:rPr spc="-15" dirty="0">
                <a:latin typeface="Courier New"/>
                <a:cs typeface="Courier New"/>
              </a:rPr>
              <a:t> </a:t>
            </a:r>
            <a:r>
              <a:rPr u="sng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dirty="0">
                <a:latin typeface="Courier New"/>
                <a:cs typeface="Courier New"/>
              </a:rPr>
              <a:t>str</a:t>
            </a:r>
            <a:r>
              <a:rPr u="sng" spc="-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pc="-10" dirty="0">
                <a:latin typeface="Courier New"/>
                <a:cs typeface="Courier New"/>
              </a:rPr>
              <a:t>(self):</a:t>
            </a:r>
          </a:p>
          <a:p>
            <a:pPr marL="1104900">
              <a:lnSpc>
                <a:spcPct val="100000"/>
              </a:lnSpc>
              <a:spcBef>
                <a:spcPts val="215"/>
              </a:spcBef>
            </a:pPr>
            <a:r>
              <a:rPr dirty="0">
                <a:latin typeface="Courier New"/>
                <a:cs typeface="Courier New"/>
              </a:rPr>
              <a:t>return</a:t>
            </a:r>
            <a:r>
              <a:rPr spc="-60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"animal:"+str(self.name)+":"+str(self.age)</a:t>
            </a:r>
          </a:p>
        </p:txBody>
      </p:sp>
      <p:sp>
        <p:nvSpPr>
          <p:cNvPr id="6" name="object 6"/>
          <p:cNvSpPr/>
          <p:nvPr/>
        </p:nvSpPr>
        <p:spPr>
          <a:xfrm>
            <a:off x="4394453" y="3099435"/>
            <a:ext cx="52705" cy="36195"/>
          </a:xfrm>
          <a:custGeom>
            <a:avLst/>
            <a:gdLst/>
            <a:ahLst/>
            <a:cxnLst/>
            <a:rect l="l" t="t" r="r" b="b"/>
            <a:pathLst>
              <a:path w="52704" h="36194">
                <a:moveTo>
                  <a:pt x="45465" y="0"/>
                </a:moveTo>
                <a:lnTo>
                  <a:pt x="44449" y="0"/>
                </a:lnTo>
                <a:lnTo>
                  <a:pt x="43941" y="127"/>
                </a:lnTo>
                <a:lnTo>
                  <a:pt x="761" y="22479"/>
                </a:lnTo>
                <a:lnTo>
                  <a:pt x="126" y="23495"/>
                </a:lnTo>
                <a:lnTo>
                  <a:pt x="0" y="24765"/>
                </a:lnTo>
                <a:lnTo>
                  <a:pt x="0" y="26035"/>
                </a:lnTo>
                <a:lnTo>
                  <a:pt x="634" y="27940"/>
                </a:lnTo>
                <a:lnTo>
                  <a:pt x="3174" y="33020"/>
                </a:lnTo>
                <a:lnTo>
                  <a:pt x="4444" y="34544"/>
                </a:lnTo>
                <a:lnTo>
                  <a:pt x="6603" y="36068"/>
                </a:lnTo>
                <a:lnTo>
                  <a:pt x="7746" y="36068"/>
                </a:lnTo>
                <a:lnTo>
                  <a:pt x="50418" y="13970"/>
                </a:lnTo>
                <a:lnTo>
                  <a:pt x="51561" y="13462"/>
                </a:lnTo>
                <a:lnTo>
                  <a:pt x="52196" y="12446"/>
                </a:lnTo>
                <a:lnTo>
                  <a:pt x="52196" y="11176"/>
                </a:lnTo>
                <a:lnTo>
                  <a:pt x="52323" y="9906"/>
                </a:lnTo>
                <a:lnTo>
                  <a:pt x="51688" y="8001"/>
                </a:lnTo>
                <a:lnTo>
                  <a:pt x="50291" y="5334"/>
                </a:lnTo>
                <a:lnTo>
                  <a:pt x="49656" y="4064"/>
                </a:lnTo>
                <a:lnTo>
                  <a:pt x="49021" y="3048"/>
                </a:lnTo>
                <a:lnTo>
                  <a:pt x="47878" y="1524"/>
                </a:lnTo>
                <a:lnTo>
                  <a:pt x="46100" y="127"/>
                </a:lnTo>
                <a:lnTo>
                  <a:pt x="4546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500084" y="2061083"/>
            <a:ext cx="2372360" cy="2088514"/>
            <a:chOff x="4500084" y="2061083"/>
            <a:chExt cx="2372360" cy="2088514"/>
          </a:xfrm>
        </p:grpSpPr>
        <p:sp>
          <p:nvSpPr>
            <p:cNvPr id="8" name="object 8"/>
            <p:cNvSpPr/>
            <p:nvPr/>
          </p:nvSpPr>
          <p:spPr>
            <a:xfrm>
              <a:off x="4521326" y="3344291"/>
              <a:ext cx="52705" cy="36195"/>
            </a:xfrm>
            <a:custGeom>
              <a:avLst/>
              <a:gdLst/>
              <a:ahLst/>
              <a:cxnLst/>
              <a:rect l="l" t="t" r="r" b="b"/>
              <a:pathLst>
                <a:path w="52704" h="36195">
                  <a:moveTo>
                    <a:pt x="45465" y="0"/>
                  </a:moveTo>
                  <a:lnTo>
                    <a:pt x="44957" y="127"/>
                  </a:lnTo>
                  <a:lnTo>
                    <a:pt x="44449" y="127"/>
                  </a:lnTo>
                  <a:lnTo>
                    <a:pt x="43306" y="508"/>
                  </a:lnTo>
                  <a:lnTo>
                    <a:pt x="761" y="22606"/>
                  </a:lnTo>
                  <a:lnTo>
                    <a:pt x="126" y="23495"/>
                  </a:lnTo>
                  <a:lnTo>
                    <a:pt x="0" y="24892"/>
                  </a:lnTo>
                  <a:lnTo>
                    <a:pt x="0" y="26162"/>
                  </a:lnTo>
                  <a:lnTo>
                    <a:pt x="7746" y="36195"/>
                  </a:lnTo>
                  <a:lnTo>
                    <a:pt x="51561" y="13462"/>
                  </a:lnTo>
                  <a:lnTo>
                    <a:pt x="52069" y="12573"/>
                  </a:lnTo>
                  <a:lnTo>
                    <a:pt x="52323" y="10033"/>
                  </a:lnTo>
                  <a:lnTo>
                    <a:pt x="51688" y="8001"/>
                  </a:lnTo>
                  <a:lnTo>
                    <a:pt x="50291" y="5461"/>
                  </a:lnTo>
                  <a:lnTo>
                    <a:pt x="49656" y="4191"/>
                  </a:lnTo>
                  <a:lnTo>
                    <a:pt x="49021" y="3175"/>
                  </a:lnTo>
                  <a:lnTo>
                    <a:pt x="47878" y="1651"/>
                  </a:lnTo>
                  <a:lnTo>
                    <a:pt x="47243" y="1016"/>
                  </a:lnTo>
                  <a:lnTo>
                    <a:pt x="46100" y="254"/>
                  </a:lnTo>
                  <a:lnTo>
                    <a:pt x="454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084" y="2061083"/>
              <a:ext cx="2371758" cy="2088007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2620898" y="1845945"/>
            <a:ext cx="2465070" cy="376555"/>
          </a:xfrm>
          <a:custGeom>
            <a:avLst/>
            <a:gdLst/>
            <a:ahLst/>
            <a:cxnLst/>
            <a:rect l="l" t="t" r="r" b="b"/>
            <a:pathLst>
              <a:path w="2465070" h="376555">
                <a:moveTo>
                  <a:pt x="0" y="376427"/>
                </a:moveTo>
                <a:lnTo>
                  <a:pt x="2465070" y="376427"/>
                </a:lnTo>
                <a:lnTo>
                  <a:pt x="2465070" y="0"/>
                </a:lnTo>
                <a:lnTo>
                  <a:pt x="0" y="0"/>
                </a:lnTo>
                <a:lnTo>
                  <a:pt x="0" y="376427"/>
                </a:lnTo>
                <a:close/>
              </a:path>
            </a:pathLst>
          </a:custGeom>
          <a:ln w="1600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16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76059"/>
            <a:ext cx="9144000" cy="281940"/>
          </a:xfrm>
          <a:custGeom>
            <a:avLst/>
            <a:gdLst/>
            <a:ahLst/>
            <a:cxnLst/>
            <a:rect l="l" t="t" r="r" b="b"/>
            <a:pathLst>
              <a:path w="9144000" h="281940">
                <a:moveTo>
                  <a:pt x="0" y="281940"/>
                </a:moveTo>
                <a:lnTo>
                  <a:pt x="9144000" y="281940"/>
                </a:lnTo>
                <a:lnTo>
                  <a:pt x="9144000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95350" y="232537"/>
            <a:ext cx="7475220" cy="1508760"/>
            <a:chOff x="895350" y="232537"/>
            <a:chExt cx="7475220" cy="1508760"/>
          </a:xfrm>
        </p:grpSpPr>
        <p:sp>
          <p:nvSpPr>
            <p:cNvPr id="4" name="object 4"/>
            <p:cNvSpPr/>
            <p:nvPr/>
          </p:nvSpPr>
          <p:spPr>
            <a:xfrm>
              <a:off x="895350" y="1738122"/>
              <a:ext cx="7475220" cy="0"/>
            </a:xfrm>
            <a:custGeom>
              <a:avLst/>
              <a:gdLst/>
              <a:ahLst/>
              <a:cxnLst/>
              <a:rect l="l" t="t" r="r" b="b"/>
              <a:pathLst>
                <a:path w="7475220">
                  <a:moveTo>
                    <a:pt x="0" y="0"/>
                  </a:moveTo>
                  <a:lnTo>
                    <a:pt x="747522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8952" y="607060"/>
              <a:ext cx="1954783" cy="11262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9550" y="232537"/>
              <a:ext cx="804545" cy="48361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291845"/>
            <a:ext cx="3409315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z="4800" spc="-85" dirty="0">
                <a:solidFill>
                  <a:srgbClr val="000000"/>
                </a:solidFill>
                <a:latin typeface="Calibri Light"/>
                <a:cs typeface="Calibri Light"/>
              </a:rPr>
              <a:t>INHERITANCE: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SUBCLASS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6613" y="1893061"/>
            <a:ext cx="2484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class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Cat(Animal):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4223" y="2233802"/>
            <a:ext cx="3737610" cy="37655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ourier New"/>
                <a:cs typeface="Courier New"/>
              </a:rPr>
              <a:t>def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speak(self):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9576" y="2551938"/>
            <a:ext cx="1802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print("meow")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4223" y="2851785"/>
            <a:ext cx="2638425" cy="37655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Courier New"/>
                <a:cs typeface="Courier New"/>
              </a:rPr>
              <a:t>def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dirty="0">
                <a:latin typeface="Courier New"/>
                <a:cs typeface="Courier New"/>
              </a:rPr>
              <a:t>str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spc="-10" dirty="0">
                <a:latin typeface="Courier New"/>
                <a:cs typeface="Courier New"/>
              </a:rPr>
              <a:t>(self):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9576" y="3210305"/>
            <a:ext cx="6308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return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"cat:"+str(self.name)+":"+str(self.age)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0259" y="4339589"/>
            <a:ext cx="7604125" cy="2101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9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add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new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functionality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speak()</a:t>
            </a:r>
            <a:endParaRPr sz="2600">
              <a:latin typeface="Courier New"/>
              <a:cs typeface="Courier New"/>
            </a:endParaRPr>
          </a:p>
          <a:p>
            <a:pPr marL="464820" lvl="1" indent="-251460">
              <a:lnSpc>
                <a:spcPct val="100000"/>
              </a:lnSpc>
              <a:spcBef>
                <a:spcPts val="14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Cat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methods</a:t>
            </a:r>
            <a:endParaRPr sz="2400">
              <a:latin typeface="Calibri"/>
              <a:cs typeface="Calibri"/>
            </a:endParaRPr>
          </a:p>
          <a:p>
            <a:pPr marL="394970" marR="5080" lvl="1" indent="-181610">
              <a:lnSpc>
                <a:spcPts val="2580"/>
              </a:lnSpc>
              <a:spcBef>
                <a:spcPts val="675"/>
              </a:spcBef>
              <a:buClr>
                <a:srgbClr val="585858"/>
              </a:buClr>
              <a:buFont typeface="Arial MT"/>
              <a:buChar char="•"/>
              <a:tabLst>
                <a:tab pos="396240" algn="l"/>
              </a:tabLst>
            </a:pP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Animal</a:t>
            </a:r>
            <a:r>
              <a:rPr sz="2400" spc="-919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throws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Cat</a:t>
            </a:r>
            <a:r>
              <a:rPr sz="2400" spc="-10" dirty="0">
                <a:latin typeface="Calibri"/>
                <a:cs typeface="Calibri"/>
              </a:rPr>
              <a:t>’s 	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method</a:t>
            </a:r>
            <a:endParaRPr sz="24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25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  <a:tab pos="2013585" algn="l"/>
              </a:tabLst>
            </a:pP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600" spc="-20" dirty="0">
                <a:latin typeface="Courier New"/>
                <a:cs typeface="Courier New"/>
              </a:rPr>
              <a:t>init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	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missing,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Animal</a:t>
            </a:r>
            <a:r>
              <a:rPr sz="2600" spc="-960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alibri"/>
                <a:cs typeface="Calibri"/>
              </a:rPr>
              <a:t>version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44520" y="1855851"/>
            <a:ext cx="1916430" cy="326390"/>
          </a:xfrm>
          <a:custGeom>
            <a:avLst/>
            <a:gdLst/>
            <a:ahLst/>
            <a:cxnLst/>
            <a:rect l="l" t="t" r="r" b="b"/>
            <a:pathLst>
              <a:path w="1916429" h="326389">
                <a:moveTo>
                  <a:pt x="0" y="326136"/>
                </a:moveTo>
                <a:lnTo>
                  <a:pt x="1916430" y="326136"/>
                </a:lnTo>
                <a:lnTo>
                  <a:pt x="1916430" y="0"/>
                </a:lnTo>
                <a:lnTo>
                  <a:pt x="0" y="0"/>
                </a:lnTo>
                <a:lnTo>
                  <a:pt x="0" y="326136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6621526" y="476631"/>
            <a:ext cx="2147570" cy="1591945"/>
            <a:chOff x="6621526" y="476631"/>
            <a:chExt cx="2147570" cy="159194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1526" y="525906"/>
              <a:ext cx="1215405" cy="154216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2106" y="476631"/>
              <a:ext cx="1056957" cy="855472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9328" y="3524250"/>
            <a:ext cx="1479486" cy="71246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4909" y="2451608"/>
            <a:ext cx="1463103" cy="995552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17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76059"/>
            <a:ext cx="9144000" cy="281940"/>
          </a:xfrm>
          <a:custGeom>
            <a:avLst/>
            <a:gdLst/>
            <a:ahLst/>
            <a:cxnLst/>
            <a:rect l="l" t="t" r="r" b="b"/>
            <a:pathLst>
              <a:path w="9144000" h="281940">
                <a:moveTo>
                  <a:pt x="0" y="281940"/>
                </a:moveTo>
                <a:lnTo>
                  <a:pt x="9144000" y="281940"/>
                </a:lnTo>
                <a:lnTo>
                  <a:pt x="9144000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7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5" dirty="0">
                <a:solidFill>
                  <a:srgbClr val="000000"/>
                </a:solidFill>
                <a:latin typeface="Calibri Light"/>
                <a:cs typeface="Calibri Light"/>
              </a:rPr>
              <a:t>WHICH</a:t>
            </a:r>
            <a:r>
              <a:rPr sz="4800" spc="-2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35" dirty="0">
                <a:solidFill>
                  <a:srgbClr val="000000"/>
                </a:solidFill>
                <a:latin typeface="Calibri Light"/>
                <a:cs typeface="Calibri Light"/>
              </a:rPr>
              <a:t>METHOD</a:t>
            </a:r>
            <a:r>
              <a:rPr sz="4800" spc="-229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50" dirty="0">
                <a:solidFill>
                  <a:srgbClr val="000000"/>
                </a:solidFill>
                <a:latin typeface="Calibri Light"/>
                <a:cs typeface="Calibri Light"/>
              </a:rPr>
              <a:t>TO</a:t>
            </a:r>
            <a:r>
              <a:rPr sz="4800" spc="-2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0" dirty="0">
                <a:solidFill>
                  <a:srgbClr val="000000"/>
                </a:solidFill>
                <a:latin typeface="Calibri Light"/>
                <a:cs typeface="Calibri Light"/>
              </a:rPr>
              <a:t>USE?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18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0259" y="1818385"/>
            <a:ext cx="7399020" cy="345186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04139" marR="829944" indent="-91440">
              <a:lnSpc>
                <a:spcPts val="2810"/>
              </a:lnSpc>
              <a:spcBef>
                <a:spcPts val="450"/>
              </a:spcBef>
              <a:buClr>
                <a:srgbClr val="585858"/>
              </a:buClr>
              <a:buFont typeface="Arial MT"/>
              <a:buChar char="•"/>
              <a:tabLst>
                <a:tab pos="104139" algn="l"/>
                <a:tab pos="203200" algn="l"/>
              </a:tabLst>
            </a:pPr>
            <a:r>
              <a:rPr sz="2600" dirty="0">
                <a:latin typeface="Calibri"/>
                <a:cs typeface="Calibri"/>
              </a:rPr>
              <a:t>	subclass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methods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26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same</a:t>
            </a:r>
            <a:r>
              <a:rPr sz="2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name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as </a:t>
            </a:r>
            <a:r>
              <a:rPr sz="2600" spc="-10" dirty="0">
                <a:latin typeface="Calibri"/>
                <a:cs typeface="Calibri"/>
              </a:rPr>
              <a:t>superclass</a:t>
            </a:r>
            <a:endParaRPr sz="2600">
              <a:latin typeface="Calibri"/>
              <a:cs typeface="Calibri"/>
            </a:endParaRPr>
          </a:p>
          <a:p>
            <a:pPr marL="202565" indent="-189865">
              <a:lnSpc>
                <a:spcPts val="2965"/>
              </a:lnSpc>
              <a:spcBef>
                <a:spcPts val="1045"/>
              </a:spcBef>
              <a:buClr>
                <a:srgbClr val="585858"/>
              </a:buClr>
              <a:buFont typeface="Arial MT"/>
              <a:buChar char="•"/>
              <a:tabLst>
                <a:tab pos="202565" algn="l"/>
              </a:tabLst>
            </a:pPr>
            <a:r>
              <a:rPr sz="2600" dirty="0">
                <a:latin typeface="Calibri"/>
                <a:cs typeface="Calibri"/>
              </a:rPr>
              <a:t>for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instance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look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method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name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in</a:t>
            </a:r>
            <a:endParaRPr sz="2600">
              <a:latin typeface="Calibri"/>
              <a:cs typeface="Calibri"/>
            </a:endParaRPr>
          </a:p>
          <a:p>
            <a:pPr marL="104139">
              <a:lnSpc>
                <a:spcPts val="2965"/>
              </a:lnSpc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current</a:t>
            </a:r>
            <a:r>
              <a:rPr sz="26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r>
              <a:rPr sz="2600" b="1" spc="-1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definition</a:t>
            </a:r>
            <a:endParaRPr sz="2600">
              <a:latin typeface="Calibri"/>
              <a:cs typeface="Calibri"/>
            </a:endParaRPr>
          </a:p>
          <a:p>
            <a:pPr marL="202565" indent="-189865">
              <a:lnSpc>
                <a:spcPts val="2965"/>
              </a:lnSpc>
              <a:spcBef>
                <a:spcPts val="1085"/>
              </a:spcBef>
              <a:buClr>
                <a:srgbClr val="585858"/>
              </a:buClr>
              <a:buFont typeface="Arial MT"/>
              <a:buChar char="•"/>
              <a:tabLst>
                <a:tab pos="20256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found,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look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method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name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up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hierarchy</a:t>
            </a:r>
            <a:endParaRPr sz="2600">
              <a:latin typeface="Calibri"/>
              <a:cs typeface="Calibri"/>
            </a:endParaRPr>
          </a:p>
          <a:p>
            <a:pPr marL="104139">
              <a:lnSpc>
                <a:spcPts val="2965"/>
              </a:lnSpc>
            </a:pPr>
            <a:r>
              <a:rPr sz="2600" dirty="0">
                <a:latin typeface="Calibri"/>
                <a:cs typeface="Calibri"/>
              </a:rPr>
              <a:t>(in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parent,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grandparent,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on)</a:t>
            </a:r>
            <a:endParaRPr sz="2600">
              <a:latin typeface="Calibri"/>
              <a:cs typeface="Calibri"/>
            </a:endParaRPr>
          </a:p>
          <a:p>
            <a:pPr marL="104139" marR="5080" indent="-91440">
              <a:lnSpc>
                <a:spcPts val="2810"/>
              </a:lnSpc>
              <a:spcBef>
                <a:spcPts val="1445"/>
              </a:spcBef>
              <a:buClr>
                <a:srgbClr val="585858"/>
              </a:buClr>
              <a:buFont typeface="Arial MT"/>
              <a:buChar char="•"/>
              <a:tabLst>
                <a:tab pos="104139" algn="l"/>
                <a:tab pos="202565" algn="l"/>
              </a:tabLst>
            </a:pPr>
            <a:r>
              <a:rPr sz="2600" dirty="0">
                <a:latin typeface="Calibri"/>
                <a:cs typeface="Calibri"/>
              </a:rPr>
              <a:t>	use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first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method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up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hierarchy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found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method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name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6822" y="325627"/>
            <a:ext cx="4670425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class</a:t>
            </a:r>
            <a:r>
              <a:rPr sz="1800" spc="-5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Person(Animal):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def</a:t>
            </a:r>
            <a:r>
              <a:rPr sz="18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u="sng" spc="-30" dirty="0">
                <a:solidFill>
                  <a:srgbClr val="404040"/>
                </a:solidFill>
                <a:uFill>
                  <a:solidFill>
                    <a:srgbClr val="3F3F3F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init</a:t>
            </a:r>
            <a:r>
              <a:rPr sz="1800" u="sng" spc="-25" dirty="0">
                <a:solidFill>
                  <a:srgbClr val="404040"/>
                </a:solidFill>
                <a:uFill>
                  <a:solidFill>
                    <a:srgbClr val="3F3F3F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(self,</a:t>
            </a:r>
            <a:r>
              <a:rPr sz="18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name,</a:t>
            </a:r>
            <a:r>
              <a:rPr sz="18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age):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85572" y="1040130"/>
          <a:ext cx="5849619" cy="1327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0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8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Animal.</a:t>
                      </a:r>
                      <a:r>
                        <a:rPr sz="1800" u="sng" spc="-40" dirty="0">
                          <a:solidFill>
                            <a:srgbClr val="404040"/>
                          </a:solidFill>
                          <a:uFill>
                            <a:solidFill>
                              <a:srgbClr val="3F3F3F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18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init</a:t>
                      </a:r>
                      <a:r>
                        <a:rPr sz="1800" u="sng" spc="-35" dirty="0">
                          <a:solidFill>
                            <a:srgbClr val="404040"/>
                          </a:solidFill>
                          <a:uFill>
                            <a:solidFill>
                              <a:srgbClr val="3F3F3F"/>
                            </a:solidFill>
                          </a:u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18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(self,</a:t>
                      </a:r>
                      <a:r>
                        <a:rPr sz="1800" spc="-3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2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age)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175" marB="0"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0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63855">
                        <a:lnSpc>
                          <a:spcPts val="2125"/>
                        </a:lnSpc>
                      </a:pPr>
                      <a:r>
                        <a:rPr sz="1800" spc="-1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self.set_name(name)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8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63855">
                        <a:lnSpc>
                          <a:spcPts val="1935"/>
                        </a:lnSpc>
                      </a:pPr>
                      <a:r>
                        <a:rPr sz="18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self.friends</a:t>
                      </a:r>
                      <a:r>
                        <a:rPr sz="1800" spc="-7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6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2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[]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70">
                <a:tc gridSpan="2">
                  <a:txBody>
                    <a:bodyPr/>
                    <a:lstStyle/>
                    <a:p>
                      <a:pPr marL="391795">
                        <a:lnSpc>
                          <a:spcPts val="1920"/>
                        </a:lnSpc>
                      </a:pPr>
                      <a:r>
                        <a:rPr sz="18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def</a:t>
                      </a:r>
                      <a:r>
                        <a:rPr sz="1800" spc="-3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get_friends(self):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19530" y="2355850"/>
            <a:ext cx="2621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return</a:t>
            </a:r>
            <a:r>
              <a:rPr sz="1800" spc="-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self.friends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3572" y="2703195"/>
            <a:ext cx="5275580" cy="33718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91795">
              <a:lnSpc>
                <a:spcPts val="2115"/>
              </a:lnSpc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def</a:t>
            </a:r>
            <a:r>
              <a:rPr sz="1800" spc="-9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add_friend(self,</a:t>
            </a:r>
            <a:r>
              <a:rPr sz="1800" spc="-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fname):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9530" y="2959353"/>
            <a:ext cx="4123054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800" marR="5080" indent="-546735">
              <a:lnSpc>
                <a:spcPct val="12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if</a:t>
            </a:r>
            <a:r>
              <a:rPr sz="1800" spc="-4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fname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not</a:t>
            </a:r>
            <a:r>
              <a:rPr sz="1800" spc="-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in</a:t>
            </a:r>
            <a:r>
              <a:rPr sz="18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self.friends: self.friends.append(fname)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572" y="3678554"/>
            <a:ext cx="5275580" cy="36449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391795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def</a:t>
            </a:r>
            <a:r>
              <a:rPr sz="18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speak(self):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9530" y="4002023"/>
            <a:ext cx="1938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print("hello")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572" y="4314063"/>
            <a:ext cx="5275580" cy="36449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91795">
              <a:lnSpc>
                <a:spcPct val="100000"/>
              </a:lnSpc>
              <a:spcBef>
                <a:spcPts val="234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def</a:t>
            </a:r>
            <a:r>
              <a:rPr sz="1800" spc="-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age_diff(self,</a:t>
            </a:r>
            <a:r>
              <a:rPr sz="1800" spc="-8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other):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9530" y="4605528"/>
            <a:ext cx="4807585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diff</a:t>
            </a:r>
            <a:r>
              <a:rPr sz="1800" spc="-4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8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self.age</a:t>
            </a:r>
            <a:r>
              <a:rPr sz="1800" spc="-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-</a:t>
            </a:r>
            <a:r>
              <a:rPr sz="1800" spc="-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other.age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print(abs(diff),</a:t>
            </a:r>
            <a:r>
              <a:rPr sz="1800" spc="-1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"year</a:t>
            </a:r>
            <a:r>
              <a:rPr sz="1800" spc="-1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difference")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572" y="5332857"/>
            <a:ext cx="6701790" cy="36449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91795">
              <a:lnSpc>
                <a:spcPts val="2150"/>
              </a:lnSpc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def</a:t>
            </a:r>
            <a:r>
              <a:rPr sz="18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u="sng" spc="-20" dirty="0">
                <a:solidFill>
                  <a:srgbClr val="404040"/>
                </a:solidFill>
                <a:uFill>
                  <a:solidFill>
                    <a:srgbClr val="3F3F3F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str</a:t>
            </a:r>
            <a:r>
              <a:rPr sz="1800" u="sng" spc="-15" dirty="0">
                <a:solidFill>
                  <a:srgbClr val="404040"/>
                </a:solidFill>
                <a:uFill>
                  <a:solidFill>
                    <a:srgbClr val="3F3F3F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(self):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9530" y="5647944"/>
            <a:ext cx="6717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return</a:t>
            </a:r>
            <a:r>
              <a:rPr sz="1800" spc="-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"person:"+str(self.name)+":"+str(self.age)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00630" y="353186"/>
            <a:ext cx="4966970" cy="323215"/>
          </a:xfrm>
          <a:custGeom>
            <a:avLst/>
            <a:gdLst/>
            <a:ahLst/>
            <a:cxnLst/>
            <a:rect l="l" t="t" r="r" b="b"/>
            <a:pathLst>
              <a:path w="4966970" h="323215">
                <a:moveTo>
                  <a:pt x="0" y="323088"/>
                </a:moveTo>
                <a:lnTo>
                  <a:pt x="4966716" y="323088"/>
                </a:lnTo>
                <a:lnTo>
                  <a:pt x="4966716" y="0"/>
                </a:lnTo>
                <a:lnTo>
                  <a:pt x="0" y="0"/>
                </a:lnTo>
                <a:lnTo>
                  <a:pt x="0" y="323088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6395211" y="541908"/>
            <a:ext cx="2660015" cy="1780539"/>
            <a:chOff x="6395211" y="541908"/>
            <a:chExt cx="2660015" cy="1780539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95363" y="541908"/>
              <a:ext cx="1959736" cy="102298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5211" y="1260474"/>
              <a:ext cx="1045463" cy="58356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04811" y="1798954"/>
              <a:ext cx="980567" cy="523239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6387591" y="1623313"/>
            <a:ext cx="2072005" cy="1398270"/>
            <a:chOff x="6387591" y="1623313"/>
            <a:chExt cx="2072005" cy="139827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7591" y="1951863"/>
              <a:ext cx="2071751" cy="106959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25819" y="1623313"/>
              <a:ext cx="1045591" cy="58369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15986" y="2087880"/>
              <a:ext cx="825500" cy="519811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96152" y="3917441"/>
            <a:ext cx="1157477" cy="62788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00772" y="4969383"/>
            <a:ext cx="1773682" cy="961034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5759576" y="2085975"/>
            <a:ext cx="378460" cy="2592705"/>
          </a:xfrm>
          <a:custGeom>
            <a:avLst/>
            <a:gdLst/>
            <a:ahLst/>
            <a:cxnLst/>
            <a:rect l="l" t="t" r="r" b="b"/>
            <a:pathLst>
              <a:path w="378460" h="2592704">
                <a:moveTo>
                  <a:pt x="0" y="0"/>
                </a:moveTo>
                <a:lnTo>
                  <a:pt x="50246" y="5025"/>
                </a:lnTo>
                <a:lnTo>
                  <a:pt x="95391" y="19205"/>
                </a:lnTo>
                <a:lnTo>
                  <a:pt x="133635" y="41195"/>
                </a:lnTo>
                <a:lnTo>
                  <a:pt x="163180" y="69652"/>
                </a:lnTo>
                <a:lnTo>
                  <a:pt x="182227" y="103231"/>
                </a:lnTo>
                <a:lnTo>
                  <a:pt x="188976" y="140589"/>
                </a:lnTo>
                <a:lnTo>
                  <a:pt x="188976" y="1775587"/>
                </a:lnTo>
                <a:lnTo>
                  <a:pt x="195724" y="1812944"/>
                </a:lnTo>
                <a:lnTo>
                  <a:pt x="214771" y="1846523"/>
                </a:lnTo>
                <a:lnTo>
                  <a:pt x="244316" y="1874980"/>
                </a:lnTo>
                <a:lnTo>
                  <a:pt x="282560" y="1896970"/>
                </a:lnTo>
                <a:lnTo>
                  <a:pt x="327705" y="1911150"/>
                </a:lnTo>
                <a:lnTo>
                  <a:pt x="377952" y="1916176"/>
                </a:lnTo>
                <a:lnTo>
                  <a:pt x="327705" y="1921201"/>
                </a:lnTo>
                <a:lnTo>
                  <a:pt x="282560" y="1935385"/>
                </a:lnTo>
                <a:lnTo>
                  <a:pt x="244316" y="1957387"/>
                </a:lnTo>
                <a:lnTo>
                  <a:pt x="214771" y="1985866"/>
                </a:lnTo>
                <a:lnTo>
                  <a:pt x="195724" y="2019481"/>
                </a:lnTo>
                <a:lnTo>
                  <a:pt x="188976" y="2056892"/>
                </a:lnTo>
                <a:lnTo>
                  <a:pt x="188976" y="2451735"/>
                </a:lnTo>
                <a:lnTo>
                  <a:pt x="182227" y="2489092"/>
                </a:lnTo>
                <a:lnTo>
                  <a:pt x="163180" y="2522671"/>
                </a:lnTo>
                <a:lnTo>
                  <a:pt x="133635" y="2551128"/>
                </a:lnTo>
                <a:lnTo>
                  <a:pt x="95391" y="2573118"/>
                </a:lnTo>
                <a:lnTo>
                  <a:pt x="50246" y="2587298"/>
                </a:lnTo>
                <a:lnTo>
                  <a:pt x="0" y="2592324"/>
                </a:lnTo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19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68" y="311277"/>
            <a:ext cx="6775450" cy="28956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620">
              <a:lnSpc>
                <a:spcPts val="1839"/>
              </a:lnSpc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import</a:t>
            </a:r>
            <a:r>
              <a:rPr sz="1600" spc="-8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random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423" y="825356"/>
            <a:ext cx="5650230" cy="20739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class</a:t>
            </a:r>
            <a:r>
              <a:rPr sz="1600" spc="-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Student(Person):</a:t>
            </a:r>
            <a:endParaRPr sz="1600">
              <a:latin typeface="Courier New"/>
              <a:cs typeface="Courier New"/>
            </a:endParaRPr>
          </a:p>
          <a:p>
            <a:pPr marL="989965" marR="5080" indent="-489584">
              <a:lnSpc>
                <a:spcPts val="2310"/>
              </a:lnSpc>
              <a:spcBef>
                <a:spcPts val="135"/>
              </a:spcBef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def</a:t>
            </a:r>
            <a:r>
              <a:rPr sz="16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u="sng" spc="-10" dirty="0">
                <a:solidFill>
                  <a:srgbClr val="404040"/>
                </a:solidFill>
                <a:uFill>
                  <a:solidFill>
                    <a:srgbClr val="3F3F3F"/>
                  </a:solidFill>
                </a:uFill>
                <a:latin typeface="Courier New"/>
                <a:cs typeface="Courier New"/>
              </a:rPr>
              <a:t> 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init</a:t>
            </a:r>
            <a:r>
              <a:rPr sz="1600" u="sng" spc="-5" dirty="0">
                <a:solidFill>
                  <a:srgbClr val="404040"/>
                </a:solidFill>
                <a:uFill>
                  <a:solidFill>
                    <a:srgbClr val="3F3F3F"/>
                  </a:solidFill>
                </a:uFill>
                <a:latin typeface="Courier New"/>
                <a:cs typeface="Courier New"/>
              </a:rPr>
              <a:t> 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(self,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name,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age,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major=None):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Person.</a:t>
            </a:r>
            <a:r>
              <a:rPr sz="1600" u="sng" spc="-50" dirty="0">
                <a:solidFill>
                  <a:srgbClr val="404040"/>
                </a:solidFill>
                <a:uFill>
                  <a:solidFill>
                    <a:srgbClr val="3F3F3F"/>
                  </a:solidFill>
                </a:uFill>
                <a:latin typeface="Courier New"/>
                <a:cs typeface="Courier New"/>
              </a:rPr>
              <a:t> 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init</a:t>
            </a:r>
            <a:r>
              <a:rPr sz="1600" u="sng" spc="-55" dirty="0">
                <a:solidFill>
                  <a:srgbClr val="404040"/>
                </a:solidFill>
                <a:uFill>
                  <a:solidFill>
                    <a:srgbClr val="3F3F3F"/>
                  </a:solidFill>
                </a:uFill>
                <a:latin typeface="Courier New"/>
                <a:cs typeface="Courier New"/>
              </a:rPr>
              <a:t> 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(self,</a:t>
            </a:r>
            <a:r>
              <a:rPr sz="1600" spc="-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name,</a:t>
            </a:r>
            <a:r>
              <a:rPr sz="16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urier New"/>
                <a:cs typeface="Courier New"/>
              </a:rPr>
              <a:t>age)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self.major</a:t>
            </a:r>
            <a:r>
              <a:rPr sz="1600" spc="-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600" spc="-7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major</a:t>
            </a:r>
            <a:endParaRPr sz="1600">
              <a:latin typeface="Courier New"/>
              <a:cs typeface="Courier New"/>
            </a:endParaRPr>
          </a:p>
          <a:p>
            <a:pPr marL="501015">
              <a:lnSpc>
                <a:spcPct val="100000"/>
              </a:lnSpc>
              <a:spcBef>
                <a:spcPts val="234"/>
              </a:spcBef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def</a:t>
            </a:r>
            <a:r>
              <a:rPr sz="1600" spc="-1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change_major(self,</a:t>
            </a:r>
            <a:r>
              <a:rPr sz="1600" spc="-1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major):</a:t>
            </a:r>
            <a:endParaRPr sz="1600">
              <a:latin typeface="Courier New"/>
              <a:cs typeface="Courier New"/>
            </a:endParaRPr>
          </a:p>
          <a:p>
            <a:pPr marL="501015" marR="2451100" indent="488950">
              <a:lnSpc>
                <a:spcPct val="120000"/>
              </a:lnSpc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self.major</a:t>
            </a:r>
            <a:r>
              <a:rPr sz="1600" spc="-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600" spc="-7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major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def</a:t>
            </a:r>
            <a:r>
              <a:rPr sz="1600" spc="-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speak(self):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8069" y="2922016"/>
            <a:ext cx="3917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5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6949" y="2918079"/>
            <a:ext cx="4699635" cy="29654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30"/>
              </a:spcBef>
            </a:pP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random.random()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866" y="3166161"/>
            <a:ext cx="7940040" cy="29203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01650">
              <a:lnSpc>
                <a:spcPct val="100000"/>
              </a:lnSpc>
              <a:spcBef>
                <a:spcPts val="480"/>
              </a:spcBef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if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 0.25:</a:t>
            </a:r>
            <a:endParaRPr sz="1600">
              <a:latin typeface="Courier New"/>
              <a:cs typeface="Courier New"/>
            </a:endParaRPr>
          </a:p>
          <a:p>
            <a:pPr marL="991869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print("i</a:t>
            </a:r>
            <a:r>
              <a:rPr sz="1600" spc="-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have</a:t>
            </a:r>
            <a:r>
              <a:rPr sz="1600" spc="-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homework")</a:t>
            </a:r>
            <a:endParaRPr sz="1600">
              <a:latin typeface="Courier New"/>
              <a:cs typeface="Courier New"/>
            </a:endParaRPr>
          </a:p>
          <a:p>
            <a:pPr marL="50165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elif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0.25 &lt;=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r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&lt;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urier New"/>
                <a:cs typeface="Courier New"/>
              </a:rPr>
              <a:t>0.5:</a:t>
            </a:r>
            <a:endParaRPr sz="1600">
              <a:latin typeface="Courier New"/>
              <a:cs typeface="Courier New"/>
            </a:endParaRPr>
          </a:p>
          <a:p>
            <a:pPr marL="501650" marR="4373245" indent="489584">
              <a:lnSpc>
                <a:spcPct val="120000"/>
              </a:lnSpc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print("i</a:t>
            </a:r>
            <a:r>
              <a:rPr sz="1600" spc="-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need</a:t>
            </a:r>
            <a:r>
              <a:rPr sz="1600" spc="-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sleep")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elif</a:t>
            </a:r>
            <a:r>
              <a:rPr sz="16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0.5</a:t>
            </a:r>
            <a:r>
              <a:rPr sz="16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&lt;=</a:t>
            </a:r>
            <a:r>
              <a:rPr sz="16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r</a:t>
            </a:r>
            <a:r>
              <a:rPr sz="16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&lt;</a:t>
            </a:r>
            <a:r>
              <a:rPr sz="16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0.75:</a:t>
            </a:r>
            <a:endParaRPr sz="1600">
              <a:latin typeface="Courier New"/>
              <a:cs typeface="Courier New"/>
            </a:endParaRPr>
          </a:p>
          <a:p>
            <a:pPr marL="501650" marR="4373245" indent="489584">
              <a:lnSpc>
                <a:spcPct val="120000"/>
              </a:lnSpc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print("i</a:t>
            </a:r>
            <a:r>
              <a:rPr sz="1600" spc="-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should</a:t>
            </a:r>
            <a:r>
              <a:rPr sz="1600" spc="-8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eat") else:</a:t>
            </a:r>
            <a:endParaRPr sz="1600">
              <a:latin typeface="Courier New"/>
              <a:cs typeface="Courier New"/>
            </a:endParaRPr>
          </a:p>
          <a:p>
            <a:pPr marL="12700" marR="3881754" indent="979169">
              <a:lnSpc>
                <a:spcPct val="120000"/>
              </a:lnSpc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print("i</a:t>
            </a:r>
            <a:r>
              <a:rPr sz="1600" spc="-8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am</a:t>
            </a:r>
            <a:r>
              <a:rPr sz="1600" spc="-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watching</a:t>
            </a:r>
            <a:r>
              <a:rPr sz="1600" spc="-6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urier New"/>
                <a:cs typeface="Courier New"/>
              </a:rPr>
              <a:t>tv")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def</a:t>
            </a:r>
            <a:r>
              <a:rPr sz="16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u="sng" spc="-20" dirty="0">
                <a:solidFill>
                  <a:srgbClr val="404040"/>
                </a:solidFill>
                <a:uFill>
                  <a:solidFill>
                    <a:srgbClr val="3F3F3F"/>
                  </a:solidFill>
                </a:uFill>
                <a:latin typeface="Courier New"/>
                <a:cs typeface="Courier New"/>
              </a:rPr>
              <a:t>  </a:t>
            </a: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str</a:t>
            </a:r>
            <a:r>
              <a:rPr sz="1600" u="sng" spc="-20" dirty="0">
                <a:solidFill>
                  <a:srgbClr val="404040"/>
                </a:solidFill>
                <a:uFill>
                  <a:solidFill>
                    <a:srgbClr val="3F3F3F"/>
                  </a:solidFill>
                </a:uFill>
                <a:latin typeface="Courier New"/>
                <a:cs typeface="Courier New"/>
              </a:rPr>
              <a:t> 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(self):</a:t>
            </a:r>
            <a:endParaRPr sz="1600">
              <a:latin typeface="Courier New"/>
              <a:cs typeface="Courier New"/>
            </a:endParaRPr>
          </a:p>
          <a:p>
            <a:pPr marL="481965">
              <a:lnSpc>
                <a:spcPct val="100000"/>
              </a:lnSpc>
              <a:spcBef>
                <a:spcPts val="375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return</a:t>
            </a:r>
            <a:r>
              <a:rPr sz="14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"student:"+str(self.name)+":"+str(self.age)+":"+str(self.major)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77836" y="1038986"/>
            <a:ext cx="1950720" cy="1584960"/>
            <a:chOff x="7077836" y="1038986"/>
            <a:chExt cx="1950720" cy="15849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7836" y="1038986"/>
              <a:ext cx="1950211" cy="113372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9906" y="1961134"/>
              <a:ext cx="1220470" cy="662559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1815464" y="869061"/>
            <a:ext cx="5054600" cy="329565"/>
          </a:xfrm>
          <a:custGeom>
            <a:avLst/>
            <a:gdLst/>
            <a:ahLst/>
            <a:cxnLst/>
            <a:rect l="l" t="t" r="r" b="b"/>
            <a:pathLst>
              <a:path w="5054600" h="329565">
                <a:moveTo>
                  <a:pt x="0" y="329184"/>
                </a:moveTo>
                <a:lnTo>
                  <a:pt x="5054346" y="329184"/>
                </a:lnTo>
                <a:lnTo>
                  <a:pt x="5054346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600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97838" y="1753742"/>
            <a:ext cx="5872480" cy="307340"/>
          </a:xfrm>
          <a:custGeom>
            <a:avLst/>
            <a:gdLst/>
            <a:ahLst/>
            <a:cxnLst/>
            <a:rect l="l" t="t" r="r" b="b"/>
            <a:pathLst>
              <a:path w="5872480" h="307339">
                <a:moveTo>
                  <a:pt x="0" y="307086"/>
                </a:moveTo>
                <a:lnTo>
                  <a:pt x="5871972" y="307086"/>
                </a:lnTo>
                <a:lnTo>
                  <a:pt x="5871972" y="0"/>
                </a:lnTo>
                <a:lnTo>
                  <a:pt x="0" y="0"/>
                </a:lnTo>
                <a:lnTo>
                  <a:pt x="0" y="307086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5528691" y="3420617"/>
            <a:ext cx="3105150" cy="1904364"/>
            <a:chOff x="5528691" y="3420617"/>
            <a:chExt cx="3105150" cy="1904364"/>
          </a:xfrm>
        </p:grpSpPr>
        <p:sp>
          <p:nvSpPr>
            <p:cNvPr id="13" name="object 13"/>
            <p:cNvSpPr/>
            <p:nvPr/>
          </p:nvSpPr>
          <p:spPr>
            <a:xfrm>
              <a:off x="5896483" y="3434715"/>
              <a:ext cx="52705" cy="35560"/>
            </a:xfrm>
            <a:custGeom>
              <a:avLst/>
              <a:gdLst/>
              <a:ahLst/>
              <a:cxnLst/>
              <a:rect l="l" t="t" r="r" b="b"/>
              <a:pathLst>
                <a:path w="52704" h="35560">
                  <a:moveTo>
                    <a:pt x="7619" y="0"/>
                  </a:moveTo>
                  <a:lnTo>
                    <a:pt x="6476" y="0"/>
                  </a:lnTo>
                  <a:lnTo>
                    <a:pt x="4190" y="1523"/>
                  </a:lnTo>
                  <a:lnTo>
                    <a:pt x="3047" y="3047"/>
                  </a:lnTo>
                  <a:lnTo>
                    <a:pt x="1904" y="5714"/>
                  </a:lnTo>
                  <a:lnTo>
                    <a:pt x="634" y="8254"/>
                  </a:lnTo>
                  <a:lnTo>
                    <a:pt x="0" y="10159"/>
                  </a:lnTo>
                  <a:lnTo>
                    <a:pt x="253" y="12826"/>
                  </a:lnTo>
                  <a:lnTo>
                    <a:pt x="888" y="13715"/>
                  </a:lnTo>
                  <a:lnTo>
                    <a:pt x="45211" y="35178"/>
                  </a:lnTo>
                  <a:lnTo>
                    <a:pt x="46354" y="35178"/>
                  </a:lnTo>
                  <a:lnTo>
                    <a:pt x="52704" y="24383"/>
                  </a:lnTo>
                  <a:lnTo>
                    <a:pt x="52577" y="23621"/>
                  </a:lnTo>
                  <a:lnTo>
                    <a:pt x="52577" y="22859"/>
                  </a:lnTo>
                  <a:lnTo>
                    <a:pt x="52450" y="22351"/>
                  </a:lnTo>
                  <a:lnTo>
                    <a:pt x="51688" y="21462"/>
                  </a:lnTo>
                  <a:lnTo>
                    <a:pt x="51307" y="21208"/>
                  </a:lnTo>
                  <a:lnTo>
                    <a:pt x="8762" y="634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8691" y="3420617"/>
              <a:ext cx="3104641" cy="1904365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3843" y="164591"/>
            <a:ext cx="1638045" cy="115481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20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76059"/>
            <a:ext cx="9144000" cy="281940"/>
          </a:xfrm>
          <a:custGeom>
            <a:avLst/>
            <a:gdLst/>
            <a:ahLst/>
            <a:cxnLst/>
            <a:rect l="l" t="t" r="r" b="b"/>
            <a:pathLst>
              <a:path w="9144000" h="281940">
                <a:moveTo>
                  <a:pt x="0" y="281940"/>
                </a:moveTo>
                <a:lnTo>
                  <a:pt x="9144000" y="281940"/>
                </a:lnTo>
                <a:lnTo>
                  <a:pt x="9144000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20"/>
              </a:lnSpc>
              <a:spcBef>
                <a:spcPts val="100"/>
              </a:spcBef>
            </a:pPr>
            <a:r>
              <a:rPr sz="4800" spc="-40" dirty="0">
                <a:solidFill>
                  <a:srgbClr val="000000"/>
                </a:solidFill>
                <a:latin typeface="Calibri Light"/>
                <a:cs typeface="Calibri Light"/>
              </a:rPr>
              <a:t>CLASS</a:t>
            </a:r>
            <a:r>
              <a:rPr sz="4800" spc="-17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85" dirty="0">
                <a:solidFill>
                  <a:srgbClr val="000000"/>
                </a:solidFill>
                <a:latin typeface="Calibri Light"/>
                <a:cs typeface="Calibri Light"/>
              </a:rPr>
              <a:t>VARIABLES</a:t>
            </a:r>
            <a:r>
              <a:rPr sz="4800" spc="-18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sz="4800" spc="-18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000000"/>
                </a:solidFill>
                <a:latin typeface="Calibri Light"/>
                <a:cs typeface="Calibri Light"/>
              </a:rPr>
              <a:t>THE</a:t>
            </a:r>
            <a:endParaRPr sz="4800">
              <a:latin typeface="Calibri Light"/>
              <a:cs typeface="Calibri Light"/>
            </a:endParaRPr>
          </a:p>
          <a:p>
            <a:pPr marL="12700">
              <a:lnSpc>
                <a:spcPts val="5320"/>
              </a:lnSpc>
            </a:pPr>
            <a:r>
              <a:rPr sz="4800" spc="-50" dirty="0">
                <a:solidFill>
                  <a:srgbClr val="000000"/>
                </a:solidFill>
                <a:latin typeface="Courier New"/>
                <a:cs typeface="Courier New"/>
              </a:rPr>
              <a:t>Rabbit</a:t>
            </a:r>
            <a:r>
              <a:rPr sz="4800" spc="-189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SUBCLASS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259" y="1786382"/>
            <a:ext cx="7675880" cy="31229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04139" marR="130810" indent="-91440">
              <a:lnSpc>
                <a:spcPts val="2500"/>
              </a:lnSpc>
              <a:spcBef>
                <a:spcPts val="70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	class</a:t>
            </a:r>
            <a:r>
              <a:rPr sz="2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variables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shared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all </a:t>
            </a:r>
            <a:r>
              <a:rPr sz="2600" dirty="0">
                <a:latin typeface="Calibri"/>
                <a:cs typeface="Calibri"/>
              </a:rPr>
              <a:t>instances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558800" marR="4785995" indent="-546735">
              <a:lnSpc>
                <a:spcPct val="144700"/>
              </a:lnSpc>
              <a:spcBef>
                <a:spcPts val="20"/>
              </a:spcBef>
            </a:pPr>
            <a:r>
              <a:rPr sz="1800" dirty="0">
                <a:latin typeface="Courier New"/>
                <a:cs typeface="Courier New"/>
              </a:rPr>
              <a:t>class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Rabbit(Animal): </a:t>
            </a:r>
            <a:r>
              <a:rPr sz="1800" dirty="0">
                <a:latin typeface="Courier New"/>
                <a:cs typeface="Courier New"/>
              </a:rPr>
              <a:t>tag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60" dirty="0"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 marL="1105535" marR="5080" indent="-546735">
              <a:lnSpc>
                <a:spcPct val="144700"/>
              </a:lnSpc>
              <a:spcBef>
                <a:spcPts val="5"/>
              </a:spcBef>
            </a:pPr>
            <a:r>
              <a:rPr sz="1800" dirty="0">
                <a:latin typeface="Courier New"/>
                <a:cs typeface="Courier New"/>
              </a:rPr>
              <a:t>def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u="sng" spc="-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dirty="0">
                <a:latin typeface="Courier New"/>
                <a:cs typeface="Courier New"/>
              </a:rPr>
              <a:t>init</a:t>
            </a:r>
            <a:r>
              <a:rPr sz="1800" u="sng" spc="-3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dirty="0">
                <a:latin typeface="Courier New"/>
                <a:cs typeface="Courier New"/>
              </a:rPr>
              <a:t>(self,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age,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parent1=None,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parent2=None): </a:t>
            </a:r>
            <a:r>
              <a:rPr sz="1800" dirty="0">
                <a:latin typeface="Courier New"/>
                <a:cs typeface="Courier New"/>
              </a:rPr>
              <a:t>Animal.</a:t>
            </a:r>
            <a:r>
              <a:rPr sz="1800" u="sng" spc="-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dirty="0">
                <a:latin typeface="Courier New"/>
                <a:cs typeface="Courier New"/>
              </a:rPr>
              <a:t>init</a:t>
            </a:r>
            <a:r>
              <a:rPr sz="1800" u="sng" spc="-3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dirty="0">
                <a:latin typeface="Courier New"/>
                <a:cs typeface="Courier New"/>
              </a:rPr>
              <a:t>(self,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20" dirty="0">
                <a:latin typeface="Courier New"/>
                <a:cs typeface="Courier New"/>
              </a:rPr>
              <a:t>age)</a:t>
            </a:r>
            <a:endParaRPr sz="1800">
              <a:latin typeface="Courier New"/>
              <a:cs typeface="Courier New"/>
            </a:endParaRPr>
          </a:p>
          <a:p>
            <a:pPr marL="1105535" marR="3556000">
              <a:lnSpc>
                <a:spcPts val="313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self.parent1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parent1 </a:t>
            </a:r>
            <a:r>
              <a:rPr sz="1800" dirty="0">
                <a:latin typeface="Courier New"/>
                <a:cs typeface="Courier New"/>
              </a:rPr>
              <a:t>self.parent2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parent2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92223" y="4929378"/>
          <a:ext cx="3415663" cy="875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9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self.rid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Rabbit.tag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80">
                <a:tc gridSpan="3"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Rabbit.tag</a:t>
                      </a:r>
                      <a:r>
                        <a:rPr sz="18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+=</a:t>
                      </a:r>
                      <a:r>
                        <a:rPr sz="18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10259" y="5775452"/>
            <a:ext cx="76784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9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spc="-25" dirty="0">
                <a:latin typeface="Courier New"/>
                <a:cs typeface="Courier New"/>
              </a:rPr>
              <a:t>tag</a:t>
            </a:r>
            <a:r>
              <a:rPr sz="2600" spc="-969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give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unique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id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new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rabbit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instance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205" y="3462908"/>
            <a:ext cx="1097749" cy="62445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11783" y="3006470"/>
            <a:ext cx="569595" cy="372110"/>
          </a:xfrm>
          <a:custGeom>
            <a:avLst/>
            <a:gdLst/>
            <a:ahLst/>
            <a:cxnLst/>
            <a:rect l="l" t="t" r="r" b="b"/>
            <a:pathLst>
              <a:path w="569594" h="372110">
                <a:moveTo>
                  <a:pt x="0" y="371855"/>
                </a:moveTo>
                <a:lnTo>
                  <a:pt x="569214" y="371855"/>
                </a:lnTo>
                <a:lnTo>
                  <a:pt x="569214" y="0"/>
                </a:lnTo>
                <a:lnTo>
                  <a:pt x="0" y="0"/>
                </a:lnTo>
                <a:lnTo>
                  <a:pt x="0" y="371855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1332" y="4906136"/>
            <a:ext cx="1425486" cy="78798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8454" y="3819397"/>
            <a:ext cx="3230530" cy="194340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2566416" y="2561844"/>
            <a:ext cx="2200910" cy="713105"/>
            <a:chOff x="2566416" y="2561844"/>
            <a:chExt cx="2200910" cy="713105"/>
          </a:xfrm>
        </p:grpSpPr>
        <p:sp>
          <p:nvSpPr>
            <p:cNvPr id="13" name="object 13"/>
            <p:cNvSpPr/>
            <p:nvPr/>
          </p:nvSpPr>
          <p:spPr>
            <a:xfrm>
              <a:off x="3770249" y="2656840"/>
              <a:ext cx="996950" cy="617855"/>
            </a:xfrm>
            <a:custGeom>
              <a:avLst/>
              <a:gdLst/>
              <a:ahLst/>
              <a:cxnLst/>
              <a:rect l="l" t="t" r="r" b="b"/>
              <a:pathLst>
                <a:path w="996950" h="617854">
                  <a:moveTo>
                    <a:pt x="14223" y="483234"/>
                  </a:moveTo>
                  <a:lnTo>
                    <a:pt x="9524" y="483234"/>
                  </a:lnTo>
                  <a:lnTo>
                    <a:pt x="8635" y="484504"/>
                  </a:lnTo>
                  <a:lnTo>
                    <a:pt x="3555" y="487044"/>
                  </a:lnTo>
                  <a:lnTo>
                    <a:pt x="2793" y="487044"/>
                  </a:lnTo>
                  <a:lnTo>
                    <a:pt x="1904" y="488314"/>
                  </a:lnTo>
                  <a:lnTo>
                    <a:pt x="1142" y="488314"/>
                  </a:lnTo>
                  <a:lnTo>
                    <a:pt x="761" y="489584"/>
                  </a:lnTo>
                  <a:lnTo>
                    <a:pt x="0" y="489584"/>
                  </a:lnTo>
                  <a:lnTo>
                    <a:pt x="126" y="492124"/>
                  </a:lnTo>
                  <a:lnTo>
                    <a:pt x="507" y="492124"/>
                  </a:lnTo>
                  <a:lnTo>
                    <a:pt x="65277" y="617854"/>
                  </a:lnTo>
                  <a:lnTo>
                    <a:pt x="71881" y="617854"/>
                  </a:lnTo>
                  <a:lnTo>
                    <a:pt x="73151" y="616584"/>
                  </a:lnTo>
                  <a:lnTo>
                    <a:pt x="74802" y="615314"/>
                  </a:lnTo>
                  <a:lnTo>
                    <a:pt x="76453" y="615314"/>
                  </a:lnTo>
                  <a:lnTo>
                    <a:pt x="77723" y="614044"/>
                  </a:lnTo>
                  <a:lnTo>
                    <a:pt x="78739" y="614044"/>
                  </a:lnTo>
                  <a:lnTo>
                    <a:pt x="79755" y="612774"/>
                  </a:lnTo>
                  <a:lnTo>
                    <a:pt x="80517" y="612774"/>
                  </a:lnTo>
                  <a:lnTo>
                    <a:pt x="80898" y="611504"/>
                  </a:lnTo>
                  <a:lnTo>
                    <a:pt x="81406" y="611504"/>
                  </a:lnTo>
                  <a:lnTo>
                    <a:pt x="81660" y="610234"/>
                  </a:lnTo>
                  <a:lnTo>
                    <a:pt x="81786" y="608977"/>
                  </a:lnTo>
                  <a:lnTo>
                    <a:pt x="58292" y="563244"/>
                  </a:lnTo>
                  <a:lnTo>
                    <a:pt x="92328" y="563244"/>
                  </a:lnTo>
                  <a:lnTo>
                    <a:pt x="98551" y="560704"/>
                  </a:lnTo>
                  <a:lnTo>
                    <a:pt x="103504" y="555624"/>
                  </a:lnTo>
                  <a:lnTo>
                    <a:pt x="105875" y="553084"/>
                  </a:lnTo>
                  <a:lnTo>
                    <a:pt x="74167" y="553084"/>
                  </a:lnTo>
                  <a:lnTo>
                    <a:pt x="63118" y="551814"/>
                  </a:lnTo>
                  <a:lnTo>
                    <a:pt x="56641" y="549274"/>
                  </a:lnTo>
                  <a:lnTo>
                    <a:pt x="49275" y="546734"/>
                  </a:lnTo>
                  <a:lnTo>
                    <a:pt x="30860" y="511174"/>
                  </a:lnTo>
                  <a:lnTo>
                    <a:pt x="31749" y="506094"/>
                  </a:lnTo>
                  <a:lnTo>
                    <a:pt x="32765" y="502284"/>
                  </a:lnTo>
                  <a:lnTo>
                    <a:pt x="34035" y="498474"/>
                  </a:lnTo>
                  <a:lnTo>
                    <a:pt x="34607" y="497204"/>
                  </a:lnTo>
                  <a:lnTo>
                    <a:pt x="21081" y="497204"/>
                  </a:lnTo>
                  <a:lnTo>
                    <a:pt x="14858" y="484504"/>
                  </a:lnTo>
                  <a:lnTo>
                    <a:pt x="14604" y="484504"/>
                  </a:lnTo>
                  <a:lnTo>
                    <a:pt x="14223" y="483234"/>
                  </a:lnTo>
                  <a:close/>
                </a:path>
                <a:path w="996950" h="617854">
                  <a:moveTo>
                    <a:pt x="92328" y="563244"/>
                  </a:moveTo>
                  <a:lnTo>
                    <a:pt x="58292" y="563244"/>
                  </a:lnTo>
                  <a:lnTo>
                    <a:pt x="61848" y="564514"/>
                  </a:lnTo>
                  <a:lnTo>
                    <a:pt x="65150" y="565784"/>
                  </a:lnTo>
                  <a:lnTo>
                    <a:pt x="68198" y="565784"/>
                  </a:lnTo>
                  <a:lnTo>
                    <a:pt x="71119" y="567054"/>
                  </a:lnTo>
                  <a:lnTo>
                    <a:pt x="82041" y="567054"/>
                  </a:lnTo>
                  <a:lnTo>
                    <a:pt x="87121" y="565784"/>
                  </a:lnTo>
                  <a:lnTo>
                    <a:pt x="89661" y="564514"/>
                  </a:lnTo>
                  <a:lnTo>
                    <a:pt x="92328" y="563244"/>
                  </a:lnTo>
                  <a:close/>
                </a:path>
                <a:path w="996950" h="617854">
                  <a:moveTo>
                    <a:pt x="94551" y="476884"/>
                  </a:moveTo>
                  <a:lnTo>
                    <a:pt x="56768" y="476884"/>
                  </a:lnTo>
                  <a:lnTo>
                    <a:pt x="64515" y="478154"/>
                  </a:lnTo>
                  <a:lnTo>
                    <a:pt x="68198" y="479424"/>
                  </a:lnTo>
                  <a:lnTo>
                    <a:pt x="89026" y="503554"/>
                  </a:lnTo>
                  <a:lnTo>
                    <a:pt x="91185" y="507364"/>
                  </a:lnTo>
                  <a:lnTo>
                    <a:pt x="92836" y="512444"/>
                  </a:lnTo>
                  <a:lnTo>
                    <a:pt x="95376" y="521334"/>
                  </a:lnTo>
                  <a:lnTo>
                    <a:pt x="95884" y="525144"/>
                  </a:lnTo>
                  <a:lnTo>
                    <a:pt x="95630" y="534034"/>
                  </a:lnTo>
                  <a:lnTo>
                    <a:pt x="74167" y="553084"/>
                  </a:lnTo>
                  <a:lnTo>
                    <a:pt x="105875" y="553084"/>
                  </a:lnTo>
                  <a:lnTo>
                    <a:pt x="107060" y="551814"/>
                  </a:lnTo>
                  <a:lnTo>
                    <a:pt x="110743" y="546734"/>
                  </a:lnTo>
                  <a:lnTo>
                    <a:pt x="113029" y="540384"/>
                  </a:lnTo>
                  <a:lnTo>
                    <a:pt x="115061" y="528954"/>
                  </a:lnTo>
                  <a:lnTo>
                    <a:pt x="114909" y="525144"/>
                  </a:lnTo>
                  <a:lnTo>
                    <a:pt x="114807" y="522604"/>
                  </a:lnTo>
                  <a:lnTo>
                    <a:pt x="111759" y="508634"/>
                  </a:lnTo>
                  <a:lnTo>
                    <a:pt x="108965" y="501014"/>
                  </a:lnTo>
                  <a:lnTo>
                    <a:pt x="104901" y="493394"/>
                  </a:lnTo>
                  <a:lnTo>
                    <a:pt x="101599" y="487044"/>
                  </a:lnTo>
                  <a:lnTo>
                    <a:pt x="97789" y="480694"/>
                  </a:lnTo>
                  <a:lnTo>
                    <a:pt x="94551" y="476884"/>
                  </a:lnTo>
                  <a:close/>
                </a:path>
                <a:path w="996950" h="617854">
                  <a:moveTo>
                    <a:pt x="186816" y="426084"/>
                  </a:moveTo>
                  <a:lnTo>
                    <a:pt x="158495" y="426084"/>
                  </a:lnTo>
                  <a:lnTo>
                    <a:pt x="163575" y="427354"/>
                  </a:lnTo>
                  <a:lnTo>
                    <a:pt x="165861" y="429894"/>
                  </a:lnTo>
                  <a:lnTo>
                    <a:pt x="168020" y="431164"/>
                  </a:lnTo>
                  <a:lnTo>
                    <a:pt x="170052" y="433704"/>
                  </a:lnTo>
                  <a:lnTo>
                    <a:pt x="172084" y="437514"/>
                  </a:lnTo>
                  <a:lnTo>
                    <a:pt x="177418" y="447674"/>
                  </a:lnTo>
                  <a:lnTo>
                    <a:pt x="165099" y="454024"/>
                  </a:lnTo>
                  <a:lnTo>
                    <a:pt x="158114" y="457834"/>
                  </a:lnTo>
                  <a:lnTo>
                    <a:pt x="152272" y="461644"/>
                  </a:lnTo>
                  <a:lnTo>
                    <a:pt x="142366" y="469264"/>
                  </a:lnTo>
                  <a:lnTo>
                    <a:pt x="138683" y="473074"/>
                  </a:lnTo>
                  <a:lnTo>
                    <a:pt x="136143" y="478154"/>
                  </a:lnTo>
                  <a:lnTo>
                    <a:pt x="133476" y="481964"/>
                  </a:lnTo>
                  <a:lnTo>
                    <a:pt x="132206" y="487044"/>
                  </a:lnTo>
                  <a:lnTo>
                    <a:pt x="132143" y="489584"/>
                  </a:lnTo>
                  <a:lnTo>
                    <a:pt x="132037" y="493394"/>
                  </a:lnTo>
                  <a:lnTo>
                    <a:pt x="131952" y="495934"/>
                  </a:lnTo>
                  <a:lnTo>
                    <a:pt x="133095" y="501014"/>
                  </a:lnTo>
                  <a:lnTo>
                    <a:pt x="135762" y="506094"/>
                  </a:lnTo>
                  <a:lnTo>
                    <a:pt x="137921" y="511174"/>
                  </a:lnTo>
                  <a:lnTo>
                    <a:pt x="154558" y="522604"/>
                  </a:lnTo>
                  <a:lnTo>
                    <a:pt x="167004" y="522604"/>
                  </a:lnTo>
                  <a:lnTo>
                    <a:pt x="176021" y="520064"/>
                  </a:lnTo>
                  <a:lnTo>
                    <a:pt x="180720" y="517524"/>
                  </a:lnTo>
                  <a:lnTo>
                    <a:pt x="186054" y="514984"/>
                  </a:lnTo>
                  <a:lnTo>
                    <a:pt x="190499" y="511174"/>
                  </a:lnTo>
                  <a:lnTo>
                    <a:pt x="193262" y="507364"/>
                  </a:lnTo>
                  <a:lnTo>
                    <a:pt x="166623" y="507364"/>
                  </a:lnTo>
                  <a:lnTo>
                    <a:pt x="157860" y="504824"/>
                  </a:lnTo>
                  <a:lnTo>
                    <a:pt x="154431" y="501014"/>
                  </a:lnTo>
                  <a:lnTo>
                    <a:pt x="150748" y="494664"/>
                  </a:lnTo>
                  <a:lnTo>
                    <a:pt x="149986" y="492124"/>
                  </a:lnTo>
                  <a:lnTo>
                    <a:pt x="149859" y="485774"/>
                  </a:lnTo>
                  <a:lnTo>
                    <a:pt x="150494" y="483234"/>
                  </a:lnTo>
                  <a:lnTo>
                    <a:pt x="153288" y="478154"/>
                  </a:lnTo>
                  <a:lnTo>
                    <a:pt x="155447" y="475614"/>
                  </a:lnTo>
                  <a:lnTo>
                    <a:pt x="161289" y="470534"/>
                  </a:lnTo>
                  <a:lnTo>
                    <a:pt x="164972" y="469264"/>
                  </a:lnTo>
                  <a:lnTo>
                    <a:pt x="169544" y="466724"/>
                  </a:lnTo>
                  <a:lnTo>
                    <a:pt x="183514" y="459104"/>
                  </a:lnTo>
                  <a:lnTo>
                    <a:pt x="204302" y="459104"/>
                  </a:lnTo>
                  <a:lnTo>
                    <a:pt x="189737" y="431164"/>
                  </a:lnTo>
                  <a:lnTo>
                    <a:pt x="186816" y="426084"/>
                  </a:lnTo>
                  <a:close/>
                </a:path>
                <a:path w="996950" h="617854">
                  <a:moveTo>
                    <a:pt x="204302" y="459104"/>
                  </a:moveTo>
                  <a:lnTo>
                    <a:pt x="183514" y="459104"/>
                  </a:lnTo>
                  <a:lnTo>
                    <a:pt x="193293" y="478154"/>
                  </a:lnTo>
                  <a:lnTo>
                    <a:pt x="191642" y="484504"/>
                  </a:lnTo>
                  <a:lnTo>
                    <a:pt x="166623" y="507364"/>
                  </a:lnTo>
                  <a:lnTo>
                    <a:pt x="193262" y="507364"/>
                  </a:lnTo>
                  <a:lnTo>
                    <a:pt x="194182" y="506094"/>
                  </a:lnTo>
                  <a:lnTo>
                    <a:pt x="197738" y="501014"/>
                  </a:lnTo>
                  <a:lnTo>
                    <a:pt x="200405" y="495934"/>
                  </a:lnTo>
                  <a:lnTo>
                    <a:pt x="202183" y="489584"/>
                  </a:lnTo>
                  <a:lnTo>
                    <a:pt x="220190" y="489584"/>
                  </a:lnTo>
                  <a:lnTo>
                    <a:pt x="204302" y="459104"/>
                  </a:lnTo>
                  <a:close/>
                </a:path>
                <a:path w="996950" h="617854">
                  <a:moveTo>
                    <a:pt x="220190" y="489584"/>
                  </a:moveTo>
                  <a:lnTo>
                    <a:pt x="202183" y="489584"/>
                  </a:lnTo>
                  <a:lnTo>
                    <a:pt x="207136" y="499744"/>
                  </a:lnTo>
                  <a:lnTo>
                    <a:pt x="212216" y="499744"/>
                  </a:lnTo>
                  <a:lnTo>
                    <a:pt x="213613" y="498474"/>
                  </a:lnTo>
                  <a:lnTo>
                    <a:pt x="217169" y="497204"/>
                  </a:lnTo>
                  <a:lnTo>
                    <a:pt x="219328" y="495934"/>
                  </a:lnTo>
                  <a:lnTo>
                    <a:pt x="220090" y="494664"/>
                  </a:lnTo>
                  <a:lnTo>
                    <a:pt x="220598" y="494664"/>
                  </a:lnTo>
                  <a:lnTo>
                    <a:pt x="221360" y="493394"/>
                  </a:lnTo>
                  <a:lnTo>
                    <a:pt x="221233" y="492124"/>
                  </a:lnTo>
                  <a:lnTo>
                    <a:pt x="220852" y="490854"/>
                  </a:lnTo>
                  <a:lnTo>
                    <a:pt x="220190" y="489584"/>
                  </a:lnTo>
                  <a:close/>
                </a:path>
                <a:path w="996950" h="617854">
                  <a:moveTo>
                    <a:pt x="68579" y="459104"/>
                  </a:moveTo>
                  <a:lnTo>
                    <a:pt x="56895" y="459104"/>
                  </a:lnTo>
                  <a:lnTo>
                    <a:pt x="50799" y="460374"/>
                  </a:lnTo>
                  <a:lnTo>
                    <a:pt x="44322" y="464184"/>
                  </a:lnTo>
                  <a:lnTo>
                    <a:pt x="41274" y="465454"/>
                  </a:lnTo>
                  <a:lnTo>
                    <a:pt x="25145" y="485774"/>
                  </a:lnTo>
                  <a:lnTo>
                    <a:pt x="23748" y="488314"/>
                  </a:lnTo>
                  <a:lnTo>
                    <a:pt x="22351" y="492124"/>
                  </a:lnTo>
                  <a:lnTo>
                    <a:pt x="21081" y="497204"/>
                  </a:lnTo>
                  <a:lnTo>
                    <a:pt x="34607" y="497204"/>
                  </a:lnTo>
                  <a:lnTo>
                    <a:pt x="35178" y="495934"/>
                  </a:lnTo>
                  <a:lnTo>
                    <a:pt x="36448" y="492124"/>
                  </a:lnTo>
                  <a:lnTo>
                    <a:pt x="37972" y="489584"/>
                  </a:lnTo>
                  <a:lnTo>
                    <a:pt x="39369" y="487044"/>
                  </a:lnTo>
                  <a:lnTo>
                    <a:pt x="40893" y="485774"/>
                  </a:lnTo>
                  <a:lnTo>
                    <a:pt x="44449" y="481964"/>
                  </a:lnTo>
                  <a:lnTo>
                    <a:pt x="46354" y="480694"/>
                  </a:lnTo>
                  <a:lnTo>
                    <a:pt x="48513" y="479424"/>
                  </a:lnTo>
                  <a:lnTo>
                    <a:pt x="52704" y="476884"/>
                  </a:lnTo>
                  <a:lnTo>
                    <a:pt x="94551" y="476884"/>
                  </a:lnTo>
                  <a:lnTo>
                    <a:pt x="89153" y="470534"/>
                  </a:lnTo>
                  <a:lnTo>
                    <a:pt x="84454" y="466724"/>
                  </a:lnTo>
                  <a:lnTo>
                    <a:pt x="79247" y="464184"/>
                  </a:lnTo>
                  <a:lnTo>
                    <a:pt x="74167" y="460374"/>
                  </a:lnTo>
                  <a:lnTo>
                    <a:pt x="68579" y="459104"/>
                  </a:lnTo>
                  <a:close/>
                </a:path>
                <a:path w="996950" h="617854">
                  <a:moveTo>
                    <a:pt x="219328" y="377824"/>
                  </a:moveTo>
                  <a:lnTo>
                    <a:pt x="213359" y="377824"/>
                  </a:lnTo>
                  <a:lnTo>
                    <a:pt x="212089" y="379094"/>
                  </a:lnTo>
                  <a:lnTo>
                    <a:pt x="210692" y="379094"/>
                  </a:lnTo>
                  <a:lnTo>
                    <a:pt x="209168" y="380364"/>
                  </a:lnTo>
                  <a:lnTo>
                    <a:pt x="208025" y="380364"/>
                  </a:lnTo>
                  <a:lnTo>
                    <a:pt x="207136" y="381634"/>
                  </a:lnTo>
                  <a:lnTo>
                    <a:pt x="206247" y="381634"/>
                  </a:lnTo>
                  <a:lnTo>
                    <a:pt x="205612" y="382904"/>
                  </a:lnTo>
                  <a:lnTo>
                    <a:pt x="205104" y="382904"/>
                  </a:lnTo>
                  <a:lnTo>
                    <a:pt x="204723" y="384174"/>
                  </a:lnTo>
                  <a:lnTo>
                    <a:pt x="204469" y="384174"/>
                  </a:lnTo>
                  <a:lnTo>
                    <a:pt x="204596" y="385444"/>
                  </a:lnTo>
                  <a:lnTo>
                    <a:pt x="251332" y="475614"/>
                  </a:lnTo>
                  <a:lnTo>
                    <a:pt x="251713" y="476884"/>
                  </a:lnTo>
                  <a:lnTo>
                    <a:pt x="256666" y="476884"/>
                  </a:lnTo>
                  <a:lnTo>
                    <a:pt x="257809" y="475614"/>
                  </a:lnTo>
                  <a:lnTo>
                    <a:pt x="259206" y="475614"/>
                  </a:lnTo>
                  <a:lnTo>
                    <a:pt x="260730" y="474344"/>
                  </a:lnTo>
                  <a:lnTo>
                    <a:pt x="263778" y="473074"/>
                  </a:lnTo>
                  <a:lnTo>
                    <a:pt x="264667" y="471804"/>
                  </a:lnTo>
                  <a:lnTo>
                    <a:pt x="265683" y="471804"/>
                  </a:lnTo>
                  <a:lnTo>
                    <a:pt x="266445" y="470534"/>
                  </a:lnTo>
                  <a:lnTo>
                    <a:pt x="267334" y="469264"/>
                  </a:lnTo>
                  <a:lnTo>
                    <a:pt x="267588" y="469264"/>
                  </a:lnTo>
                  <a:lnTo>
                    <a:pt x="267715" y="467994"/>
                  </a:lnTo>
                  <a:lnTo>
                    <a:pt x="267334" y="466724"/>
                  </a:lnTo>
                  <a:lnTo>
                    <a:pt x="236981" y="408304"/>
                  </a:lnTo>
                  <a:lnTo>
                    <a:pt x="237489" y="403224"/>
                  </a:lnTo>
                  <a:lnTo>
                    <a:pt x="237997" y="399414"/>
                  </a:lnTo>
                  <a:lnTo>
                    <a:pt x="238632" y="395604"/>
                  </a:lnTo>
                  <a:lnTo>
                    <a:pt x="239140" y="393064"/>
                  </a:lnTo>
                  <a:lnTo>
                    <a:pt x="239437" y="391794"/>
                  </a:lnTo>
                  <a:lnTo>
                    <a:pt x="226313" y="391794"/>
                  </a:lnTo>
                  <a:lnTo>
                    <a:pt x="219328" y="377824"/>
                  </a:lnTo>
                  <a:close/>
                </a:path>
                <a:path w="996950" h="617854">
                  <a:moveTo>
                    <a:pt x="164591" y="408304"/>
                  </a:moveTo>
                  <a:lnTo>
                    <a:pt x="159892" y="408304"/>
                  </a:lnTo>
                  <a:lnTo>
                    <a:pt x="149351" y="410844"/>
                  </a:lnTo>
                  <a:lnTo>
                    <a:pt x="143509" y="412114"/>
                  </a:lnTo>
                  <a:lnTo>
                    <a:pt x="119252" y="429894"/>
                  </a:lnTo>
                  <a:lnTo>
                    <a:pt x="116966" y="431164"/>
                  </a:lnTo>
                  <a:lnTo>
                    <a:pt x="114934" y="433704"/>
                  </a:lnTo>
                  <a:lnTo>
                    <a:pt x="111886" y="438784"/>
                  </a:lnTo>
                  <a:lnTo>
                    <a:pt x="110870" y="440054"/>
                  </a:lnTo>
                  <a:lnTo>
                    <a:pt x="110362" y="441324"/>
                  </a:lnTo>
                  <a:lnTo>
                    <a:pt x="109981" y="442594"/>
                  </a:lnTo>
                  <a:lnTo>
                    <a:pt x="109854" y="443864"/>
                  </a:lnTo>
                  <a:lnTo>
                    <a:pt x="110362" y="446404"/>
                  </a:lnTo>
                  <a:lnTo>
                    <a:pt x="110870" y="447674"/>
                  </a:lnTo>
                  <a:lnTo>
                    <a:pt x="111759" y="448944"/>
                  </a:lnTo>
                  <a:lnTo>
                    <a:pt x="112775" y="451484"/>
                  </a:lnTo>
                  <a:lnTo>
                    <a:pt x="113410" y="451484"/>
                  </a:lnTo>
                  <a:lnTo>
                    <a:pt x="113918" y="452754"/>
                  </a:lnTo>
                  <a:lnTo>
                    <a:pt x="114553" y="454024"/>
                  </a:lnTo>
                  <a:lnTo>
                    <a:pt x="119125" y="454024"/>
                  </a:lnTo>
                  <a:lnTo>
                    <a:pt x="120141" y="452754"/>
                  </a:lnTo>
                  <a:lnTo>
                    <a:pt x="121157" y="450214"/>
                  </a:lnTo>
                  <a:lnTo>
                    <a:pt x="122300" y="448944"/>
                  </a:lnTo>
                  <a:lnTo>
                    <a:pt x="123824" y="446404"/>
                  </a:lnTo>
                  <a:lnTo>
                    <a:pt x="127380" y="442594"/>
                  </a:lnTo>
                  <a:lnTo>
                    <a:pt x="129666" y="440054"/>
                  </a:lnTo>
                  <a:lnTo>
                    <a:pt x="132333" y="437514"/>
                  </a:lnTo>
                  <a:lnTo>
                    <a:pt x="135127" y="433704"/>
                  </a:lnTo>
                  <a:lnTo>
                    <a:pt x="138429" y="432434"/>
                  </a:lnTo>
                  <a:lnTo>
                    <a:pt x="142493" y="429894"/>
                  </a:lnTo>
                  <a:lnTo>
                    <a:pt x="146303" y="427354"/>
                  </a:lnTo>
                  <a:lnTo>
                    <a:pt x="149732" y="427354"/>
                  </a:lnTo>
                  <a:lnTo>
                    <a:pt x="152653" y="426084"/>
                  </a:lnTo>
                  <a:lnTo>
                    <a:pt x="186816" y="426084"/>
                  </a:lnTo>
                  <a:lnTo>
                    <a:pt x="183641" y="421004"/>
                  </a:lnTo>
                  <a:lnTo>
                    <a:pt x="180212" y="417194"/>
                  </a:lnTo>
                  <a:lnTo>
                    <a:pt x="176910" y="414654"/>
                  </a:lnTo>
                  <a:lnTo>
                    <a:pt x="173100" y="412114"/>
                  </a:lnTo>
                  <a:lnTo>
                    <a:pt x="168782" y="410844"/>
                  </a:lnTo>
                  <a:lnTo>
                    <a:pt x="164591" y="408304"/>
                  </a:lnTo>
                  <a:close/>
                </a:path>
                <a:path w="996950" h="617854">
                  <a:moveTo>
                    <a:pt x="258063" y="361314"/>
                  </a:moveTo>
                  <a:lnTo>
                    <a:pt x="241680" y="361314"/>
                  </a:lnTo>
                  <a:lnTo>
                    <a:pt x="239775" y="362584"/>
                  </a:lnTo>
                  <a:lnTo>
                    <a:pt x="237997" y="363854"/>
                  </a:lnTo>
                  <a:lnTo>
                    <a:pt x="234695" y="366394"/>
                  </a:lnTo>
                  <a:lnTo>
                    <a:pt x="233298" y="368934"/>
                  </a:lnTo>
                  <a:lnTo>
                    <a:pt x="230758" y="372744"/>
                  </a:lnTo>
                  <a:lnTo>
                    <a:pt x="229742" y="376554"/>
                  </a:lnTo>
                  <a:lnTo>
                    <a:pt x="228726" y="379094"/>
                  </a:lnTo>
                  <a:lnTo>
                    <a:pt x="227710" y="382904"/>
                  </a:lnTo>
                  <a:lnTo>
                    <a:pt x="226948" y="386714"/>
                  </a:lnTo>
                  <a:lnTo>
                    <a:pt x="226313" y="391794"/>
                  </a:lnTo>
                  <a:lnTo>
                    <a:pt x="239437" y="391794"/>
                  </a:lnTo>
                  <a:lnTo>
                    <a:pt x="240029" y="389254"/>
                  </a:lnTo>
                  <a:lnTo>
                    <a:pt x="240918" y="386714"/>
                  </a:lnTo>
                  <a:lnTo>
                    <a:pt x="248665" y="377824"/>
                  </a:lnTo>
                  <a:lnTo>
                    <a:pt x="249935" y="376554"/>
                  </a:lnTo>
                  <a:lnTo>
                    <a:pt x="252729" y="376554"/>
                  </a:lnTo>
                  <a:lnTo>
                    <a:pt x="253999" y="375284"/>
                  </a:lnTo>
                  <a:lnTo>
                    <a:pt x="258444" y="375284"/>
                  </a:lnTo>
                  <a:lnTo>
                    <a:pt x="260984" y="374014"/>
                  </a:lnTo>
                  <a:lnTo>
                    <a:pt x="262381" y="374014"/>
                  </a:lnTo>
                  <a:lnTo>
                    <a:pt x="262254" y="370204"/>
                  </a:lnTo>
                  <a:lnTo>
                    <a:pt x="261746" y="368934"/>
                  </a:lnTo>
                  <a:lnTo>
                    <a:pt x="261365" y="367664"/>
                  </a:lnTo>
                  <a:lnTo>
                    <a:pt x="260730" y="366394"/>
                  </a:lnTo>
                  <a:lnTo>
                    <a:pt x="259968" y="365124"/>
                  </a:lnTo>
                  <a:lnTo>
                    <a:pt x="258571" y="362584"/>
                  </a:lnTo>
                  <a:lnTo>
                    <a:pt x="258063" y="361314"/>
                  </a:lnTo>
                  <a:close/>
                </a:path>
                <a:path w="996950" h="617854">
                  <a:moveTo>
                    <a:pt x="257174" y="360044"/>
                  </a:moveTo>
                  <a:lnTo>
                    <a:pt x="244728" y="360044"/>
                  </a:lnTo>
                  <a:lnTo>
                    <a:pt x="243585" y="361314"/>
                  </a:lnTo>
                  <a:lnTo>
                    <a:pt x="257555" y="361314"/>
                  </a:lnTo>
                  <a:lnTo>
                    <a:pt x="257174" y="360044"/>
                  </a:lnTo>
                  <a:close/>
                </a:path>
                <a:path w="996950" h="617854">
                  <a:moveTo>
                    <a:pt x="256539" y="358774"/>
                  </a:moveTo>
                  <a:lnTo>
                    <a:pt x="248411" y="358774"/>
                  </a:lnTo>
                  <a:lnTo>
                    <a:pt x="247014" y="360044"/>
                  </a:lnTo>
                  <a:lnTo>
                    <a:pt x="256793" y="360044"/>
                  </a:lnTo>
                  <a:lnTo>
                    <a:pt x="256539" y="358774"/>
                  </a:lnTo>
                  <a:close/>
                </a:path>
                <a:path w="996950" h="617854">
                  <a:moveTo>
                    <a:pt x="333501" y="321309"/>
                  </a:moveTo>
                  <a:lnTo>
                    <a:pt x="321309" y="321309"/>
                  </a:lnTo>
                  <a:lnTo>
                    <a:pt x="314705" y="323849"/>
                  </a:lnTo>
                  <a:lnTo>
                    <a:pt x="284860" y="350519"/>
                  </a:lnTo>
                  <a:lnTo>
                    <a:pt x="281685" y="369569"/>
                  </a:lnTo>
                  <a:lnTo>
                    <a:pt x="283971" y="383539"/>
                  </a:lnTo>
                  <a:lnTo>
                    <a:pt x="286511" y="391159"/>
                  </a:lnTo>
                  <a:lnTo>
                    <a:pt x="290575" y="398779"/>
                  </a:lnTo>
                  <a:lnTo>
                    <a:pt x="294766" y="407669"/>
                  </a:lnTo>
                  <a:lnTo>
                    <a:pt x="299338" y="414019"/>
                  </a:lnTo>
                  <a:lnTo>
                    <a:pt x="309498" y="424179"/>
                  </a:lnTo>
                  <a:lnTo>
                    <a:pt x="314959" y="427989"/>
                  </a:lnTo>
                  <a:lnTo>
                    <a:pt x="320801" y="429259"/>
                  </a:lnTo>
                  <a:lnTo>
                    <a:pt x="326643" y="431799"/>
                  </a:lnTo>
                  <a:lnTo>
                    <a:pt x="339470" y="431799"/>
                  </a:lnTo>
                  <a:lnTo>
                    <a:pt x="345947" y="430529"/>
                  </a:lnTo>
                  <a:lnTo>
                    <a:pt x="352932" y="427989"/>
                  </a:lnTo>
                  <a:lnTo>
                    <a:pt x="364489" y="422909"/>
                  </a:lnTo>
                  <a:lnTo>
                    <a:pt x="368299" y="420369"/>
                  </a:lnTo>
                  <a:lnTo>
                    <a:pt x="375157" y="415289"/>
                  </a:lnTo>
                  <a:lnTo>
                    <a:pt x="331469" y="415289"/>
                  </a:lnTo>
                  <a:lnTo>
                    <a:pt x="323849" y="411479"/>
                  </a:lnTo>
                  <a:lnTo>
                    <a:pt x="320420" y="408939"/>
                  </a:lnTo>
                  <a:lnTo>
                    <a:pt x="314324" y="402589"/>
                  </a:lnTo>
                  <a:lnTo>
                    <a:pt x="311530" y="398779"/>
                  </a:lnTo>
                  <a:lnTo>
                    <a:pt x="308990" y="393699"/>
                  </a:lnTo>
                  <a:lnTo>
                    <a:pt x="333491" y="380999"/>
                  </a:lnTo>
                  <a:lnTo>
                    <a:pt x="302767" y="380999"/>
                  </a:lnTo>
                  <a:lnTo>
                    <a:pt x="300989" y="377189"/>
                  </a:lnTo>
                  <a:lnTo>
                    <a:pt x="299846" y="373379"/>
                  </a:lnTo>
                  <a:lnTo>
                    <a:pt x="299211" y="369569"/>
                  </a:lnTo>
                  <a:lnTo>
                    <a:pt x="298703" y="365759"/>
                  </a:lnTo>
                  <a:lnTo>
                    <a:pt x="298703" y="361949"/>
                  </a:lnTo>
                  <a:lnTo>
                    <a:pt x="321436" y="336549"/>
                  </a:lnTo>
                  <a:lnTo>
                    <a:pt x="360235" y="336549"/>
                  </a:lnTo>
                  <a:lnTo>
                    <a:pt x="358139" y="334009"/>
                  </a:lnTo>
                  <a:lnTo>
                    <a:pt x="353948" y="330199"/>
                  </a:lnTo>
                  <a:lnTo>
                    <a:pt x="349376" y="326389"/>
                  </a:lnTo>
                  <a:lnTo>
                    <a:pt x="344169" y="323849"/>
                  </a:lnTo>
                  <a:lnTo>
                    <a:pt x="339089" y="322579"/>
                  </a:lnTo>
                  <a:lnTo>
                    <a:pt x="333501" y="321309"/>
                  </a:lnTo>
                  <a:close/>
                </a:path>
                <a:path w="996950" h="617854">
                  <a:moveTo>
                    <a:pt x="383793" y="388619"/>
                  </a:moveTo>
                  <a:lnTo>
                    <a:pt x="380110" y="388619"/>
                  </a:lnTo>
                  <a:lnTo>
                    <a:pt x="379094" y="389889"/>
                  </a:lnTo>
                  <a:lnTo>
                    <a:pt x="377951" y="391159"/>
                  </a:lnTo>
                  <a:lnTo>
                    <a:pt x="376681" y="392429"/>
                  </a:lnTo>
                  <a:lnTo>
                    <a:pt x="375157" y="394969"/>
                  </a:lnTo>
                  <a:lnTo>
                    <a:pt x="373125" y="396239"/>
                  </a:lnTo>
                  <a:lnTo>
                    <a:pt x="354964" y="410209"/>
                  </a:lnTo>
                  <a:lnTo>
                    <a:pt x="349630" y="412749"/>
                  </a:lnTo>
                  <a:lnTo>
                    <a:pt x="344677" y="415289"/>
                  </a:lnTo>
                  <a:lnTo>
                    <a:pt x="375157" y="415289"/>
                  </a:lnTo>
                  <a:lnTo>
                    <a:pt x="378078" y="412749"/>
                  </a:lnTo>
                  <a:lnTo>
                    <a:pt x="382904" y="407669"/>
                  </a:lnTo>
                  <a:lnTo>
                    <a:pt x="384809" y="406399"/>
                  </a:lnTo>
                  <a:lnTo>
                    <a:pt x="387603" y="402589"/>
                  </a:lnTo>
                  <a:lnTo>
                    <a:pt x="388365" y="401319"/>
                  </a:lnTo>
                  <a:lnTo>
                    <a:pt x="388619" y="400049"/>
                  </a:lnTo>
                  <a:lnTo>
                    <a:pt x="388746" y="400049"/>
                  </a:lnTo>
                  <a:lnTo>
                    <a:pt x="388746" y="397509"/>
                  </a:lnTo>
                  <a:lnTo>
                    <a:pt x="388492" y="397509"/>
                  </a:lnTo>
                  <a:lnTo>
                    <a:pt x="387984" y="396239"/>
                  </a:lnTo>
                  <a:lnTo>
                    <a:pt x="387730" y="394969"/>
                  </a:lnTo>
                  <a:lnTo>
                    <a:pt x="386333" y="392429"/>
                  </a:lnTo>
                  <a:lnTo>
                    <a:pt x="385698" y="391159"/>
                  </a:lnTo>
                  <a:lnTo>
                    <a:pt x="385190" y="389889"/>
                  </a:lnTo>
                  <a:lnTo>
                    <a:pt x="384682" y="389889"/>
                  </a:lnTo>
                  <a:lnTo>
                    <a:pt x="383793" y="388619"/>
                  </a:lnTo>
                  <a:close/>
                </a:path>
                <a:path w="996950" h="617854">
                  <a:moveTo>
                    <a:pt x="424687" y="388619"/>
                  </a:moveTo>
                  <a:lnTo>
                    <a:pt x="420877" y="388619"/>
                  </a:lnTo>
                  <a:lnTo>
                    <a:pt x="421639" y="389889"/>
                  </a:lnTo>
                  <a:lnTo>
                    <a:pt x="423798" y="389889"/>
                  </a:lnTo>
                  <a:lnTo>
                    <a:pt x="424687" y="388619"/>
                  </a:lnTo>
                  <a:close/>
                </a:path>
                <a:path w="996950" h="617854">
                  <a:moveTo>
                    <a:pt x="388492" y="290829"/>
                  </a:moveTo>
                  <a:lnTo>
                    <a:pt x="381253" y="290829"/>
                  </a:lnTo>
                  <a:lnTo>
                    <a:pt x="379856" y="292099"/>
                  </a:lnTo>
                  <a:lnTo>
                    <a:pt x="378332" y="292099"/>
                  </a:lnTo>
                  <a:lnTo>
                    <a:pt x="377189" y="293369"/>
                  </a:lnTo>
                  <a:lnTo>
                    <a:pt x="376300" y="293369"/>
                  </a:lnTo>
                  <a:lnTo>
                    <a:pt x="375411" y="294639"/>
                  </a:lnTo>
                  <a:lnTo>
                    <a:pt x="374776" y="294639"/>
                  </a:lnTo>
                  <a:lnTo>
                    <a:pt x="374268" y="295909"/>
                  </a:lnTo>
                  <a:lnTo>
                    <a:pt x="373887" y="295909"/>
                  </a:lnTo>
                  <a:lnTo>
                    <a:pt x="373633" y="297179"/>
                  </a:lnTo>
                  <a:lnTo>
                    <a:pt x="373760" y="298449"/>
                  </a:lnTo>
                  <a:lnTo>
                    <a:pt x="374014" y="298449"/>
                  </a:lnTo>
                  <a:lnTo>
                    <a:pt x="420496" y="388619"/>
                  </a:lnTo>
                  <a:lnTo>
                    <a:pt x="425830" y="388619"/>
                  </a:lnTo>
                  <a:lnTo>
                    <a:pt x="428370" y="387349"/>
                  </a:lnTo>
                  <a:lnTo>
                    <a:pt x="429894" y="387349"/>
                  </a:lnTo>
                  <a:lnTo>
                    <a:pt x="432942" y="384809"/>
                  </a:lnTo>
                  <a:lnTo>
                    <a:pt x="433831" y="384809"/>
                  </a:lnTo>
                  <a:lnTo>
                    <a:pt x="434847" y="383539"/>
                  </a:lnTo>
                  <a:lnTo>
                    <a:pt x="435609" y="383539"/>
                  </a:lnTo>
                  <a:lnTo>
                    <a:pt x="435990" y="382269"/>
                  </a:lnTo>
                  <a:lnTo>
                    <a:pt x="436498" y="382269"/>
                  </a:lnTo>
                  <a:lnTo>
                    <a:pt x="436752" y="380999"/>
                  </a:lnTo>
                  <a:lnTo>
                    <a:pt x="436879" y="380999"/>
                  </a:lnTo>
                  <a:lnTo>
                    <a:pt x="436879" y="379729"/>
                  </a:lnTo>
                  <a:lnTo>
                    <a:pt x="436498" y="379729"/>
                  </a:lnTo>
                  <a:lnTo>
                    <a:pt x="404240" y="317499"/>
                  </a:lnTo>
                  <a:lnTo>
                    <a:pt x="405891" y="309879"/>
                  </a:lnTo>
                  <a:lnTo>
                    <a:pt x="407585" y="303529"/>
                  </a:lnTo>
                  <a:lnTo>
                    <a:pt x="394842" y="303529"/>
                  </a:lnTo>
                  <a:lnTo>
                    <a:pt x="388492" y="290829"/>
                  </a:lnTo>
                  <a:close/>
                </a:path>
                <a:path w="996950" h="617854">
                  <a:moveTo>
                    <a:pt x="360235" y="336549"/>
                  </a:moveTo>
                  <a:lnTo>
                    <a:pt x="328675" y="336549"/>
                  </a:lnTo>
                  <a:lnTo>
                    <a:pt x="341756" y="341629"/>
                  </a:lnTo>
                  <a:lnTo>
                    <a:pt x="347217" y="346709"/>
                  </a:lnTo>
                  <a:lnTo>
                    <a:pt x="351408" y="355599"/>
                  </a:lnTo>
                  <a:lnTo>
                    <a:pt x="302767" y="380999"/>
                  </a:lnTo>
                  <a:lnTo>
                    <a:pt x="333491" y="380999"/>
                  </a:lnTo>
                  <a:lnTo>
                    <a:pt x="367791" y="363219"/>
                  </a:lnTo>
                  <a:lnTo>
                    <a:pt x="371982" y="356869"/>
                  </a:lnTo>
                  <a:lnTo>
                    <a:pt x="371728" y="354329"/>
                  </a:lnTo>
                  <a:lnTo>
                    <a:pt x="370458" y="351789"/>
                  </a:lnTo>
                  <a:lnTo>
                    <a:pt x="368807" y="349249"/>
                  </a:lnTo>
                  <a:lnTo>
                    <a:pt x="365886" y="344169"/>
                  </a:lnTo>
                  <a:lnTo>
                    <a:pt x="362330" y="339089"/>
                  </a:lnTo>
                  <a:lnTo>
                    <a:pt x="360235" y="336549"/>
                  </a:lnTo>
                  <a:close/>
                </a:path>
                <a:path w="996950" h="617854">
                  <a:moveTo>
                    <a:pt x="487425" y="356869"/>
                  </a:moveTo>
                  <a:lnTo>
                    <a:pt x="480948" y="356869"/>
                  </a:lnTo>
                  <a:lnTo>
                    <a:pt x="481329" y="358139"/>
                  </a:lnTo>
                  <a:lnTo>
                    <a:pt x="485139" y="358139"/>
                  </a:lnTo>
                  <a:lnTo>
                    <a:pt x="487425" y="356869"/>
                  </a:lnTo>
                  <a:close/>
                </a:path>
                <a:path w="996950" h="617854">
                  <a:moveTo>
                    <a:pt x="463867" y="284479"/>
                  </a:moveTo>
                  <a:lnTo>
                    <a:pt x="432942" y="284479"/>
                  </a:lnTo>
                  <a:lnTo>
                    <a:pt x="435736" y="285749"/>
                  </a:lnTo>
                  <a:lnTo>
                    <a:pt x="441070" y="288289"/>
                  </a:lnTo>
                  <a:lnTo>
                    <a:pt x="480694" y="356869"/>
                  </a:lnTo>
                  <a:lnTo>
                    <a:pt x="488822" y="356869"/>
                  </a:lnTo>
                  <a:lnTo>
                    <a:pt x="492124" y="354329"/>
                  </a:lnTo>
                  <a:lnTo>
                    <a:pt x="493394" y="354329"/>
                  </a:lnTo>
                  <a:lnTo>
                    <a:pt x="494283" y="353059"/>
                  </a:lnTo>
                  <a:lnTo>
                    <a:pt x="495299" y="353059"/>
                  </a:lnTo>
                  <a:lnTo>
                    <a:pt x="496061" y="351789"/>
                  </a:lnTo>
                  <a:lnTo>
                    <a:pt x="496569" y="351789"/>
                  </a:lnTo>
                  <a:lnTo>
                    <a:pt x="496950" y="350519"/>
                  </a:lnTo>
                  <a:lnTo>
                    <a:pt x="497204" y="350519"/>
                  </a:lnTo>
                  <a:lnTo>
                    <a:pt x="497331" y="349249"/>
                  </a:lnTo>
                  <a:lnTo>
                    <a:pt x="497077" y="347979"/>
                  </a:lnTo>
                  <a:lnTo>
                    <a:pt x="468883" y="293369"/>
                  </a:lnTo>
                  <a:lnTo>
                    <a:pt x="465581" y="287019"/>
                  </a:lnTo>
                  <a:lnTo>
                    <a:pt x="463867" y="284479"/>
                  </a:lnTo>
                  <a:close/>
                </a:path>
                <a:path w="996950" h="617854">
                  <a:moveTo>
                    <a:pt x="509452" y="253999"/>
                  </a:moveTo>
                  <a:lnTo>
                    <a:pt x="488441" y="253999"/>
                  </a:lnTo>
                  <a:lnTo>
                    <a:pt x="515492" y="306069"/>
                  </a:lnTo>
                  <a:lnTo>
                    <a:pt x="540384" y="327659"/>
                  </a:lnTo>
                  <a:lnTo>
                    <a:pt x="548258" y="326389"/>
                  </a:lnTo>
                  <a:lnTo>
                    <a:pt x="552576" y="325119"/>
                  </a:lnTo>
                  <a:lnTo>
                    <a:pt x="557148" y="322579"/>
                  </a:lnTo>
                  <a:lnTo>
                    <a:pt x="558672" y="321309"/>
                  </a:lnTo>
                  <a:lnTo>
                    <a:pt x="560196" y="321309"/>
                  </a:lnTo>
                  <a:lnTo>
                    <a:pt x="562990" y="318769"/>
                  </a:lnTo>
                  <a:lnTo>
                    <a:pt x="565530" y="316229"/>
                  </a:lnTo>
                  <a:lnTo>
                    <a:pt x="566673" y="316229"/>
                  </a:lnTo>
                  <a:lnTo>
                    <a:pt x="567689" y="314959"/>
                  </a:lnTo>
                  <a:lnTo>
                    <a:pt x="568578" y="313689"/>
                  </a:lnTo>
                  <a:lnTo>
                    <a:pt x="569340" y="312419"/>
                  </a:lnTo>
                  <a:lnTo>
                    <a:pt x="569848" y="312419"/>
                  </a:lnTo>
                  <a:lnTo>
                    <a:pt x="570356" y="309879"/>
                  </a:lnTo>
                  <a:lnTo>
                    <a:pt x="543940" y="309879"/>
                  </a:lnTo>
                  <a:lnTo>
                    <a:pt x="537082" y="304799"/>
                  </a:lnTo>
                  <a:lnTo>
                    <a:pt x="533780" y="300989"/>
                  </a:lnTo>
                  <a:lnTo>
                    <a:pt x="530605" y="294639"/>
                  </a:lnTo>
                  <a:lnTo>
                    <a:pt x="509452" y="253999"/>
                  </a:lnTo>
                  <a:close/>
                </a:path>
                <a:path w="996950" h="617854">
                  <a:moveTo>
                    <a:pt x="564514" y="298449"/>
                  </a:moveTo>
                  <a:lnTo>
                    <a:pt x="561593" y="298449"/>
                  </a:lnTo>
                  <a:lnTo>
                    <a:pt x="559942" y="300989"/>
                  </a:lnTo>
                  <a:lnTo>
                    <a:pt x="559180" y="302259"/>
                  </a:lnTo>
                  <a:lnTo>
                    <a:pt x="558418" y="302259"/>
                  </a:lnTo>
                  <a:lnTo>
                    <a:pt x="557529" y="303529"/>
                  </a:lnTo>
                  <a:lnTo>
                    <a:pt x="556513" y="304799"/>
                  </a:lnTo>
                  <a:lnTo>
                    <a:pt x="555497" y="304799"/>
                  </a:lnTo>
                  <a:lnTo>
                    <a:pt x="552703" y="307339"/>
                  </a:lnTo>
                  <a:lnTo>
                    <a:pt x="548004" y="309879"/>
                  </a:lnTo>
                  <a:lnTo>
                    <a:pt x="570356" y="309879"/>
                  </a:lnTo>
                  <a:lnTo>
                    <a:pt x="570356" y="308609"/>
                  </a:lnTo>
                  <a:lnTo>
                    <a:pt x="570102" y="307339"/>
                  </a:lnTo>
                  <a:lnTo>
                    <a:pt x="569721" y="306069"/>
                  </a:lnTo>
                  <a:lnTo>
                    <a:pt x="569086" y="304799"/>
                  </a:lnTo>
                  <a:lnTo>
                    <a:pt x="568070" y="303529"/>
                  </a:lnTo>
                  <a:lnTo>
                    <a:pt x="567435" y="302259"/>
                  </a:lnTo>
                  <a:lnTo>
                    <a:pt x="566927" y="300989"/>
                  </a:lnTo>
                  <a:lnTo>
                    <a:pt x="566292" y="299719"/>
                  </a:lnTo>
                  <a:lnTo>
                    <a:pt x="565784" y="299719"/>
                  </a:lnTo>
                  <a:lnTo>
                    <a:pt x="564514" y="298449"/>
                  </a:lnTo>
                  <a:close/>
                </a:path>
                <a:path w="996950" h="617854">
                  <a:moveTo>
                    <a:pt x="442975" y="266699"/>
                  </a:moveTo>
                  <a:lnTo>
                    <a:pt x="428116" y="266699"/>
                  </a:lnTo>
                  <a:lnTo>
                    <a:pt x="422528" y="267969"/>
                  </a:lnTo>
                  <a:lnTo>
                    <a:pt x="394842" y="303529"/>
                  </a:lnTo>
                  <a:lnTo>
                    <a:pt x="407585" y="303529"/>
                  </a:lnTo>
                  <a:lnTo>
                    <a:pt x="407923" y="302259"/>
                  </a:lnTo>
                  <a:lnTo>
                    <a:pt x="410590" y="297179"/>
                  </a:lnTo>
                  <a:lnTo>
                    <a:pt x="413130" y="293369"/>
                  </a:lnTo>
                  <a:lnTo>
                    <a:pt x="416432" y="289559"/>
                  </a:lnTo>
                  <a:lnTo>
                    <a:pt x="420623" y="287019"/>
                  </a:lnTo>
                  <a:lnTo>
                    <a:pt x="423798" y="285749"/>
                  </a:lnTo>
                  <a:lnTo>
                    <a:pt x="426846" y="284479"/>
                  </a:lnTo>
                  <a:lnTo>
                    <a:pt x="463867" y="284479"/>
                  </a:lnTo>
                  <a:lnTo>
                    <a:pt x="462152" y="281939"/>
                  </a:lnTo>
                  <a:lnTo>
                    <a:pt x="455294" y="274319"/>
                  </a:lnTo>
                  <a:lnTo>
                    <a:pt x="451484" y="271779"/>
                  </a:lnTo>
                  <a:lnTo>
                    <a:pt x="447166" y="269239"/>
                  </a:lnTo>
                  <a:lnTo>
                    <a:pt x="442975" y="266699"/>
                  </a:lnTo>
                  <a:close/>
                </a:path>
                <a:path w="996950" h="617854">
                  <a:moveTo>
                    <a:pt x="387349" y="289559"/>
                  </a:moveTo>
                  <a:lnTo>
                    <a:pt x="383539" y="289559"/>
                  </a:lnTo>
                  <a:lnTo>
                    <a:pt x="382523" y="290829"/>
                  </a:lnTo>
                  <a:lnTo>
                    <a:pt x="388111" y="290829"/>
                  </a:lnTo>
                  <a:lnTo>
                    <a:pt x="387349" y="289559"/>
                  </a:lnTo>
                  <a:close/>
                </a:path>
                <a:path w="996950" h="617854">
                  <a:moveTo>
                    <a:pt x="486536" y="209549"/>
                  </a:moveTo>
                  <a:lnTo>
                    <a:pt x="479932" y="209549"/>
                  </a:lnTo>
                  <a:lnTo>
                    <a:pt x="478535" y="210819"/>
                  </a:lnTo>
                  <a:lnTo>
                    <a:pt x="476884" y="210819"/>
                  </a:lnTo>
                  <a:lnTo>
                    <a:pt x="475360" y="212089"/>
                  </a:lnTo>
                  <a:lnTo>
                    <a:pt x="473074" y="213359"/>
                  </a:lnTo>
                  <a:lnTo>
                    <a:pt x="472058" y="214629"/>
                  </a:lnTo>
                  <a:lnTo>
                    <a:pt x="471296" y="214629"/>
                  </a:lnTo>
                  <a:lnTo>
                    <a:pt x="470915" y="215899"/>
                  </a:lnTo>
                  <a:lnTo>
                    <a:pt x="470407" y="215899"/>
                  </a:lnTo>
                  <a:lnTo>
                    <a:pt x="470153" y="217169"/>
                  </a:lnTo>
                  <a:lnTo>
                    <a:pt x="470153" y="218439"/>
                  </a:lnTo>
                  <a:lnTo>
                    <a:pt x="481456" y="240029"/>
                  </a:lnTo>
                  <a:lnTo>
                    <a:pt x="468502" y="246379"/>
                  </a:lnTo>
                  <a:lnTo>
                    <a:pt x="468121" y="246379"/>
                  </a:lnTo>
                  <a:lnTo>
                    <a:pt x="467740" y="247649"/>
                  </a:lnTo>
                  <a:lnTo>
                    <a:pt x="467486" y="247649"/>
                  </a:lnTo>
                  <a:lnTo>
                    <a:pt x="467359" y="248919"/>
                  </a:lnTo>
                  <a:lnTo>
                    <a:pt x="467359" y="250189"/>
                  </a:lnTo>
                  <a:lnTo>
                    <a:pt x="467867" y="251459"/>
                  </a:lnTo>
                  <a:lnTo>
                    <a:pt x="468121" y="252729"/>
                  </a:lnTo>
                  <a:lnTo>
                    <a:pt x="468502" y="253999"/>
                  </a:lnTo>
                  <a:lnTo>
                    <a:pt x="469264" y="255269"/>
                  </a:lnTo>
                  <a:lnTo>
                    <a:pt x="470407" y="257809"/>
                  </a:lnTo>
                  <a:lnTo>
                    <a:pt x="471677" y="259079"/>
                  </a:lnTo>
                  <a:lnTo>
                    <a:pt x="473963" y="260349"/>
                  </a:lnTo>
                  <a:lnTo>
                    <a:pt x="475995" y="260349"/>
                  </a:lnTo>
                  <a:lnTo>
                    <a:pt x="488441" y="253999"/>
                  </a:lnTo>
                  <a:lnTo>
                    <a:pt x="509452" y="253999"/>
                  </a:lnTo>
                  <a:lnTo>
                    <a:pt x="504824" y="245109"/>
                  </a:lnTo>
                  <a:lnTo>
                    <a:pt x="527684" y="233679"/>
                  </a:lnTo>
                  <a:lnTo>
                    <a:pt x="528700" y="232409"/>
                  </a:lnTo>
                  <a:lnTo>
                    <a:pt x="529208" y="231139"/>
                  </a:lnTo>
                  <a:lnTo>
                    <a:pt x="497839" y="231139"/>
                  </a:lnTo>
                  <a:lnTo>
                    <a:pt x="486536" y="209549"/>
                  </a:lnTo>
                  <a:close/>
                </a:path>
                <a:path w="996950" h="617854">
                  <a:moveTo>
                    <a:pt x="524509" y="219709"/>
                  </a:moveTo>
                  <a:lnTo>
                    <a:pt x="521207" y="219709"/>
                  </a:lnTo>
                  <a:lnTo>
                    <a:pt x="497839" y="231139"/>
                  </a:lnTo>
                  <a:lnTo>
                    <a:pt x="529208" y="231139"/>
                  </a:lnTo>
                  <a:lnTo>
                    <a:pt x="529208" y="229869"/>
                  </a:lnTo>
                  <a:lnTo>
                    <a:pt x="529335" y="228599"/>
                  </a:lnTo>
                  <a:lnTo>
                    <a:pt x="526160" y="222249"/>
                  </a:lnTo>
                  <a:lnTo>
                    <a:pt x="525652" y="222249"/>
                  </a:lnTo>
                  <a:lnTo>
                    <a:pt x="524509" y="219709"/>
                  </a:lnTo>
                  <a:close/>
                </a:path>
                <a:path w="996950" h="617854">
                  <a:moveTo>
                    <a:pt x="484631" y="208279"/>
                  </a:moveTo>
                  <a:lnTo>
                    <a:pt x="483107" y="208279"/>
                  </a:lnTo>
                  <a:lnTo>
                    <a:pt x="482218" y="209549"/>
                  </a:lnTo>
                  <a:lnTo>
                    <a:pt x="485266" y="209549"/>
                  </a:lnTo>
                  <a:lnTo>
                    <a:pt x="484631" y="208279"/>
                  </a:lnTo>
                  <a:close/>
                </a:path>
                <a:path w="996950" h="617854">
                  <a:moveTo>
                    <a:pt x="657097" y="157479"/>
                  </a:moveTo>
                  <a:lnTo>
                    <a:pt x="638682" y="157479"/>
                  </a:lnTo>
                  <a:lnTo>
                    <a:pt x="621156" y="165099"/>
                  </a:lnTo>
                  <a:lnTo>
                    <a:pt x="601929" y="196849"/>
                  </a:lnTo>
                  <a:lnTo>
                    <a:pt x="601827" y="199389"/>
                  </a:lnTo>
                  <a:lnTo>
                    <a:pt x="615314" y="241299"/>
                  </a:lnTo>
                  <a:lnTo>
                    <a:pt x="645413" y="266699"/>
                  </a:lnTo>
                  <a:lnTo>
                    <a:pt x="663193" y="266699"/>
                  </a:lnTo>
                  <a:lnTo>
                    <a:pt x="669416" y="264159"/>
                  </a:lnTo>
                  <a:lnTo>
                    <a:pt x="675893" y="261619"/>
                  </a:lnTo>
                  <a:lnTo>
                    <a:pt x="678941" y="259079"/>
                  </a:lnTo>
                  <a:lnTo>
                    <a:pt x="681862" y="257809"/>
                  </a:lnTo>
                  <a:lnTo>
                    <a:pt x="684402" y="255269"/>
                  </a:lnTo>
                  <a:lnTo>
                    <a:pt x="687069" y="253999"/>
                  </a:lnTo>
                  <a:lnTo>
                    <a:pt x="689355" y="251459"/>
                  </a:lnTo>
                  <a:lnTo>
                    <a:pt x="691260" y="248919"/>
                  </a:lnTo>
                  <a:lnTo>
                    <a:pt x="651382" y="248919"/>
                  </a:lnTo>
                  <a:lnTo>
                    <a:pt x="647826" y="246379"/>
                  </a:lnTo>
                  <a:lnTo>
                    <a:pt x="624077" y="215899"/>
                  </a:lnTo>
                  <a:lnTo>
                    <a:pt x="620458" y="200659"/>
                  </a:lnTo>
                  <a:lnTo>
                    <a:pt x="620572" y="196849"/>
                  </a:lnTo>
                  <a:lnTo>
                    <a:pt x="620648" y="194309"/>
                  </a:lnTo>
                  <a:lnTo>
                    <a:pt x="621664" y="186689"/>
                  </a:lnTo>
                  <a:lnTo>
                    <a:pt x="626109" y="180339"/>
                  </a:lnTo>
                  <a:lnTo>
                    <a:pt x="633983" y="176529"/>
                  </a:lnTo>
                  <a:lnTo>
                    <a:pt x="637793" y="173989"/>
                  </a:lnTo>
                  <a:lnTo>
                    <a:pt x="641476" y="172719"/>
                  </a:lnTo>
                  <a:lnTo>
                    <a:pt x="666241" y="172719"/>
                  </a:lnTo>
                  <a:lnTo>
                    <a:pt x="666368" y="168909"/>
                  </a:lnTo>
                  <a:lnTo>
                    <a:pt x="665733" y="167639"/>
                  </a:lnTo>
                  <a:lnTo>
                    <a:pt x="663701" y="163829"/>
                  </a:lnTo>
                  <a:lnTo>
                    <a:pt x="663193" y="162559"/>
                  </a:lnTo>
                  <a:lnTo>
                    <a:pt x="662685" y="162559"/>
                  </a:lnTo>
                  <a:lnTo>
                    <a:pt x="662304" y="161289"/>
                  </a:lnTo>
                  <a:lnTo>
                    <a:pt x="661796" y="160019"/>
                  </a:lnTo>
                  <a:lnTo>
                    <a:pt x="660780" y="160019"/>
                  </a:lnTo>
                  <a:lnTo>
                    <a:pt x="660145" y="158749"/>
                  </a:lnTo>
                  <a:lnTo>
                    <a:pt x="658240" y="158749"/>
                  </a:lnTo>
                  <a:lnTo>
                    <a:pt x="657097" y="157479"/>
                  </a:lnTo>
                  <a:close/>
                </a:path>
                <a:path w="996950" h="617854">
                  <a:moveTo>
                    <a:pt x="694181" y="222249"/>
                  </a:moveTo>
                  <a:lnTo>
                    <a:pt x="689101" y="222249"/>
                  </a:lnTo>
                  <a:lnTo>
                    <a:pt x="688212" y="224789"/>
                  </a:lnTo>
                  <a:lnTo>
                    <a:pt x="687450" y="227329"/>
                  </a:lnTo>
                  <a:lnTo>
                    <a:pt x="686307" y="228599"/>
                  </a:lnTo>
                  <a:lnTo>
                    <a:pt x="684910" y="231139"/>
                  </a:lnTo>
                  <a:lnTo>
                    <a:pt x="683640" y="233679"/>
                  </a:lnTo>
                  <a:lnTo>
                    <a:pt x="681862" y="236219"/>
                  </a:lnTo>
                  <a:lnTo>
                    <a:pt x="679576" y="238759"/>
                  </a:lnTo>
                  <a:lnTo>
                    <a:pt x="677417" y="241299"/>
                  </a:lnTo>
                  <a:lnTo>
                    <a:pt x="674369" y="243839"/>
                  </a:lnTo>
                  <a:lnTo>
                    <a:pt x="670559" y="246379"/>
                  </a:lnTo>
                  <a:lnTo>
                    <a:pt x="666622" y="247649"/>
                  </a:lnTo>
                  <a:lnTo>
                    <a:pt x="662812" y="248919"/>
                  </a:lnTo>
                  <a:lnTo>
                    <a:pt x="691260" y="248919"/>
                  </a:lnTo>
                  <a:lnTo>
                    <a:pt x="693292" y="246379"/>
                  </a:lnTo>
                  <a:lnTo>
                    <a:pt x="694943" y="245109"/>
                  </a:lnTo>
                  <a:lnTo>
                    <a:pt x="696340" y="242569"/>
                  </a:lnTo>
                  <a:lnTo>
                    <a:pt x="697610" y="240029"/>
                  </a:lnTo>
                  <a:lnTo>
                    <a:pt x="698499" y="238759"/>
                  </a:lnTo>
                  <a:lnTo>
                    <a:pt x="698880" y="237489"/>
                  </a:lnTo>
                  <a:lnTo>
                    <a:pt x="699515" y="234949"/>
                  </a:lnTo>
                  <a:lnTo>
                    <a:pt x="699388" y="232409"/>
                  </a:lnTo>
                  <a:lnTo>
                    <a:pt x="699261" y="232409"/>
                  </a:lnTo>
                  <a:lnTo>
                    <a:pt x="699007" y="231139"/>
                  </a:lnTo>
                  <a:lnTo>
                    <a:pt x="698245" y="229869"/>
                  </a:lnTo>
                  <a:lnTo>
                    <a:pt x="697229" y="227329"/>
                  </a:lnTo>
                  <a:lnTo>
                    <a:pt x="696594" y="226059"/>
                  </a:lnTo>
                  <a:lnTo>
                    <a:pt x="695832" y="224789"/>
                  </a:lnTo>
                  <a:lnTo>
                    <a:pt x="695324" y="223519"/>
                  </a:lnTo>
                  <a:lnTo>
                    <a:pt x="694689" y="223519"/>
                  </a:lnTo>
                  <a:lnTo>
                    <a:pt x="694181" y="222249"/>
                  </a:lnTo>
                  <a:close/>
                </a:path>
                <a:path w="996950" h="617854">
                  <a:moveTo>
                    <a:pt x="673607" y="87629"/>
                  </a:moveTo>
                  <a:lnTo>
                    <a:pt x="669289" y="87629"/>
                  </a:lnTo>
                  <a:lnTo>
                    <a:pt x="667003" y="88899"/>
                  </a:lnTo>
                  <a:lnTo>
                    <a:pt x="665606" y="88899"/>
                  </a:lnTo>
                  <a:lnTo>
                    <a:pt x="663955" y="90169"/>
                  </a:lnTo>
                  <a:lnTo>
                    <a:pt x="662431" y="90169"/>
                  </a:lnTo>
                  <a:lnTo>
                    <a:pt x="661034" y="91439"/>
                  </a:lnTo>
                  <a:lnTo>
                    <a:pt x="660145" y="92709"/>
                  </a:lnTo>
                  <a:lnTo>
                    <a:pt x="659129" y="92709"/>
                  </a:lnTo>
                  <a:lnTo>
                    <a:pt x="658367" y="93979"/>
                  </a:lnTo>
                  <a:lnTo>
                    <a:pt x="657351" y="93979"/>
                  </a:lnTo>
                  <a:lnTo>
                    <a:pt x="657097" y="95249"/>
                  </a:lnTo>
                  <a:lnTo>
                    <a:pt x="657097" y="96519"/>
                  </a:lnTo>
                  <a:lnTo>
                    <a:pt x="657224" y="96519"/>
                  </a:lnTo>
                  <a:lnTo>
                    <a:pt x="726312" y="229869"/>
                  </a:lnTo>
                  <a:lnTo>
                    <a:pt x="726693" y="231139"/>
                  </a:lnTo>
                  <a:lnTo>
                    <a:pt x="730630" y="231139"/>
                  </a:lnTo>
                  <a:lnTo>
                    <a:pt x="731646" y="229869"/>
                  </a:lnTo>
                  <a:lnTo>
                    <a:pt x="734186" y="229869"/>
                  </a:lnTo>
                  <a:lnTo>
                    <a:pt x="735710" y="228599"/>
                  </a:lnTo>
                  <a:lnTo>
                    <a:pt x="738758" y="227329"/>
                  </a:lnTo>
                  <a:lnTo>
                    <a:pt x="739774" y="226059"/>
                  </a:lnTo>
                  <a:lnTo>
                    <a:pt x="741425" y="224789"/>
                  </a:lnTo>
                  <a:lnTo>
                    <a:pt x="741933" y="224789"/>
                  </a:lnTo>
                  <a:lnTo>
                    <a:pt x="742314" y="223519"/>
                  </a:lnTo>
                  <a:lnTo>
                    <a:pt x="742568" y="223519"/>
                  </a:lnTo>
                  <a:lnTo>
                    <a:pt x="742441" y="220979"/>
                  </a:lnTo>
                  <a:lnTo>
                    <a:pt x="673607" y="87629"/>
                  </a:lnTo>
                  <a:close/>
                </a:path>
                <a:path w="996950" h="617854">
                  <a:moveTo>
                    <a:pt x="693038" y="220979"/>
                  </a:moveTo>
                  <a:lnTo>
                    <a:pt x="690625" y="220979"/>
                  </a:lnTo>
                  <a:lnTo>
                    <a:pt x="689863" y="222249"/>
                  </a:lnTo>
                  <a:lnTo>
                    <a:pt x="693546" y="222249"/>
                  </a:lnTo>
                  <a:lnTo>
                    <a:pt x="693038" y="220979"/>
                  </a:lnTo>
                  <a:close/>
                </a:path>
                <a:path w="996950" h="617854">
                  <a:moveTo>
                    <a:pt x="805941" y="105409"/>
                  </a:moveTo>
                  <a:lnTo>
                    <a:pt x="777620" y="105409"/>
                  </a:lnTo>
                  <a:lnTo>
                    <a:pt x="782700" y="107949"/>
                  </a:lnTo>
                  <a:lnTo>
                    <a:pt x="784986" y="109219"/>
                  </a:lnTo>
                  <a:lnTo>
                    <a:pt x="787145" y="111759"/>
                  </a:lnTo>
                  <a:lnTo>
                    <a:pt x="789177" y="113029"/>
                  </a:lnTo>
                  <a:lnTo>
                    <a:pt x="791209" y="116839"/>
                  </a:lnTo>
                  <a:lnTo>
                    <a:pt x="792987" y="119379"/>
                  </a:lnTo>
                  <a:lnTo>
                    <a:pt x="796543" y="126999"/>
                  </a:lnTo>
                  <a:lnTo>
                    <a:pt x="777366" y="137159"/>
                  </a:lnTo>
                  <a:lnTo>
                    <a:pt x="771397" y="140969"/>
                  </a:lnTo>
                  <a:lnTo>
                    <a:pt x="761491" y="148589"/>
                  </a:lnTo>
                  <a:lnTo>
                    <a:pt x="757808" y="152399"/>
                  </a:lnTo>
                  <a:lnTo>
                    <a:pt x="755268" y="157479"/>
                  </a:lnTo>
                  <a:lnTo>
                    <a:pt x="752728" y="161289"/>
                  </a:lnTo>
                  <a:lnTo>
                    <a:pt x="751331" y="166369"/>
                  </a:lnTo>
                  <a:lnTo>
                    <a:pt x="751204" y="171449"/>
                  </a:lnTo>
                  <a:lnTo>
                    <a:pt x="751077" y="176529"/>
                  </a:lnTo>
                  <a:lnTo>
                    <a:pt x="752347" y="180339"/>
                  </a:lnTo>
                  <a:lnTo>
                    <a:pt x="754887" y="185419"/>
                  </a:lnTo>
                  <a:lnTo>
                    <a:pt x="757173" y="190499"/>
                  </a:lnTo>
                  <a:lnTo>
                    <a:pt x="759840" y="193039"/>
                  </a:lnTo>
                  <a:lnTo>
                    <a:pt x="766317" y="199389"/>
                  </a:lnTo>
                  <a:lnTo>
                    <a:pt x="769873" y="200659"/>
                  </a:lnTo>
                  <a:lnTo>
                    <a:pt x="773683" y="201929"/>
                  </a:lnTo>
                  <a:lnTo>
                    <a:pt x="781811" y="201929"/>
                  </a:lnTo>
                  <a:lnTo>
                    <a:pt x="790574" y="200659"/>
                  </a:lnTo>
                  <a:lnTo>
                    <a:pt x="795146" y="199389"/>
                  </a:lnTo>
                  <a:lnTo>
                    <a:pt x="799845" y="196849"/>
                  </a:lnTo>
                  <a:lnTo>
                    <a:pt x="805179" y="194309"/>
                  </a:lnTo>
                  <a:lnTo>
                    <a:pt x="809751" y="190499"/>
                  </a:lnTo>
                  <a:lnTo>
                    <a:pt x="812418" y="186689"/>
                  </a:lnTo>
                  <a:lnTo>
                    <a:pt x="785748" y="186689"/>
                  </a:lnTo>
                  <a:lnTo>
                    <a:pt x="776985" y="184149"/>
                  </a:lnTo>
                  <a:lnTo>
                    <a:pt x="773683" y="181609"/>
                  </a:lnTo>
                  <a:lnTo>
                    <a:pt x="771270" y="176529"/>
                  </a:lnTo>
                  <a:lnTo>
                    <a:pt x="769873" y="173989"/>
                  </a:lnTo>
                  <a:lnTo>
                    <a:pt x="769111" y="171449"/>
                  </a:lnTo>
                  <a:lnTo>
                    <a:pt x="768984" y="166369"/>
                  </a:lnTo>
                  <a:lnTo>
                    <a:pt x="769619" y="162559"/>
                  </a:lnTo>
                  <a:lnTo>
                    <a:pt x="771143" y="160019"/>
                  </a:lnTo>
                  <a:lnTo>
                    <a:pt x="772540" y="157479"/>
                  </a:lnTo>
                  <a:lnTo>
                    <a:pt x="774699" y="154939"/>
                  </a:lnTo>
                  <a:lnTo>
                    <a:pt x="780414" y="149859"/>
                  </a:lnTo>
                  <a:lnTo>
                    <a:pt x="784224" y="148589"/>
                  </a:lnTo>
                  <a:lnTo>
                    <a:pt x="802639" y="138429"/>
                  </a:lnTo>
                  <a:lnTo>
                    <a:pt x="823427" y="138429"/>
                  </a:lnTo>
                  <a:lnTo>
                    <a:pt x="808862" y="110489"/>
                  </a:lnTo>
                  <a:lnTo>
                    <a:pt x="805941" y="105409"/>
                  </a:lnTo>
                  <a:close/>
                </a:path>
                <a:path w="996950" h="617854">
                  <a:moveTo>
                    <a:pt x="823427" y="138429"/>
                  </a:moveTo>
                  <a:lnTo>
                    <a:pt x="802639" y="138429"/>
                  </a:lnTo>
                  <a:lnTo>
                    <a:pt x="812418" y="157479"/>
                  </a:lnTo>
                  <a:lnTo>
                    <a:pt x="810767" y="163829"/>
                  </a:lnTo>
                  <a:lnTo>
                    <a:pt x="785748" y="186689"/>
                  </a:lnTo>
                  <a:lnTo>
                    <a:pt x="812418" y="186689"/>
                  </a:lnTo>
                  <a:lnTo>
                    <a:pt x="816863" y="180339"/>
                  </a:lnTo>
                  <a:lnTo>
                    <a:pt x="819531" y="175259"/>
                  </a:lnTo>
                  <a:lnTo>
                    <a:pt x="821308" y="168909"/>
                  </a:lnTo>
                  <a:lnTo>
                    <a:pt x="839315" y="168909"/>
                  </a:lnTo>
                  <a:lnTo>
                    <a:pt x="823427" y="138429"/>
                  </a:lnTo>
                  <a:close/>
                </a:path>
                <a:path w="996950" h="617854">
                  <a:moveTo>
                    <a:pt x="839315" y="168909"/>
                  </a:moveTo>
                  <a:lnTo>
                    <a:pt x="821308" y="168909"/>
                  </a:lnTo>
                  <a:lnTo>
                    <a:pt x="825881" y="177799"/>
                  </a:lnTo>
                  <a:lnTo>
                    <a:pt x="826388" y="179069"/>
                  </a:lnTo>
                  <a:lnTo>
                    <a:pt x="831341" y="179069"/>
                  </a:lnTo>
                  <a:lnTo>
                    <a:pt x="832738" y="177799"/>
                  </a:lnTo>
                  <a:lnTo>
                    <a:pt x="836294" y="176529"/>
                  </a:lnTo>
                  <a:lnTo>
                    <a:pt x="837564" y="175259"/>
                  </a:lnTo>
                  <a:lnTo>
                    <a:pt x="839215" y="173989"/>
                  </a:lnTo>
                  <a:lnTo>
                    <a:pt x="839851" y="173989"/>
                  </a:lnTo>
                  <a:lnTo>
                    <a:pt x="840104" y="172719"/>
                  </a:lnTo>
                  <a:lnTo>
                    <a:pt x="840485" y="172719"/>
                  </a:lnTo>
                  <a:lnTo>
                    <a:pt x="840358" y="171449"/>
                  </a:lnTo>
                  <a:lnTo>
                    <a:pt x="839977" y="170179"/>
                  </a:lnTo>
                  <a:lnTo>
                    <a:pt x="839315" y="168909"/>
                  </a:lnTo>
                  <a:close/>
                </a:path>
                <a:path w="996950" h="617854">
                  <a:moveTo>
                    <a:pt x="665733" y="172719"/>
                  </a:moveTo>
                  <a:lnTo>
                    <a:pt x="658748" y="172719"/>
                  </a:lnTo>
                  <a:lnTo>
                    <a:pt x="660653" y="173989"/>
                  </a:lnTo>
                  <a:lnTo>
                    <a:pt x="664844" y="173989"/>
                  </a:lnTo>
                  <a:lnTo>
                    <a:pt x="665733" y="172719"/>
                  </a:lnTo>
                  <a:close/>
                </a:path>
                <a:path w="996950" h="617854">
                  <a:moveTo>
                    <a:pt x="649350" y="156209"/>
                  </a:moveTo>
                  <a:lnTo>
                    <a:pt x="646937" y="156209"/>
                  </a:lnTo>
                  <a:lnTo>
                    <a:pt x="641476" y="157479"/>
                  </a:lnTo>
                  <a:lnTo>
                    <a:pt x="654049" y="157479"/>
                  </a:lnTo>
                  <a:lnTo>
                    <a:pt x="649350" y="156209"/>
                  </a:lnTo>
                  <a:close/>
                </a:path>
                <a:path w="996950" h="617854">
                  <a:moveTo>
                    <a:pt x="914780" y="104139"/>
                  </a:moveTo>
                  <a:lnTo>
                    <a:pt x="888238" y="104139"/>
                  </a:lnTo>
                  <a:lnTo>
                    <a:pt x="890777" y="105409"/>
                  </a:lnTo>
                  <a:lnTo>
                    <a:pt x="892936" y="106679"/>
                  </a:lnTo>
                  <a:lnTo>
                    <a:pt x="895095" y="106679"/>
                  </a:lnTo>
                  <a:lnTo>
                    <a:pt x="896873" y="109219"/>
                  </a:lnTo>
                  <a:lnTo>
                    <a:pt x="900048" y="115569"/>
                  </a:lnTo>
                  <a:lnTo>
                    <a:pt x="900048" y="120649"/>
                  </a:lnTo>
                  <a:lnTo>
                    <a:pt x="899540" y="123189"/>
                  </a:lnTo>
                  <a:lnTo>
                    <a:pt x="898525" y="124459"/>
                  </a:lnTo>
                  <a:lnTo>
                    <a:pt x="897508" y="126999"/>
                  </a:lnTo>
                  <a:lnTo>
                    <a:pt x="895984" y="128269"/>
                  </a:lnTo>
                  <a:lnTo>
                    <a:pt x="894079" y="130809"/>
                  </a:lnTo>
                  <a:lnTo>
                    <a:pt x="892047" y="132079"/>
                  </a:lnTo>
                  <a:lnTo>
                    <a:pt x="889761" y="133349"/>
                  </a:lnTo>
                  <a:lnTo>
                    <a:pt x="886967" y="135889"/>
                  </a:lnTo>
                  <a:lnTo>
                    <a:pt x="883284" y="137159"/>
                  </a:lnTo>
                  <a:lnTo>
                    <a:pt x="879728" y="138429"/>
                  </a:lnTo>
                  <a:lnTo>
                    <a:pt x="876426" y="138429"/>
                  </a:lnTo>
                  <a:lnTo>
                    <a:pt x="873125" y="139699"/>
                  </a:lnTo>
                  <a:lnTo>
                    <a:pt x="856488" y="139699"/>
                  </a:lnTo>
                  <a:lnTo>
                    <a:pt x="856107" y="140969"/>
                  </a:lnTo>
                  <a:lnTo>
                    <a:pt x="855598" y="140969"/>
                  </a:lnTo>
                  <a:lnTo>
                    <a:pt x="855598" y="143509"/>
                  </a:lnTo>
                  <a:lnTo>
                    <a:pt x="855852" y="143509"/>
                  </a:lnTo>
                  <a:lnTo>
                    <a:pt x="856107" y="144779"/>
                  </a:lnTo>
                  <a:lnTo>
                    <a:pt x="856995" y="147319"/>
                  </a:lnTo>
                  <a:lnTo>
                    <a:pt x="858646" y="149859"/>
                  </a:lnTo>
                  <a:lnTo>
                    <a:pt x="859663" y="152399"/>
                  </a:lnTo>
                  <a:lnTo>
                    <a:pt x="860551" y="152399"/>
                  </a:lnTo>
                  <a:lnTo>
                    <a:pt x="862583" y="154939"/>
                  </a:lnTo>
                  <a:lnTo>
                    <a:pt x="875283" y="154939"/>
                  </a:lnTo>
                  <a:lnTo>
                    <a:pt x="877951" y="153669"/>
                  </a:lnTo>
                  <a:lnTo>
                    <a:pt x="880871" y="153669"/>
                  </a:lnTo>
                  <a:lnTo>
                    <a:pt x="884046" y="152399"/>
                  </a:lnTo>
                  <a:lnTo>
                    <a:pt x="887094" y="151129"/>
                  </a:lnTo>
                  <a:lnTo>
                    <a:pt x="893444" y="148589"/>
                  </a:lnTo>
                  <a:lnTo>
                    <a:pt x="898651" y="146049"/>
                  </a:lnTo>
                  <a:lnTo>
                    <a:pt x="902969" y="142239"/>
                  </a:lnTo>
                  <a:lnTo>
                    <a:pt x="906652" y="139699"/>
                  </a:lnTo>
                  <a:lnTo>
                    <a:pt x="910335" y="135889"/>
                  </a:lnTo>
                  <a:lnTo>
                    <a:pt x="913002" y="132079"/>
                  </a:lnTo>
                  <a:lnTo>
                    <a:pt x="914907" y="128269"/>
                  </a:lnTo>
                  <a:lnTo>
                    <a:pt x="916685" y="124459"/>
                  </a:lnTo>
                  <a:lnTo>
                    <a:pt x="917575" y="119379"/>
                  </a:lnTo>
                  <a:lnTo>
                    <a:pt x="917490" y="116839"/>
                  </a:lnTo>
                  <a:lnTo>
                    <a:pt x="917384" y="114299"/>
                  </a:lnTo>
                  <a:lnTo>
                    <a:pt x="917257" y="111759"/>
                  </a:lnTo>
                  <a:lnTo>
                    <a:pt x="917194" y="110489"/>
                  </a:lnTo>
                  <a:lnTo>
                    <a:pt x="915923" y="106679"/>
                  </a:lnTo>
                  <a:lnTo>
                    <a:pt x="914780" y="104139"/>
                  </a:lnTo>
                  <a:close/>
                </a:path>
                <a:path w="996950" h="617854">
                  <a:moveTo>
                    <a:pt x="779017" y="87629"/>
                  </a:moveTo>
                  <a:lnTo>
                    <a:pt x="768476" y="90169"/>
                  </a:lnTo>
                  <a:lnTo>
                    <a:pt x="762634" y="91439"/>
                  </a:lnTo>
                  <a:lnTo>
                    <a:pt x="752855" y="96519"/>
                  </a:lnTo>
                  <a:lnTo>
                    <a:pt x="749553" y="99059"/>
                  </a:lnTo>
                  <a:lnTo>
                    <a:pt x="743457" y="104139"/>
                  </a:lnTo>
                  <a:lnTo>
                    <a:pt x="740790" y="106679"/>
                  </a:lnTo>
                  <a:lnTo>
                    <a:pt x="738504" y="109219"/>
                  </a:lnTo>
                  <a:lnTo>
                    <a:pt x="736091" y="110489"/>
                  </a:lnTo>
                  <a:lnTo>
                    <a:pt x="734186" y="113029"/>
                  </a:lnTo>
                  <a:lnTo>
                    <a:pt x="732535" y="115569"/>
                  </a:lnTo>
                  <a:lnTo>
                    <a:pt x="731011" y="118109"/>
                  </a:lnTo>
                  <a:lnTo>
                    <a:pt x="729995" y="119379"/>
                  </a:lnTo>
                  <a:lnTo>
                    <a:pt x="729487" y="120649"/>
                  </a:lnTo>
                  <a:lnTo>
                    <a:pt x="729106" y="121919"/>
                  </a:lnTo>
                  <a:lnTo>
                    <a:pt x="729233" y="124459"/>
                  </a:lnTo>
                  <a:lnTo>
                    <a:pt x="729487" y="125729"/>
                  </a:lnTo>
                  <a:lnTo>
                    <a:pt x="730884" y="128269"/>
                  </a:lnTo>
                  <a:lnTo>
                    <a:pt x="731392" y="129539"/>
                  </a:lnTo>
                  <a:lnTo>
                    <a:pt x="732027" y="130809"/>
                  </a:lnTo>
                  <a:lnTo>
                    <a:pt x="733043" y="132079"/>
                  </a:lnTo>
                  <a:lnTo>
                    <a:pt x="734186" y="133349"/>
                  </a:lnTo>
                  <a:lnTo>
                    <a:pt x="738250" y="133349"/>
                  </a:lnTo>
                  <a:lnTo>
                    <a:pt x="739266" y="132079"/>
                  </a:lnTo>
                  <a:lnTo>
                    <a:pt x="740409" y="130809"/>
                  </a:lnTo>
                  <a:lnTo>
                    <a:pt x="741425" y="128269"/>
                  </a:lnTo>
                  <a:lnTo>
                    <a:pt x="742949" y="125729"/>
                  </a:lnTo>
                  <a:lnTo>
                    <a:pt x="746505" y="121919"/>
                  </a:lnTo>
                  <a:lnTo>
                    <a:pt x="748791" y="119379"/>
                  </a:lnTo>
                  <a:lnTo>
                    <a:pt x="751585" y="116839"/>
                  </a:lnTo>
                  <a:lnTo>
                    <a:pt x="754252" y="114299"/>
                  </a:lnTo>
                  <a:lnTo>
                    <a:pt x="757554" y="111759"/>
                  </a:lnTo>
                  <a:lnTo>
                    <a:pt x="765428" y="107949"/>
                  </a:lnTo>
                  <a:lnTo>
                    <a:pt x="768857" y="106679"/>
                  </a:lnTo>
                  <a:lnTo>
                    <a:pt x="771905" y="105409"/>
                  </a:lnTo>
                  <a:lnTo>
                    <a:pt x="805941" y="105409"/>
                  </a:lnTo>
                  <a:lnTo>
                    <a:pt x="802766" y="100329"/>
                  </a:lnTo>
                  <a:lnTo>
                    <a:pt x="799464" y="96519"/>
                  </a:lnTo>
                  <a:lnTo>
                    <a:pt x="796035" y="93979"/>
                  </a:lnTo>
                  <a:lnTo>
                    <a:pt x="792225" y="91439"/>
                  </a:lnTo>
                  <a:lnTo>
                    <a:pt x="783716" y="88899"/>
                  </a:lnTo>
                  <a:lnTo>
                    <a:pt x="779017" y="87629"/>
                  </a:lnTo>
                  <a:close/>
                </a:path>
                <a:path w="996950" h="617854">
                  <a:moveTo>
                    <a:pt x="957071" y="113029"/>
                  </a:moveTo>
                  <a:lnTo>
                    <a:pt x="941704" y="113029"/>
                  </a:lnTo>
                  <a:lnTo>
                    <a:pt x="942847" y="114299"/>
                  </a:lnTo>
                  <a:lnTo>
                    <a:pt x="951738" y="114299"/>
                  </a:lnTo>
                  <a:lnTo>
                    <a:pt x="957071" y="113029"/>
                  </a:lnTo>
                  <a:close/>
                </a:path>
                <a:path w="996950" h="617854">
                  <a:moveTo>
                    <a:pt x="994367" y="63499"/>
                  </a:moveTo>
                  <a:lnTo>
                    <a:pt x="969898" y="63499"/>
                  </a:lnTo>
                  <a:lnTo>
                    <a:pt x="974216" y="66039"/>
                  </a:lnTo>
                  <a:lnTo>
                    <a:pt x="975994" y="67309"/>
                  </a:lnTo>
                  <a:lnTo>
                    <a:pt x="978535" y="72389"/>
                  </a:lnTo>
                  <a:lnTo>
                    <a:pt x="979169" y="74929"/>
                  </a:lnTo>
                  <a:lnTo>
                    <a:pt x="979296" y="80009"/>
                  </a:lnTo>
                  <a:lnTo>
                    <a:pt x="978788" y="82549"/>
                  </a:lnTo>
                  <a:lnTo>
                    <a:pt x="977645" y="83819"/>
                  </a:lnTo>
                  <a:lnTo>
                    <a:pt x="976629" y="86359"/>
                  </a:lnTo>
                  <a:lnTo>
                    <a:pt x="975105" y="87629"/>
                  </a:lnTo>
                  <a:lnTo>
                    <a:pt x="971295" y="91439"/>
                  </a:lnTo>
                  <a:lnTo>
                    <a:pt x="968882" y="92709"/>
                  </a:lnTo>
                  <a:lnTo>
                    <a:pt x="966088" y="93979"/>
                  </a:lnTo>
                  <a:lnTo>
                    <a:pt x="962405" y="96519"/>
                  </a:lnTo>
                  <a:lnTo>
                    <a:pt x="958976" y="97789"/>
                  </a:lnTo>
                  <a:lnTo>
                    <a:pt x="955674" y="97789"/>
                  </a:lnTo>
                  <a:lnTo>
                    <a:pt x="952372" y="99059"/>
                  </a:lnTo>
                  <a:lnTo>
                    <a:pt x="935227" y="99059"/>
                  </a:lnTo>
                  <a:lnTo>
                    <a:pt x="934719" y="100329"/>
                  </a:lnTo>
                  <a:lnTo>
                    <a:pt x="934846" y="102869"/>
                  </a:lnTo>
                  <a:lnTo>
                    <a:pt x="934973" y="102869"/>
                  </a:lnTo>
                  <a:lnTo>
                    <a:pt x="935354" y="104139"/>
                  </a:lnTo>
                  <a:lnTo>
                    <a:pt x="935608" y="105409"/>
                  </a:lnTo>
                  <a:lnTo>
                    <a:pt x="936116" y="105409"/>
                  </a:lnTo>
                  <a:lnTo>
                    <a:pt x="936751" y="106679"/>
                  </a:lnTo>
                  <a:lnTo>
                    <a:pt x="937894" y="109219"/>
                  </a:lnTo>
                  <a:lnTo>
                    <a:pt x="938783" y="110489"/>
                  </a:lnTo>
                  <a:lnTo>
                    <a:pt x="939799" y="111759"/>
                  </a:lnTo>
                  <a:lnTo>
                    <a:pt x="940688" y="113029"/>
                  </a:lnTo>
                  <a:lnTo>
                    <a:pt x="959992" y="113029"/>
                  </a:lnTo>
                  <a:lnTo>
                    <a:pt x="966342" y="110489"/>
                  </a:lnTo>
                  <a:lnTo>
                    <a:pt x="969390" y="109219"/>
                  </a:lnTo>
                  <a:lnTo>
                    <a:pt x="972565" y="107949"/>
                  </a:lnTo>
                  <a:lnTo>
                    <a:pt x="977772" y="105409"/>
                  </a:lnTo>
                  <a:lnTo>
                    <a:pt x="982217" y="101599"/>
                  </a:lnTo>
                  <a:lnTo>
                    <a:pt x="985773" y="97789"/>
                  </a:lnTo>
                  <a:lnTo>
                    <a:pt x="989457" y="95249"/>
                  </a:lnTo>
                  <a:lnTo>
                    <a:pt x="992251" y="91439"/>
                  </a:lnTo>
                  <a:lnTo>
                    <a:pt x="994029" y="86359"/>
                  </a:lnTo>
                  <a:lnTo>
                    <a:pt x="995933" y="82549"/>
                  </a:lnTo>
                  <a:lnTo>
                    <a:pt x="996695" y="78739"/>
                  </a:lnTo>
                  <a:lnTo>
                    <a:pt x="996587" y="74929"/>
                  </a:lnTo>
                  <a:lnTo>
                    <a:pt x="996478" y="71119"/>
                  </a:lnTo>
                  <a:lnTo>
                    <a:pt x="996441" y="69849"/>
                  </a:lnTo>
                  <a:lnTo>
                    <a:pt x="995171" y="64769"/>
                  </a:lnTo>
                  <a:lnTo>
                    <a:pt x="994367" y="63499"/>
                  </a:lnTo>
                  <a:close/>
                </a:path>
                <a:path w="996950" h="617854">
                  <a:moveTo>
                    <a:pt x="875538" y="41909"/>
                  </a:moveTo>
                  <a:lnTo>
                    <a:pt x="861694" y="41909"/>
                  </a:lnTo>
                  <a:lnTo>
                    <a:pt x="859282" y="43179"/>
                  </a:lnTo>
                  <a:lnTo>
                    <a:pt x="856614" y="44449"/>
                  </a:lnTo>
                  <a:lnTo>
                    <a:pt x="854075" y="44449"/>
                  </a:lnTo>
                  <a:lnTo>
                    <a:pt x="849248" y="46989"/>
                  </a:lnTo>
                  <a:lnTo>
                    <a:pt x="843788" y="49529"/>
                  </a:lnTo>
                  <a:lnTo>
                    <a:pt x="827023" y="76199"/>
                  </a:lnTo>
                  <a:lnTo>
                    <a:pt x="827151" y="77469"/>
                  </a:lnTo>
                  <a:lnTo>
                    <a:pt x="827277" y="78739"/>
                  </a:lnTo>
                  <a:lnTo>
                    <a:pt x="827362" y="80009"/>
                  </a:lnTo>
                  <a:lnTo>
                    <a:pt x="827447" y="81279"/>
                  </a:lnTo>
                  <a:lnTo>
                    <a:pt x="827532" y="82549"/>
                  </a:lnTo>
                  <a:lnTo>
                    <a:pt x="828675" y="86359"/>
                  </a:lnTo>
                  <a:lnTo>
                    <a:pt x="832484" y="93979"/>
                  </a:lnTo>
                  <a:lnTo>
                    <a:pt x="834897" y="97789"/>
                  </a:lnTo>
                  <a:lnTo>
                    <a:pt x="837691" y="99059"/>
                  </a:lnTo>
                  <a:lnTo>
                    <a:pt x="840358" y="101599"/>
                  </a:lnTo>
                  <a:lnTo>
                    <a:pt x="843407" y="102869"/>
                  </a:lnTo>
                  <a:lnTo>
                    <a:pt x="849757" y="105409"/>
                  </a:lnTo>
                  <a:lnTo>
                    <a:pt x="870076" y="105409"/>
                  </a:lnTo>
                  <a:lnTo>
                    <a:pt x="873251" y="104139"/>
                  </a:lnTo>
                  <a:lnTo>
                    <a:pt x="914780" y="104139"/>
                  </a:lnTo>
                  <a:lnTo>
                    <a:pt x="900938" y="88899"/>
                  </a:lnTo>
                  <a:lnTo>
                    <a:pt x="855726" y="88899"/>
                  </a:lnTo>
                  <a:lnTo>
                    <a:pt x="853185" y="87629"/>
                  </a:lnTo>
                  <a:lnTo>
                    <a:pt x="851026" y="86359"/>
                  </a:lnTo>
                  <a:lnTo>
                    <a:pt x="848740" y="86359"/>
                  </a:lnTo>
                  <a:lnTo>
                    <a:pt x="846963" y="83819"/>
                  </a:lnTo>
                  <a:lnTo>
                    <a:pt x="845565" y="81279"/>
                  </a:lnTo>
                  <a:lnTo>
                    <a:pt x="844676" y="80009"/>
                  </a:lnTo>
                  <a:lnTo>
                    <a:pt x="844169" y="77469"/>
                  </a:lnTo>
                  <a:lnTo>
                    <a:pt x="844041" y="76199"/>
                  </a:lnTo>
                  <a:lnTo>
                    <a:pt x="843978" y="74929"/>
                  </a:lnTo>
                  <a:lnTo>
                    <a:pt x="843914" y="73659"/>
                  </a:lnTo>
                  <a:lnTo>
                    <a:pt x="844169" y="72389"/>
                  </a:lnTo>
                  <a:lnTo>
                    <a:pt x="844931" y="69849"/>
                  </a:lnTo>
                  <a:lnTo>
                    <a:pt x="845692" y="68579"/>
                  </a:lnTo>
                  <a:lnTo>
                    <a:pt x="846963" y="66039"/>
                  </a:lnTo>
                  <a:lnTo>
                    <a:pt x="850519" y="63499"/>
                  </a:lnTo>
                  <a:lnTo>
                    <a:pt x="852804" y="60959"/>
                  </a:lnTo>
                  <a:lnTo>
                    <a:pt x="855598" y="59689"/>
                  </a:lnTo>
                  <a:lnTo>
                    <a:pt x="861694" y="57149"/>
                  </a:lnTo>
                  <a:lnTo>
                    <a:pt x="867282" y="55879"/>
                  </a:lnTo>
                  <a:lnTo>
                    <a:pt x="880998" y="55879"/>
                  </a:lnTo>
                  <a:lnTo>
                    <a:pt x="881379" y="54609"/>
                  </a:lnTo>
                  <a:lnTo>
                    <a:pt x="881760" y="54609"/>
                  </a:lnTo>
                  <a:lnTo>
                    <a:pt x="881760" y="52069"/>
                  </a:lnTo>
                  <a:lnTo>
                    <a:pt x="881633" y="52069"/>
                  </a:lnTo>
                  <a:lnTo>
                    <a:pt x="880871" y="49529"/>
                  </a:lnTo>
                  <a:lnTo>
                    <a:pt x="880490" y="49529"/>
                  </a:lnTo>
                  <a:lnTo>
                    <a:pt x="879856" y="48259"/>
                  </a:lnTo>
                  <a:lnTo>
                    <a:pt x="878839" y="45719"/>
                  </a:lnTo>
                  <a:lnTo>
                    <a:pt x="878332" y="45719"/>
                  </a:lnTo>
                  <a:lnTo>
                    <a:pt x="877823" y="44449"/>
                  </a:lnTo>
                  <a:lnTo>
                    <a:pt x="877061" y="43179"/>
                  </a:lnTo>
                  <a:lnTo>
                    <a:pt x="876300" y="43179"/>
                  </a:lnTo>
                  <a:lnTo>
                    <a:pt x="875538" y="41909"/>
                  </a:lnTo>
                  <a:close/>
                </a:path>
                <a:path w="996950" h="617854">
                  <a:moveTo>
                    <a:pt x="894588" y="87629"/>
                  </a:moveTo>
                  <a:lnTo>
                    <a:pt x="877569" y="87629"/>
                  </a:lnTo>
                  <a:lnTo>
                    <a:pt x="870838" y="88899"/>
                  </a:lnTo>
                  <a:lnTo>
                    <a:pt x="900938" y="88899"/>
                  </a:lnTo>
                  <a:lnTo>
                    <a:pt x="894588" y="87629"/>
                  </a:lnTo>
                  <a:close/>
                </a:path>
                <a:path w="996950" h="617854">
                  <a:moveTo>
                    <a:pt x="955547" y="1269"/>
                  </a:moveTo>
                  <a:lnTo>
                    <a:pt x="940815" y="1269"/>
                  </a:lnTo>
                  <a:lnTo>
                    <a:pt x="938402" y="2539"/>
                  </a:lnTo>
                  <a:lnTo>
                    <a:pt x="933322" y="3809"/>
                  </a:lnTo>
                  <a:lnTo>
                    <a:pt x="930782" y="5079"/>
                  </a:lnTo>
                  <a:lnTo>
                    <a:pt x="928369" y="6349"/>
                  </a:lnTo>
                  <a:lnTo>
                    <a:pt x="923035" y="8889"/>
                  </a:lnTo>
                  <a:lnTo>
                    <a:pt x="918590" y="12699"/>
                  </a:lnTo>
                  <a:lnTo>
                    <a:pt x="911986" y="19049"/>
                  </a:lnTo>
                  <a:lnTo>
                    <a:pt x="909573" y="22859"/>
                  </a:lnTo>
                  <a:lnTo>
                    <a:pt x="908176" y="26669"/>
                  </a:lnTo>
                  <a:lnTo>
                    <a:pt x="906652" y="30479"/>
                  </a:lnTo>
                  <a:lnTo>
                    <a:pt x="906144" y="34289"/>
                  </a:lnTo>
                  <a:lnTo>
                    <a:pt x="906314" y="36829"/>
                  </a:lnTo>
                  <a:lnTo>
                    <a:pt x="906398" y="38099"/>
                  </a:lnTo>
                  <a:lnTo>
                    <a:pt x="928877" y="64769"/>
                  </a:lnTo>
                  <a:lnTo>
                    <a:pt x="942466" y="64769"/>
                  </a:lnTo>
                  <a:lnTo>
                    <a:pt x="949197" y="63499"/>
                  </a:lnTo>
                  <a:lnTo>
                    <a:pt x="994367" y="63499"/>
                  </a:lnTo>
                  <a:lnTo>
                    <a:pt x="992758" y="60959"/>
                  </a:lnTo>
                  <a:lnTo>
                    <a:pt x="990854" y="57149"/>
                  </a:lnTo>
                  <a:lnTo>
                    <a:pt x="988440" y="53339"/>
                  </a:lnTo>
                  <a:lnTo>
                    <a:pt x="982979" y="49529"/>
                  </a:lnTo>
                  <a:lnTo>
                    <a:pt x="980058" y="48259"/>
                  </a:lnTo>
                  <a:lnTo>
                    <a:pt x="940435" y="48259"/>
                  </a:lnTo>
                  <a:lnTo>
                    <a:pt x="934846" y="46989"/>
                  </a:lnTo>
                  <a:lnTo>
                    <a:pt x="932307" y="46989"/>
                  </a:lnTo>
                  <a:lnTo>
                    <a:pt x="930147" y="45719"/>
                  </a:lnTo>
                  <a:lnTo>
                    <a:pt x="927861" y="44449"/>
                  </a:lnTo>
                  <a:lnTo>
                    <a:pt x="926083" y="43179"/>
                  </a:lnTo>
                  <a:lnTo>
                    <a:pt x="924813" y="40639"/>
                  </a:lnTo>
                  <a:lnTo>
                    <a:pt x="923289" y="36829"/>
                  </a:lnTo>
                  <a:lnTo>
                    <a:pt x="923163" y="34289"/>
                  </a:lnTo>
                  <a:lnTo>
                    <a:pt x="923035" y="33019"/>
                  </a:lnTo>
                  <a:lnTo>
                    <a:pt x="923289" y="30479"/>
                  </a:lnTo>
                  <a:lnTo>
                    <a:pt x="924051" y="29209"/>
                  </a:lnTo>
                  <a:lnTo>
                    <a:pt x="924813" y="26669"/>
                  </a:lnTo>
                  <a:lnTo>
                    <a:pt x="926083" y="25399"/>
                  </a:lnTo>
                  <a:lnTo>
                    <a:pt x="927988" y="24129"/>
                  </a:lnTo>
                  <a:lnTo>
                    <a:pt x="929766" y="21589"/>
                  </a:lnTo>
                  <a:lnTo>
                    <a:pt x="932052" y="20319"/>
                  </a:lnTo>
                  <a:lnTo>
                    <a:pt x="934719" y="19049"/>
                  </a:lnTo>
                  <a:lnTo>
                    <a:pt x="937894" y="17779"/>
                  </a:lnTo>
                  <a:lnTo>
                    <a:pt x="940815" y="16509"/>
                  </a:lnTo>
                  <a:lnTo>
                    <a:pt x="946404" y="15239"/>
                  </a:lnTo>
                  <a:lnTo>
                    <a:pt x="959230" y="15239"/>
                  </a:lnTo>
                  <a:lnTo>
                    <a:pt x="959865" y="13969"/>
                  </a:lnTo>
                  <a:lnTo>
                    <a:pt x="960246" y="13969"/>
                  </a:lnTo>
                  <a:lnTo>
                    <a:pt x="961008" y="12699"/>
                  </a:lnTo>
                  <a:lnTo>
                    <a:pt x="960754" y="10159"/>
                  </a:lnTo>
                  <a:lnTo>
                    <a:pt x="960373" y="10159"/>
                  </a:lnTo>
                  <a:lnTo>
                    <a:pt x="960119" y="8889"/>
                  </a:lnTo>
                  <a:lnTo>
                    <a:pt x="959104" y="6349"/>
                  </a:lnTo>
                  <a:lnTo>
                    <a:pt x="958468" y="6349"/>
                  </a:lnTo>
                  <a:lnTo>
                    <a:pt x="957579" y="3809"/>
                  </a:lnTo>
                  <a:lnTo>
                    <a:pt x="957071" y="3809"/>
                  </a:lnTo>
                  <a:lnTo>
                    <a:pt x="955547" y="1269"/>
                  </a:lnTo>
                  <a:close/>
                </a:path>
                <a:path w="996950" h="617854">
                  <a:moveTo>
                    <a:pt x="970533" y="45719"/>
                  </a:moveTo>
                  <a:lnTo>
                    <a:pt x="963548" y="45719"/>
                  </a:lnTo>
                  <a:lnTo>
                    <a:pt x="956690" y="46989"/>
                  </a:lnTo>
                  <a:lnTo>
                    <a:pt x="946785" y="46989"/>
                  </a:lnTo>
                  <a:lnTo>
                    <a:pt x="943482" y="48259"/>
                  </a:lnTo>
                  <a:lnTo>
                    <a:pt x="980058" y="48259"/>
                  </a:lnTo>
                  <a:lnTo>
                    <a:pt x="973708" y="46989"/>
                  </a:lnTo>
                  <a:lnTo>
                    <a:pt x="970533" y="45719"/>
                  </a:lnTo>
                  <a:close/>
                </a:path>
                <a:path w="996950" h="617854">
                  <a:moveTo>
                    <a:pt x="951991" y="0"/>
                  </a:moveTo>
                  <a:lnTo>
                    <a:pt x="947292" y="0"/>
                  </a:lnTo>
                  <a:lnTo>
                    <a:pt x="945260" y="1269"/>
                  </a:lnTo>
                  <a:lnTo>
                    <a:pt x="953007" y="1269"/>
                  </a:lnTo>
                  <a:lnTo>
                    <a:pt x="95199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74417" y="2569845"/>
              <a:ext cx="1238250" cy="372110"/>
            </a:xfrm>
            <a:custGeom>
              <a:avLst/>
              <a:gdLst/>
              <a:ahLst/>
              <a:cxnLst/>
              <a:rect l="l" t="t" r="r" b="b"/>
              <a:pathLst>
                <a:path w="1238250" h="372110">
                  <a:moveTo>
                    <a:pt x="0" y="371855"/>
                  </a:moveTo>
                  <a:lnTo>
                    <a:pt x="1238250" y="371855"/>
                  </a:lnTo>
                  <a:lnTo>
                    <a:pt x="1238250" y="0"/>
                  </a:lnTo>
                  <a:lnTo>
                    <a:pt x="0" y="0"/>
                  </a:lnTo>
                  <a:lnTo>
                    <a:pt x="0" y="371855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5053" y="4056760"/>
            <a:ext cx="1678178" cy="92621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21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76059"/>
            <a:ext cx="9144000" cy="281940"/>
          </a:xfrm>
          <a:custGeom>
            <a:avLst/>
            <a:gdLst/>
            <a:ahLst/>
            <a:cxnLst/>
            <a:rect l="l" t="t" r="r" b="b"/>
            <a:pathLst>
              <a:path w="9144000" h="281940">
                <a:moveTo>
                  <a:pt x="0" y="281940"/>
                </a:moveTo>
                <a:lnTo>
                  <a:pt x="9144000" y="281940"/>
                </a:lnTo>
                <a:lnTo>
                  <a:pt x="9144000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911859"/>
            <a:ext cx="68008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000000"/>
                </a:solidFill>
                <a:latin typeface="Courier New"/>
                <a:cs typeface="Courier New"/>
              </a:rPr>
              <a:t>Rabbit</a:t>
            </a:r>
            <a:r>
              <a:rPr sz="4800" spc="-19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4800" spc="-30" dirty="0">
                <a:solidFill>
                  <a:srgbClr val="000000"/>
                </a:solidFill>
                <a:latin typeface="Calibri Light"/>
                <a:cs typeface="Calibri Light"/>
              </a:rPr>
              <a:t>GETTER</a:t>
            </a:r>
            <a:r>
              <a:rPr sz="4800" spc="-19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METHODS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ourier New"/>
                <a:cs typeface="Courier New"/>
              </a:rPr>
              <a:t>class</a:t>
            </a:r>
            <a:r>
              <a:rPr spc="-50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Rabbit(Animal):</a:t>
            </a:r>
          </a:p>
          <a:p>
            <a:pPr marL="558800">
              <a:lnSpc>
                <a:spcPct val="100000"/>
              </a:lnSpc>
            </a:pPr>
            <a:r>
              <a:rPr dirty="0">
                <a:latin typeface="Courier New"/>
                <a:cs typeface="Courier New"/>
              </a:rPr>
              <a:t>tag</a:t>
            </a:r>
            <a:r>
              <a:rPr spc="-3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25" dirty="0">
                <a:latin typeface="Courier New"/>
                <a:cs typeface="Courier New"/>
              </a:rPr>
              <a:t> </a:t>
            </a:r>
            <a:r>
              <a:rPr spc="-50" dirty="0">
                <a:latin typeface="Courier New"/>
                <a:cs typeface="Courier New"/>
              </a:rPr>
              <a:t>1</a:t>
            </a:r>
          </a:p>
          <a:p>
            <a:pPr marL="1105535" marR="5080" indent="-546735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Courier New"/>
                <a:cs typeface="Courier New"/>
              </a:rPr>
              <a:t>def</a:t>
            </a:r>
            <a:r>
              <a:rPr spc="-40" dirty="0">
                <a:latin typeface="Courier New"/>
                <a:cs typeface="Courier New"/>
              </a:rPr>
              <a:t> </a:t>
            </a:r>
            <a:r>
              <a:rPr u="sng" spc="-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dirty="0">
                <a:latin typeface="Courier New"/>
                <a:cs typeface="Courier New"/>
              </a:rPr>
              <a:t>init</a:t>
            </a:r>
            <a:r>
              <a:rPr u="sng" spc="-3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dirty="0">
                <a:latin typeface="Courier New"/>
                <a:cs typeface="Courier New"/>
              </a:rPr>
              <a:t>(self,</a:t>
            </a:r>
            <a:r>
              <a:rPr spc="-4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age,</a:t>
            </a:r>
            <a:r>
              <a:rPr spc="-4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parent1=None,</a:t>
            </a:r>
            <a:r>
              <a:rPr spc="-3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parent2=None): </a:t>
            </a:r>
            <a:r>
              <a:rPr dirty="0">
                <a:latin typeface="Courier New"/>
                <a:cs typeface="Courier New"/>
              </a:rPr>
              <a:t>Animal.</a:t>
            </a:r>
            <a:r>
              <a:rPr u="sng" spc="-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dirty="0">
                <a:latin typeface="Courier New"/>
                <a:cs typeface="Courier New"/>
              </a:rPr>
              <a:t>init</a:t>
            </a:r>
            <a:r>
              <a:rPr u="sng" spc="-3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dirty="0">
                <a:latin typeface="Courier New"/>
                <a:cs typeface="Courier New"/>
              </a:rPr>
              <a:t>(self,</a:t>
            </a:r>
            <a:r>
              <a:rPr spc="-35" dirty="0">
                <a:latin typeface="Courier New"/>
                <a:cs typeface="Courier New"/>
              </a:rPr>
              <a:t> </a:t>
            </a:r>
            <a:r>
              <a:rPr spc="-20" dirty="0">
                <a:latin typeface="Courier New"/>
                <a:cs typeface="Courier New"/>
              </a:rPr>
              <a:t>age)</a:t>
            </a:r>
          </a:p>
          <a:p>
            <a:pPr marL="1105535" marR="3556000">
              <a:lnSpc>
                <a:spcPct val="100000"/>
              </a:lnSpc>
            </a:pPr>
            <a:r>
              <a:rPr dirty="0">
                <a:latin typeface="Courier New"/>
                <a:cs typeface="Courier New"/>
              </a:rPr>
              <a:t>self.parent1</a:t>
            </a:r>
            <a:r>
              <a:rPr spc="-6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60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parent1 </a:t>
            </a:r>
            <a:r>
              <a:rPr dirty="0">
                <a:latin typeface="Courier New"/>
                <a:cs typeface="Courier New"/>
              </a:rPr>
              <a:t>self.parent2</a:t>
            </a:r>
            <a:r>
              <a:rPr spc="-6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60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parent2 </a:t>
            </a:r>
            <a:r>
              <a:rPr dirty="0">
                <a:latin typeface="Courier New"/>
                <a:cs typeface="Courier New"/>
              </a:rPr>
              <a:t>self.rid</a:t>
            </a:r>
            <a:r>
              <a:rPr spc="-4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4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Rabbit.tag </a:t>
            </a:r>
            <a:r>
              <a:rPr dirty="0">
                <a:latin typeface="Courier New"/>
                <a:cs typeface="Courier New"/>
              </a:rPr>
              <a:t>Rabbit.tag</a:t>
            </a:r>
            <a:r>
              <a:rPr spc="-6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+=</a:t>
            </a:r>
            <a:r>
              <a:rPr spc="-55" dirty="0">
                <a:latin typeface="Courier New"/>
                <a:cs typeface="Courier New"/>
              </a:rPr>
              <a:t> </a:t>
            </a:r>
            <a:r>
              <a:rPr spc="-50" dirty="0">
                <a:latin typeface="Courier New"/>
                <a:cs typeface="Courier New"/>
              </a:rPr>
              <a:t>1</a:t>
            </a:r>
          </a:p>
          <a:p>
            <a:pPr marL="558800">
              <a:lnSpc>
                <a:spcPct val="100000"/>
              </a:lnSpc>
            </a:pPr>
            <a:r>
              <a:rPr dirty="0">
                <a:latin typeface="Courier New"/>
                <a:cs typeface="Courier New"/>
              </a:rPr>
              <a:t>def</a:t>
            </a:r>
            <a:r>
              <a:rPr spc="-2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get_rid(self):</a:t>
            </a:r>
          </a:p>
          <a:p>
            <a:pPr marL="558800" marR="2602230" indent="546100">
              <a:lnSpc>
                <a:spcPct val="100000"/>
              </a:lnSpc>
            </a:pPr>
            <a:r>
              <a:rPr dirty="0">
                <a:latin typeface="Courier New"/>
                <a:cs typeface="Courier New"/>
              </a:rPr>
              <a:t>return</a:t>
            </a:r>
            <a:r>
              <a:rPr spc="-60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str(self.rid).zfill(3) </a:t>
            </a:r>
            <a:r>
              <a:rPr dirty="0">
                <a:latin typeface="Courier New"/>
                <a:cs typeface="Courier New"/>
              </a:rPr>
              <a:t>def</a:t>
            </a:r>
            <a:r>
              <a:rPr spc="-2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get_parent1(self):</a:t>
            </a:r>
          </a:p>
          <a:p>
            <a:pPr marL="558800" marR="3966210" indent="546100">
              <a:lnSpc>
                <a:spcPct val="100000"/>
              </a:lnSpc>
            </a:pPr>
            <a:r>
              <a:rPr dirty="0">
                <a:latin typeface="Courier New"/>
                <a:cs typeface="Courier New"/>
              </a:rPr>
              <a:t>return</a:t>
            </a:r>
            <a:r>
              <a:rPr spc="-60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self.parent1 </a:t>
            </a:r>
            <a:r>
              <a:rPr dirty="0">
                <a:latin typeface="Courier New"/>
                <a:cs typeface="Courier New"/>
              </a:rPr>
              <a:t>def</a:t>
            </a:r>
            <a:r>
              <a:rPr spc="-2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get_parent2(self):</a:t>
            </a:r>
          </a:p>
          <a:p>
            <a:pPr marL="1105535">
              <a:lnSpc>
                <a:spcPct val="100000"/>
              </a:lnSpc>
            </a:pPr>
            <a:r>
              <a:rPr dirty="0">
                <a:latin typeface="Courier New"/>
                <a:cs typeface="Courier New"/>
              </a:rPr>
              <a:t>return</a:t>
            </a:r>
            <a:r>
              <a:rPr spc="-60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self.parent2</a:t>
            </a:r>
          </a:p>
        </p:txBody>
      </p:sp>
      <p:sp>
        <p:nvSpPr>
          <p:cNvPr id="6" name="object 6"/>
          <p:cNvSpPr/>
          <p:nvPr/>
        </p:nvSpPr>
        <p:spPr>
          <a:xfrm>
            <a:off x="4743830" y="4317110"/>
            <a:ext cx="1239520" cy="372110"/>
          </a:xfrm>
          <a:custGeom>
            <a:avLst/>
            <a:gdLst/>
            <a:ahLst/>
            <a:cxnLst/>
            <a:rect l="l" t="t" r="r" b="b"/>
            <a:pathLst>
              <a:path w="1239520" h="372110">
                <a:moveTo>
                  <a:pt x="0" y="371856"/>
                </a:moveTo>
                <a:lnTo>
                  <a:pt x="1239012" y="371856"/>
                </a:lnTo>
                <a:lnTo>
                  <a:pt x="1239012" y="0"/>
                </a:lnTo>
                <a:lnTo>
                  <a:pt x="0" y="0"/>
                </a:lnTo>
                <a:lnTo>
                  <a:pt x="0" y="371856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969127" y="2716148"/>
            <a:ext cx="2814955" cy="3823335"/>
            <a:chOff x="5969127" y="2716148"/>
            <a:chExt cx="2814955" cy="3823335"/>
          </a:xfrm>
        </p:grpSpPr>
        <p:sp>
          <p:nvSpPr>
            <p:cNvPr id="8" name="object 8"/>
            <p:cNvSpPr/>
            <p:nvPr/>
          </p:nvSpPr>
          <p:spPr>
            <a:xfrm>
              <a:off x="6185408" y="5497702"/>
              <a:ext cx="52705" cy="36195"/>
            </a:xfrm>
            <a:custGeom>
              <a:avLst/>
              <a:gdLst/>
              <a:ahLst/>
              <a:cxnLst/>
              <a:rect l="l" t="t" r="r" b="b"/>
              <a:pathLst>
                <a:path w="52704" h="36195">
                  <a:moveTo>
                    <a:pt x="45465" y="0"/>
                  </a:moveTo>
                  <a:lnTo>
                    <a:pt x="44449" y="0"/>
                  </a:lnTo>
                  <a:lnTo>
                    <a:pt x="43941" y="127"/>
                  </a:lnTo>
                  <a:lnTo>
                    <a:pt x="43433" y="508"/>
                  </a:lnTo>
                  <a:lnTo>
                    <a:pt x="1904" y="21971"/>
                  </a:lnTo>
                  <a:lnTo>
                    <a:pt x="761" y="22479"/>
                  </a:lnTo>
                  <a:lnTo>
                    <a:pt x="126" y="23495"/>
                  </a:lnTo>
                  <a:lnTo>
                    <a:pt x="0" y="24765"/>
                  </a:lnTo>
                  <a:lnTo>
                    <a:pt x="0" y="26035"/>
                  </a:lnTo>
                  <a:lnTo>
                    <a:pt x="634" y="27940"/>
                  </a:lnTo>
                  <a:lnTo>
                    <a:pt x="3174" y="33020"/>
                  </a:lnTo>
                  <a:lnTo>
                    <a:pt x="4444" y="34671"/>
                  </a:lnTo>
                  <a:lnTo>
                    <a:pt x="6603" y="36068"/>
                  </a:lnTo>
                  <a:lnTo>
                    <a:pt x="7746" y="36068"/>
                  </a:lnTo>
                  <a:lnTo>
                    <a:pt x="51561" y="13462"/>
                  </a:lnTo>
                  <a:lnTo>
                    <a:pt x="52196" y="12573"/>
                  </a:lnTo>
                  <a:lnTo>
                    <a:pt x="52196" y="11176"/>
                  </a:lnTo>
                  <a:lnTo>
                    <a:pt x="52323" y="9906"/>
                  </a:lnTo>
                  <a:lnTo>
                    <a:pt x="51688" y="8001"/>
                  </a:lnTo>
                  <a:lnTo>
                    <a:pt x="50291" y="5461"/>
                  </a:lnTo>
                  <a:lnTo>
                    <a:pt x="49656" y="4191"/>
                  </a:lnTo>
                  <a:lnTo>
                    <a:pt x="47878" y="1524"/>
                  </a:lnTo>
                  <a:lnTo>
                    <a:pt x="46608" y="635"/>
                  </a:lnTo>
                  <a:lnTo>
                    <a:pt x="46100" y="127"/>
                  </a:lnTo>
                  <a:lnTo>
                    <a:pt x="454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69127" y="2716148"/>
              <a:ext cx="2814955" cy="3822992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6437629" y="5984887"/>
            <a:ext cx="52705" cy="36195"/>
          </a:xfrm>
          <a:custGeom>
            <a:avLst/>
            <a:gdLst/>
            <a:ahLst/>
            <a:cxnLst/>
            <a:rect l="l" t="t" r="r" b="b"/>
            <a:pathLst>
              <a:path w="52704" h="36195">
                <a:moveTo>
                  <a:pt x="45593" y="0"/>
                </a:moveTo>
                <a:lnTo>
                  <a:pt x="889" y="22529"/>
                </a:lnTo>
                <a:lnTo>
                  <a:pt x="0" y="26085"/>
                </a:lnTo>
                <a:lnTo>
                  <a:pt x="635" y="27990"/>
                </a:lnTo>
                <a:lnTo>
                  <a:pt x="7874" y="36118"/>
                </a:lnTo>
                <a:lnTo>
                  <a:pt x="51562" y="13462"/>
                </a:lnTo>
                <a:lnTo>
                  <a:pt x="52197" y="12522"/>
                </a:lnTo>
                <a:lnTo>
                  <a:pt x="52324" y="11226"/>
                </a:lnTo>
                <a:lnTo>
                  <a:pt x="52324" y="9918"/>
                </a:lnTo>
                <a:lnTo>
                  <a:pt x="455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709409" y="4099560"/>
            <a:ext cx="5273675" cy="1944370"/>
            <a:chOff x="709409" y="4099560"/>
            <a:chExt cx="5273675" cy="1944370"/>
          </a:xfrm>
        </p:grpSpPr>
        <p:sp>
          <p:nvSpPr>
            <p:cNvPr id="12" name="object 12"/>
            <p:cNvSpPr/>
            <p:nvPr/>
          </p:nvSpPr>
          <p:spPr>
            <a:xfrm>
              <a:off x="946022" y="4107561"/>
              <a:ext cx="378460" cy="1644014"/>
            </a:xfrm>
            <a:custGeom>
              <a:avLst/>
              <a:gdLst/>
              <a:ahLst/>
              <a:cxnLst/>
              <a:rect l="l" t="t" r="r" b="b"/>
              <a:pathLst>
                <a:path w="378459" h="1644014">
                  <a:moveTo>
                    <a:pt x="377952" y="1643633"/>
                  </a:moveTo>
                  <a:lnTo>
                    <a:pt x="327714" y="1638610"/>
                  </a:lnTo>
                  <a:lnTo>
                    <a:pt x="282572" y="1624432"/>
                  </a:lnTo>
                  <a:lnTo>
                    <a:pt x="244325" y="1602439"/>
                  </a:lnTo>
                  <a:lnTo>
                    <a:pt x="214776" y="1573974"/>
                  </a:lnTo>
                  <a:lnTo>
                    <a:pt x="195726" y="1540374"/>
                  </a:lnTo>
                  <a:lnTo>
                    <a:pt x="188976" y="1502981"/>
                  </a:lnTo>
                  <a:lnTo>
                    <a:pt x="188976" y="962405"/>
                  </a:lnTo>
                  <a:lnTo>
                    <a:pt x="182225" y="925048"/>
                  </a:lnTo>
                  <a:lnTo>
                    <a:pt x="163175" y="891469"/>
                  </a:lnTo>
                  <a:lnTo>
                    <a:pt x="133626" y="863012"/>
                  </a:lnTo>
                  <a:lnTo>
                    <a:pt x="95379" y="841022"/>
                  </a:lnTo>
                  <a:lnTo>
                    <a:pt x="50237" y="826842"/>
                  </a:lnTo>
                  <a:lnTo>
                    <a:pt x="0" y="821816"/>
                  </a:lnTo>
                  <a:lnTo>
                    <a:pt x="50237" y="816791"/>
                  </a:lnTo>
                  <a:lnTo>
                    <a:pt x="95379" y="802611"/>
                  </a:lnTo>
                  <a:lnTo>
                    <a:pt x="133626" y="780621"/>
                  </a:lnTo>
                  <a:lnTo>
                    <a:pt x="163175" y="752164"/>
                  </a:lnTo>
                  <a:lnTo>
                    <a:pt x="182225" y="718585"/>
                  </a:lnTo>
                  <a:lnTo>
                    <a:pt x="188976" y="681227"/>
                  </a:lnTo>
                  <a:lnTo>
                    <a:pt x="188976" y="140588"/>
                  </a:lnTo>
                  <a:lnTo>
                    <a:pt x="195726" y="103231"/>
                  </a:lnTo>
                  <a:lnTo>
                    <a:pt x="214776" y="69652"/>
                  </a:lnTo>
                  <a:lnTo>
                    <a:pt x="244325" y="41195"/>
                  </a:lnTo>
                  <a:lnTo>
                    <a:pt x="282572" y="19205"/>
                  </a:lnTo>
                  <a:lnTo>
                    <a:pt x="327714" y="5025"/>
                  </a:lnTo>
                  <a:lnTo>
                    <a:pt x="377952" y="0"/>
                  </a:lnTo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9409" y="4921758"/>
              <a:ext cx="5273675" cy="1122045"/>
            </a:xfrm>
            <a:custGeom>
              <a:avLst/>
              <a:gdLst/>
              <a:ahLst/>
              <a:cxnLst/>
              <a:rect l="l" t="t" r="r" b="b"/>
              <a:pathLst>
                <a:path w="5273675" h="1122045">
                  <a:moveTo>
                    <a:pt x="5196979" y="1045679"/>
                  </a:moveTo>
                  <a:lnTo>
                    <a:pt x="5196979" y="1121879"/>
                  </a:lnTo>
                  <a:lnTo>
                    <a:pt x="5257177" y="1091780"/>
                  </a:lnTo>
                  <a:lnTo>
                    <a:pt x="5209679" y="1091780"/>
                  </a:lnTo>
                  <a:lnTo>
                    <a:pt x="5209679" y="1075778"/>
                  </a:lnTo>
                  <a:lnTo>
                    <a:pt x="5257177" y="1075778"/>
                  </a:lnTo>
                  <a:lnTo>
                    <a:pt x="5196979" y="1045679"/>
                  </a:lnTo>
                  <a:close/>
                </a:path>
                <a:path w="5273675" h="1122045">
                  <a:moveTo>
                    <a:pt x="236613" y="0"/>
                  </a:moveTo>
                  <a:lnTo>
                    <a:pt x="3581" y="0"/>
                  </a:lnTo>
                  <a:lnTo>
                    <a:pt x="0" y="3555"/>
                  </a:lnTo>
                  <a:lnTo>
                    <a:pt x="0" y="1088199"/>
                  </a:lnTo>
                  <a:lnTo>
                    <a:pt x="3581" y="1091780"/>
                  </a:lnTo>
                  <a:lnTo>
                    <a:pt x="5196979" y="1091780"/>
                  </a:lnTo>
                  <a:lnTo>
                    <a:pt x="5196979" y="1083779"/>
                  </a:lnTo>
                  <a:lnTo>
                    <a:pt x="16002" y="1083779"/>
                  </a:lnTo>
                  <a:lnTo>
                    <a:pt x="8001" y="1075778"/>
                  </a:lnTo>
                  <a:lnTo>
                    <a:pt x="16002" y="1075778"/>
                  </a:lnTo>
                  <a:lnTo>
                    <a:pt x="16002" y="16001"/>
                  </a:lnTo>
                  <a:lnTo>
                    <a:pt x="8000" y="16001"/>
                  </a:lnTo>
                  <a:lnTo>
                    <a:pt x="16002" y="8000"/>
                  </a:lnTo>
                  <a:lnTo>
                    <a:pt x="236613" y="8000"/>
                  </a:lnTo>
                  <a:lnTo>
                    <a:pt x="236613" y="0"/>
                  </a:lnTo>
                  <a:close/>
                </a:path>
                <a:path w="5273675" h="1122045">
                  <a:moveTo>
                    <a:pt x="5257177" y="1075778"/>
                  </a:moveTo>
                  <a:lnTo>
                    <a:pt x="5209679" y="1075778"/>
                  </a:lnTo>
                  <a:lnTo>
                    <a:pt x="5209679" y="1091780"/>
                  </a:lnTo>
                  <a:lnTo>
                    <a:pt x="5257177" y="1091780"/>
                  </a:lnTo>
                  <a:lnTo>
                    <a:pt x="5273179" y="1083779"/>
                  </a:lnTo>
                  <a:lnTo>
                    <a:pt x="5257177" y="1075778"/>
                  </a:lnTo>
                  <a:close/>
                </a:path>
                <a:path w="5273675" h="1122045">
                  <a:moveTo>
                    <a:pt x="16002" y="1075778"/>
                  </a:moveTo>
                  <a:lnTo>
                    <a:pt x="8001" y="1075778"/>
                  </a:lnTo>
                  <a:lnTo>
                    <a:pt x="16002" y="1083779"/>
                  </a:lnTo>
                  <a:lnTo>
                    <a:pt x="16002" y="1075778"/>
                  </a:lnTo>
                  <a:close/>
                </a:path>
                <a:path w="5273675" h="1122045">
                  <a:moveTo>
                    <a:pt x="5196979" y="1075778"/>
                  </a:moveTo>
                  <a:lnTo>
                    <a:pt x="16002" y="1075778"/>
                  </a:lnTo>
                  <a:lnTo>
                    <a:pt x="16002" y="1083779"/>
                  </a:lnTo>
                  <a:lnTo>
                    <a:pt x="5196979" y="1083779"/>
                  </a:lnTo>
                  <a:lnTo>
                    <a:pt x="5196979" y="1075778"/>
                  </a:lnTo>
                  <a:close/>
                </a:path>
                <a:path w="5273675" h="1122045">
                  <a:moveTo>
                    <a:pt x="16002" y="8000"/>
                  </a:moveTo>
                  <a:lnTo>
                    <a:pt x="8000" y="16001"/>
                  </a:lnTo>
                  <a:lnTo>
                    <a:pt x="16002" y="16001"/>
                  </a:lnTo>
                  <a:lnTo>
                    <a:pt x="16002" y="8000"/>
                  </a:lnTo>
                  <a:close/>
                </a:path>
                <a:path w="5273675" h="1122045">
                  <a:moveTo>
                    <a:pt x="236613" y="8000"/>
                  </a:moveTo>
                  <a:lnTo>
                    <a:pt x="16002" y="8000"/>
                  </a:lnTo>
                  <a:lnTo>
                    <a:pt x="16002" y="16001"/>
                  </a:lnTo>
                  <a:lnTo>
                    <a:pt x="236613" y="16001"/>
                  </a:lnTo>
                  <a:lnTo>
                    <a:pt x="236613" y="80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22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76059"/>
            <a:ext cx="9144000" cy="281940"/>
          </a:xfrm>
          <a:custGeom>
            <a:avLst/>
            <a:gdLst/>
            <a:ahLst/>
            <a:cxnLst/>
            <a:rect l="l" t="t" r="r" b="b"/>
            <a:pathLst>
              <a:path w="9144000" h="281940">
                <a:moveTo>
                  <a:pt x="0" y="281940"/>
                </a:moveTo>
                <a:lnTo>
                  <a:pt x="9144000" y="281940"/>
                </a:lnTo>
                <a:lnTo>
                  <a:pt x="9144000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z="4800" spc="-50" dirty="0">
                <a:solidFill>
                  <a:srgbClr val="000000"/>
                </a:solidFill>
                <a:latin typeface="Calibri Light"/>
                <a:cs typeface="Calibri Light"/>
              </a:rPr>
              <a:t>WORKING</a:t>
            </a:r>
            <a:r>
              <a:rPr sz="4800" spc="-2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0" dirty="0">
                <a:solidFill>
                  <a:srgbClr val="000000"/>
                </a:solidFill>
                <a:latin typeface="Calibri Light"/>
                <a:cs typeface="Calibri Light"/>
              </a:rPr>
              <a:t>WITH</a:t>
            </a:r>
            <a:r>
              <a:rPr sz="4800" spc="-19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55" dirty="0">
                <a:solidFill>
                  <a:srgbClr val="000000"/>
                </a:solidFill>
                <a:latin typeface="Calibri Light"/>
                <a:cs typeface="Calibri Light"/>
              </a:rPr>
              <a:t>YOUR</a:t>
            </a:r>
            <a:r>
              <a:rPr sz="4800" spc="-20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000000"/>
                </a:solidFill>
                <a:latin typeface="Calibri Light"/>
                <a:cs typeface="Calibri Light"/>
              </a:rPr>
              <a:t>OWN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14447" y="2608707"/>
            <a:ext cx="3259454" cy="407670"/>
          </a:xfrm>
          <a:custGeom>
            <a:avLst/>
            <a:gdLst/>
            <a:ahLst/>
            <a:cxnLst/>
            <a:rect l="l" t="t" r="r" b="b"/>
            <a:pathLst>
              <a:path w="3259454" h="407669">
                <a:moveTo>
                  <a:pt x="0" y="407670"/>
                </a:moveTo>
                <a:lnTo>
                  <a:pt x="3259074" y="407670"/>
                </a:lnTo>
                <a:lnTo>
                  <a:pt x="3259074" y="0"/>
                </a:lnTo>
                <a:lnTo>
                  <a:pt x="0" y="0"/>
                </a:lnTo>
                <a:lnTo>
                  <a:pt x="0" y="407670"/>
                </a:lnTo>
                <a:close/>
              </a:path>
            </a:pathLst>
          </a:custGeom>
          <a:ln w="1600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6477" y="1680855"/>
            <a:ext cx="8194040" cy="429196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285"/>
              </a:spcBef>
            </a:pPr>
            <a:r>
              <a:rPr sz="1800" dirty="0">
                <a:latin typeface="Courier New"/>
                <a:cs typeface="Courier New"/>
              </a:rPr>
              <a:t>def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dirty="0">
                <a:latin typeface="Courier New"/>
                <a:cs typeface="Courier New"/>
              </a:rPr>
              <a:t>add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800" dirty="0">
                <a:latin typeface="Courier New"/>
                <a:cs typeface="Courier New"/>
              </a:rPr>
              <a:t>(self,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other):</a:t>
            </a:r>
            <a:endParaRPr sz="1800">
              <a:latin typeface="Courier New"/>
              <a:cs typeface="Courier New"/>
            </a:endParaRPr>
          </a:p>
          <a:p>
            <a:pPr marL="1139190" marR="900430">
              <a:lnSpc>
                <a:spcPct val="154700"/>
              </a:lnSpc>
              <a:spcBef>
                <a:spcPts val="5"/>
              </a:spcBef>
            </a:pPr>
            <a:r>
              <a:rPr sz="1800" dirty="0">
                <a:latin typeface="Courier New"/>
                <a:cs typeface="Courier New"/>
              </a:rPr>
              <a:t>#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returning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object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of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same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type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as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this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class </a:t>
            </a:r>
            <a:r>
              <a:rPr sz="1800" dirty="0">
                <a:latin typeface="Courier New"/>
                <a:cs typeface="Courier New"/>
              </a:rPr>
              <a:t>return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Rabbit(0,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self,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other)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recall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Rabbit’s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u="sng" spc="-35" dirty="0">
                <a:solidFill>
                  <a:srgbClr val="FF0000"/>
                </a:solidFill>
                <a:uFill>
                  <a:solidFill>
                    <a:srgbClr val="FE0000"/>
                  </a:solidFill>
                </a:u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init</a:t>
            </a:r>
            <a:r>
              <a:rPr sz="1400" u="sng" spc="-40" dirty="0">
                <a:solidFill>
                  <a:srgbClr val="FF0000"/>
                </a:solidFill>
                <a:uFill>
                  <a:solidFill>
                    <a:srgbClr val="FE0000"/>
                  </a:solidFill>
                </a:u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(self,</a:t>
            </a:r>
            <a:r>
              <a:rPr sz="14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age,</a:t>
            </a:r>
            <a:r>
              <a:rPr sz="14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parent1=None,</a:t>
            </a:r>
            <a:r>
              <a:rPr sz="14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urier New"/>
                <a:cs typeface="Courier New"/>
              </a:rPr>
              <a:t>parent2=None)</a:t>
            </a:r>
            <a:endParaRPr sz="1400">
              <a:latin typeface="Courier New"/>
              <a:cs typeface="Courier New"/>
            </a:endParaRPr>
          </a:p>
          <a:p>
            <a:pPr marL="271145" indent="-224790">
              <a:lnSpc>
                <a:spcPct val="100000"/>
              </a:lnSpc>
              <a:spcBef>
                <a:spcPts val="990"/>
              </a:spcBef>
              <a:buClr>
                <a:srgbClr val="585858"/>
              </a:buClr>
              <a:buFont typeface="Wingdings"/>
              <a:buChar char=""/>
              <a:tabLst>
                <a:tab pos="271145" algn="l"/>
              </a:tabLst>
            </a:pPr>
            <a:r>
              <a:rPr sz="2600" dirty="0">
                <a:latin typeface="Calibri"/>
                <a:cs typeface="Calibri"/>
              </a:rPr>
              <a:t>define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+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operator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Rabbit</a:t>
            </a:r>
            <a:r>
              <a:rPr sz="2600" spc="-955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alibri"/>
                <a:cs typeface="Calibri"/>
              </a:rPr>
              <a:t>instances</a:t>
            </a:r>
            <a:endParaRPr sz="2600">
              <a:latin typeface="Calibri"/>
              <a:cs typeface="Calibri"/>
            </a:endParaRPr>
          </a:p>
          <a:p>
            <a:pPr marL="498475" lvl="1" indent="-250825">
              <a:lnSpc>
                <a:spcPts val="2735"/>
              </a:lnSpc>
              <a:spcBef>
                <a:spcPts val="125"/>
              </a:spcBef>
              <a:buClr>
                <a:srgbClr val="585858"/>
              </a:buClr>
              <a:buFont typeface="Arial MT"/>
              <a:buChar char="•"/>
              <a:tabLst>
                <a:tab pos="498475" algn="l"/>
              </a:tabLst>
            </a:pP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something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r4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r1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+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r2</a:t>
            </a:r>
            <a:endParaRPr sz="2400">
              <a:latin typeface="Courier New"/>
              <a:cs typeface="Courier New"/>
            </a:endParaRPr>
          </a:p>
          <a:p>
            <a:pPr marL="58293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r1</a:t>
            </a:r>
            <a:r>
              <a:rPr sz="2400" spc="-910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r2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Rabbit</a:t>
            </a:r>
            <a:r>
              <a:rPr sz="2400" spc="-919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alibri"/>
                <a:cs typeface="Calibri"/>
              </a:rPr>
              <a:t>instances</a:t>
            </a:r>
            <a:endParaRPr sz="2400">
              <a:latin typeface="Calibri"/>
              <a:cs typeface="Calibri"/>
            </a:endParaRPr>
          </a:p>
          <a:p>
            <a:pPr marL="498475" lvl="1" indent="-250825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98475" algn="l"/>
              </a:tabLst>
            </a:pPr>
            <a:r>
              <a:rPr sz="2400" spc="-10" dirty="0">
                <a:latin typeface="Courier New"/>
                <a:cs typeface="Courier New"/>
              </a:rPr>
              <a:t>r4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Rabbit</a:t>
            </a:r>
            <a:r>
              <a:rPr sz="2400" spc="-919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498475" lvl="1" indent="-250825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98475" algn="l"/>
              </a:tabLst>
            </a:pPr>
            <a:r>
              <a:rPr sz="2400" spc="-10" dirty="0">
                <a:latin typeface="Courier New"/>
                <a:cs typeface="Courier New"/>
              </a:rPr>
              <a:t>r4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self</a:t>
            </a:r>
            <a:r>
              <a:rPr sz="1800" spc="-560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other</a:t>
            </a:r>
            <a:r>
              <a:rPr sz="1800" spc="-56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parent</a:t>
            </a:r>
            <a:endParaRPr sz="2400">
              <a:latin typeface="Calibri"/>
              <a:cs typeface="Calibri"/>
            </a:endParaRPr>
          </a:p>
          <a:p>
            <a:pPr marL="498475" lvl="1" indent="-250825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98475" algn="l"/>
                <a:tab pos="1162685" algn="l"/>
                <a:tab pos="2259965" algn="l"/>
              </a:tabLst>
            </a:pPr>
            <a:r>
              <a:rPr sz="2400" dirty="0">
                <a:latin typeface="Calibri"/>
                <a:cs typeface="Calibri"/>
              </a:rPr>
              <a:t>in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init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ourier New"/>
                <a:cs typeface="Courier New"/>
              </a:rPr>
              <a:t>parent1</a:t>
            </a:r>
            <a:r>
              <a:rPr sz="2400" b="1" spc="-9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ourier New"/>
                <a:cs typeface="Courier New"/>
              </a:rPr>
              <a:t>parent2</a:t>
            </a:r>
            <a:r>
              <a:rPr sz="2400" b="1" spc="-919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type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ourier New"/>
                <a:cs typeface="Courier New"/>
              </a:rPr>
              <a:t>Rabbit</a:t>
            </a:r>
            <a:endParaRPr sz="24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27779" y="3016376"/>
            <a:ext cx="724535" cy="247015"/>
            <a:chOff x="3827779" y="3016376"/>
            <a:chExt cx="724535" cy="247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7779" y="3016377"/>
              <a:ext cx="82804" cy="2452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7634" y="3016376"/>
              <a:ext cx="114554" cy="246507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5377814" y="3012566"/>
            <a:ext cx="549275" cy="254635"/>
          </a:xfrm>
          <a:custGeom>
            <a:avLst/>
            <a:gdLst/>
            <a:ahLst/>
            <a:cxnLst/>
            <a:rect l="l" t="t" r="r" b="b"/>
            <a:pathLst>
              <a:path w="549275" h="254635">
                <a:moveTo>
                  <a:pt x="72830" y="27534"/>
                </a:moveTo>
                <a:lnTo>
                  <a:pt x="66331" y="42129"/>
                </a:lnTo>
                <a:lnTo>
                  <a:pt x="542671" y="254635"/>
                </a:lnTo>
                <a:lnTo>
                  <a:pt x="549148" y="240030"/>
                </a:lnTo>
                <a:lnTo>
                  <a:pt x="72830" y="27534"/>
                </a:lnTo>
                <a:close/>
              </a:path>
              <a:path w="549275" h="254635">
                <a:moveTo>
                  <a:pt x="85090" y="0"/>
                </a:moveTo>
                <a:lnTo>
                  <a:pt x="0" y="3810"/>
                </a:lnTo>
                <a:lnTo>
                  <a:pt x="54102" y="69596"/>
                </a:lnTo>
                <a:lnTo>
                  <a:pt x="66331" y="42129"/>
                </a:lnTo>
                <a:lnTo>
                  <a:pt x="54737" y="36957"/>
                </a:lnTo>
                <a:lnTo>
                  <a:pt x="61214" y="22352"/>
                </a:lnTo>
                <a:lnTo>
                  <a:pt x="75137" y="22352"/>
                </a:lnTo>
                <a:lnTo>
                  <a:pt x="85090" y="0"/>
                </a:lnTo>
                <a:close/>
              </a:path>
              <a:path w="549275" h="254635">
                <a:moveTo>
                  <a:pt x="61214" y="22352"/>
                </a:moveTo>
                <a:lnTo>
                  <a:pt x="54737" y="36957"/>
                </a:lnTo>
                <a:lnTo>
                  <a:pt x="66331" y="42129"/>
                </a:lnTo>
                <a:lnTo>
                  <a:pt x="72830" y="27534"/>
                </a:lnTo>
                <a:lnTo>
                  <a:pt x="61214" y="22352"/>
                </a:lnTo>
                <a:close/>
              </a:path>
              <a:path w="549275" h="254635">
                <a:moveTo>
                  <a:pt x="75137" y="22352"/>
                </a:moveTo>
                <a:lnTo>
                  <a:pt x="61214" y="22352"/>
                </a:lnTo>
                <a:lnTo>
                  <a:pt x="72830" y="27534"/>
                </a:lnTo>
                <a:lnTo>
                  <a:pt x="75137" y="2235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23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76059"/>
            <a:ext cx="9144000" cy="281940"/>
          </a:xfrm>
          <a:custGeom>
            <a:avLst/>
            <a:gdLst/>
            <a:ahLst/>
            <a:cxnLst/>
            <a:rect l="l" t="t" r="r" b="b"/>
            <a:pathLst>
              <a:path w="9144000" h="281940">
                <a:moveTo>
                  <a:pt x="0" y="281940"/>
                </a:moveTo>
                <a:lnTo>
                  <a:pt x="9144000" y="281940"/>
                </a:lnTo>
                <a:lnTo>
                  <a:pt x="9144000" y="0"/>
                </a:lnTo>
                <a:lnTo>
                  <a:pt x="0" y="0"/>
                </a:lnTo>
                <a:lnTo>
                  <a:pt x="0" y="28194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20"/>
              </a:lnSpc>
              <a:spcBef>
                <a:spcPts val="100"/>
              </a:spcBef>
            </a:pPr>
            <a:r>
              <a:rPr sz="4800" spc="-50" dirty="0">
                <a:solidFill>
                  <a:srgbClr val="000000"/>
                </a:solidFill>
                <a:latin typeface="Calibri Light"/>
                <a:cs typeface="Calibri Light"/>
              </a:rPr>
              <a:t>SPECIAL</a:t>
            </a:r>
            <a:r>
              <a:rPr sz="4800" spc="-2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35" dirty="0">
                <a:solidFill>
                  <a:srgbClr val="000000"/>
                </a:solidFill>
                <a:latin typeface="Calibri Light"/>
                <a:cs typeface="Calibri Light"/>
              </a:rPr>
              <a:t>METHOD</a:t>
            </a:r>
            <a:r>
              <a:rPr sz="4800" spc="-2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000000"/>
                </a:solidFill>
                <a:latin typeface="Calibri Light"/>
                <a:cs typeface="Calibri Light"/>
              </a:rPr>
              <a:t>TO</a:t>
            </a:r>
            <a:endParaRPr sz="4800">
              <a:latin typeface="Calibri Light"/>
              <a:cs typeface="Calibri Light"/>
            </a:endParaRPr>
          </a:p>
          <a:p>
            <a:pPr marL="12700">
              <a:lnSpc>
                <a:spcPts val="5320"/>
              </a:lnSpc>
            </a:pPr>
            <a:r>
              <a:rPr sz="4800" spc="-110" dirty="0">
                <a:solidFill>
                  <a:srgbClr val="000000"/>
                </a:solidFill>
                <a:latin typeface="Calibri Light"/>
                <a:cs typeface="Calibri Light"/>
              </a:rPr>
              <a:t>COMPARE</a:t>
            </a:r>
            <a:r>
              <a:rPr sz="4800" spc="-16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 Light"/>
                <a:cs typeface="Calibri Light"/>
              </a:rPr>
              <a:t>TWO</a:t>
            </a:r>
            <a:r>
              <a:rPr sz="4800" spc="-2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000000"/>
                </a:solidFill>
                <a:latin typeface="Courier New"/>
                <a:cs typeface="Courier New"/>
              </a:rPr>
              <a:t>Rabbits</a:t>
            </a:r>
            <a:endParaRPr sz="4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04139" marR="332105" indent="-91440">
              <a:lnSpc>
                <a:spcPts val="2590"/>
              </a:lnSpc>
              <a:spcBef>
                <a:spcPts val="43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	decide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rabbits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same</a:t>
            </a:r>
            <a:r>
              <a:rPr sz="24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two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parents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500" dirty="0">
                <a:latin typeface="Courier New"/>
                <a:cs typeface="Courier New"/>
              </a:rPr>
              <a:t>def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u="sng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500" dirty="0">
                <a:latin typeface="Courier New"/>
                <a:cs typeface="Courier New"/>
              </a:rPr>
              <a:t>eq</a:t>
            </a:r>
            <a:r>
              <a:rPr sz="1500" u="sng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500" dirty="0">
                <a:latin typeface="Courier New"/>
                <a:cs typeface="Courier New"/>
              </a:rPr>
              <a:t>(self,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other):</a:t>
            </a:r>
            <a:endParaRPr sz="1500">
              <a:latin typeface="Courier New"/>
              <a:cs typeface="Courier New"/>
            </a:endParaRPr>
          </a:p>
          <a:p>
            <a:pPr marL="2184400" marR="1073150" indent="-1715135">
              <a:lnSpc>
                <a:spcPct val="120000"/>
              </a:lnSpc>
            </a:pPr>
            <a:r>
              <a:rPr sz="1500" dirty="0">
                <a:latin typeface="Courier New"/>
                <a:cs typeface="Courier New"/>
              </a:rPr>
              <a:t>parents_same</a:t>
            </a:r>
            <a:r>
              <a:rPr sz="1500" spc="-4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5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self.parent1.rid</a:t>
            </a:r>
            <a:r>
              <a:rPr sz="1500" spc="-4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==</a:t>
            </a:r>
            <a:r>
              <a:rPr sz="1500" spc="-5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other.parent1.rid</a:t>
            </a:r>
            <a:r>
              <a:rPr sz="1500" spc="-40" dirty="0">
                <a:latin typeface="Courier New"/>
                <a:cs typeface="Courier New"/>
              </a:rPr>
              <a:t> </a:t>
            </a:r>
            <a:r>
              <a:rPr sz="1500" spc="-50" dirty="0">
                <a:latin typeface="Courier New"/>
                <a:cs typeface="Courier New"/>
              </a:rPr>
              <a:t>\ </a:t>
            </a:r>
            <a:r>
              <a:rPr sz="1500" dirty="0">
                <a:latin typeface="Courier New"/>
                <a:cs typeface="Courier New"/>
              </a:rPr>
              <a:t>and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self.parent2.rid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==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other.parent2.rid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360"/>
              </a:spcBef>
            </a:pPr>
            <a:r>
              <a:rPr sz="1500" dirty="0">
                <a:latin typeface="Courier New"/>
                <a:cs typeface="Courier New"/>
              </a:rPr>
              <a:t>parents_opposite</a:t>
            </a:r>
            <a:r>
              <a:rPr sz="1500" spc="-5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5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self.parent2.rid</a:t>
            </a:r>
            <a:r>
              <a:rPr sz="1500" spc="-5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==</a:t>
            </a:r>
            <a:r>
              <a:rPr sz="1500" spc="-5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other.parent1.rid</a:t>
            </a:r>
            <a:r>
              <a:rPr sz="1500" spc="-45" dirty="0">
                <a:latin typeface="Courier New"/>
                <a:cs typeface="Courier New"/>
              </a:rPr>
              <a:t> </a:t>
            </a:r>
            <a:r>
              <a:rPr sz="1500" spc="-50" dirty="0">
                <a:latin typeface="Courier New"/>
                <a:cs typeface="Courier New"/>
              </a:rPr>
              <a:t>\</a:t>
            </a:r>
            <a:endParaRPr sz="1500">
              <a:latin typeface="Courier New"/>
              <a:cs typeface="Courier New"/>
            </a:endParaRPr>
          </a:p>
          <a:p>
            <a:pPr marL="469900" marR="615950" indent="2171700">
              <a:lnSpc>
                <a:spcPct val="120000"/>
              </a:lnSpc>
            </a:pPr>
            <a:r>
              <a:rPr sz="1500" dirty="0">
                <a:latin typeface="Courier New"/>
                <a:cs typeface="Courier New"/>
              </a:rPr>
              <a:t>and</a:t>
            </a:r>
            <a:r>
              <a:rPr sz="1500" spc="-4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self.parent1.rid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==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other.parent2.rid </a:t>
            </a:r>
            <a:r>
              <a:rPr sz="1500" dirty="0">
                <a:latin typeface="Courier New"/>
                <a:cs typeface="Courier New"/>
              </a:rPr>
              <a:t>return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parents_same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or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parents_opposite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500">
              <a:latin typeface="Courier New"/>
              <a:cs typeface="Courier New"/>
            </a:endParaRPr>
          </a:p>
          <a:p>
            <a:pPr marL="220345" indent="-207645">
              <a:lnSpc>
                <a:spcPct val="100000"/>
              </a:lnSpc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parents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ids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unique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var)</a:t>
            </a:r>
            <a:endParaRPr sz="2400">
              <a:latin typeface="Calibri"/>
              <a:cs typeface="Calibri"/>
            </a:endParaRPr>
          </a:p>
          <a:p>
            <a:pPr marL="220345" indent="-207645">
              <a:lnSpc>
                <a:spcPct val="100000"/>
              </a:lnSpc>
              <a:spcBef>
                <a:spcPts val="580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note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can’t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directly</a:t>
            </a:r>
            <a:endParaRPr sz="2400">
              <a:latin typeface="Calibri"/>
              <a:cs typeface="Calibri"/>
            </a:endParaRPr>
          </a:p>
          <a:p>
            <a:pPr marL="459740" lvl="1" indent="-246379">
              <a:lnSpc>
                <a:spcPct val="100000"/>
              </a:lnSpc>
              <a:spcBef>
                <a:spcPts val="560"/>
              </a:spcBef>
              <a:buClr>
                <a:srgbClr val="585858"/>
              </a:buClr>
              <a:buFont typeface="Arial MT"/>
              <a:buChar char="•"/>
              <a:tabLst>
                <a:tab pos="459740" algn="l"/>
              </a:tabLst>
            </a:pPr>
            <a:r>
              <a:rPr sz="2200" dirty="0">
                <a:latin typeface="Calibri"/>
                <a:cs typeface="Calibri"/>
              </a:rPr>
              <a:t>for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ex.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420" dirty="0">
                <a:latin typeface="Calibri"/>
                <a:cs typeface="Calibri"/>
              </a:rPr>
              <a:t> </a:t>
            </a:r>
            <a:r>
              <a:rPr sz="1600" dirty="0">
                <a:latin typeface="Courier New"/>
                <a:cs typeface="Courier New"/>
              </a:rPr>
              <a:t>self.parent1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==</a:t>
            </a:r>
            <a:r>
              <a:rPr sz="1600" spc="-7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other.parent1</a:t>
            </a:r>
            <a:endParaRPr sz="1600">
              <a:latin typeface="Courier New"/>
              <a:cs typeface="Courier New"/>
            </a:endParaRPr>
          </a:p>
          <a:p>
            <a:pPr marL="396240" marR="5080" lvl="1" indent="-182880">
              <a:lnSpc>
                <a:spcPct val="120000"/>
              </a:lnSpc>
              <a:buChar char="•"/>
              <a:tabLst>
                <a:tab pos="396240" algn="l"/>
                <a:tab pos="459740" algn="l"/>
                <a:tab pos="2724785" algn="l"/>
              </a:tabLst>
            </a:pPr>
            <a:r>
              <a:rPr sz="22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1600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1600" spc="-25" dirty="0">
                <a:latin typeface="Courier New"/>
                <a:cs typeface="Courier New"/>
              </a:rPr>
              <a:t>eq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	</a:t>
            </a:r>
            <a:r>
              <a:rPr sz="2200" dirty="0">
                <a:latin typeface="Calibri"/>
                <a:cs typeface="Calibri"/>
              </a:rPr>
              <a:t>method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until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None</a:t>
            </a:r>
            <a:r>
              <a:rPr sz="1800" spc="-60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gives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AttributeError</a:t>
            </a:r>
            <a:r>
              <a:rPr sz="1600" spc="-434" dirty="0">
                <a:latin typeface="Courier New"/>
                <a:cs typeface="Courier New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tries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 </a:t>
            </a:r>
            <a:r>
              <a:rPr sz="1800" spc="-10" dirty="0">
                <a:latin typeface="Courier New"/>
                <a:cs typeface="Courier New"/>
              </a:rPr>
              <a:t>None.parent1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22628" y="2891408"/>
            <a:ext cx="1506220" cy="323215"/>
          </a:xfrm>
          <a:custGeom>
            <a:avLst/>
            <a:gdLst/>
            <a:ahLst/>
            <a:cxnLst/>
            <a:rect l="l" t="t" r="r" b="b"/>
            <a:pathLst>
              <a:path w="1506220" h="323214">
                <a:moveTo>
                  <a:pt x="0" y="323088"/>
                </a:moveTo>
                <a:lnTo>
                  <a:pt x="1505711" y="323088"/>
                </a:lnTo>
                <a:lnTo>
                  <a:pt x="1505711" y="0"/>
                </a:lnTo>
                <a:lnTo>
                  <a:pt x="0" y="0"/>
                </a:lnTo>
                <a:lnTo>
                  <a:pt x="0" y="323088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534" y="3360165"/>
            <a:ext cx="788885" cy="46278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222628" y="3426333"/>
            <a:ext cx="1930400" cy="322580"/>
          </a:xfrm>
          <a:custGeom>
            <a:avLst/>
            <a:gdLst/>
            <a:ahLst/>
            <a:cxnLst/>
            <a:rect l="l" t="t" r="r" b="b"/>
            <a:pathLst>
              <a:path w="1930400" h="322579">
                <a:moveTo>
                  <a:pt x="0" y="322326"/>
                </a:moveTo>
                <a:lnTo>
                  <a:pt x="1930146" y="322326"/>
                </a:lnTo>
                <a:lnTo>
                  <a:pt x="1930146" y="0"/>
                </a:lnTo>
                <a:lnTo>
                  <a:pt x="0" y="0"/>
                </a:lnTo>
                <a:lnTo>
                  <a:pt x="0" y="322326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44009" y="6646798"/>
            <a:ext cx="8591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6.0001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12700">
              <a:lnSpc>
                <a:spcPts val="1110"/>
              </a:lnSpc>
            </a:pPr>
            <a:r>
              <a:rPr spc="-25" dirty="0"/>
              <a:t>24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04800" y="914401"/>
            <a:ext cx="8001000" cy="2967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985" marR="5080" indent="-1518285">
              <a:lnSpc>
                <a:spcPct val="100000"/>
              </a:lnSpc>
              <a:spcBef>
                <a:spcPts val="100"/>
              </a:spcBef>
            </a:pPr>
            <a:r>
              <a:rPr lang="en-US" sz="4800" dirty="0"/>
              <a:t>Advanced: </a:t>
            </a:r>
            <a:br>
              <a:rPr lang="en-US" sz="4800" dirty="0"/>
            </a:br>
            <a:r>
              <a:rPr lang="en-US" sz="4800" dirty="0"/>
              <a:t>Multiple inheritance, encapsulation,</a:t>
            </a:r>
            <a:br>
              <a:rPr lang="en-US" sz="4800" dirty="0"/>
            </a:br>
            <a:r>
              <a:rPr lang="en-US" sz="4800" dirty="0"/>
              <a:t>polymorphism </a:t>
            </a:r>
            <a:endParaRPr sz="4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89632" y="502919"/>
              <a:ext cx="4361688" cy="154838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5477" rIns="0" bIns="0" rtlCol="0">
            <a:spAutoFit/>
          </a:bodyPr>
          <a:lstStyle/>
          <a:p>
            <a:pPr marL="1955800">
              <a:lnSpc>
                <a:spcPct val="100000"/>
              </a:lnSpc>
              <a:spcBef>
                <a:spcPts val="100"/>
              </a:spcBef>
            </a:pPr>
            <a:r>
              <a:rPr sz="5400" spc="-10" dirty="0"/>
              <a:t>Inheritance</a:t>
            </a:r>
            <a:endParaRPr sz="5400"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3016" y="1833117"/>
            <a:ext cx="3267075" cy="3152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3016" y="5204142"/>
            <a:ext cx="1552575" cy="6191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6160">
              <a:lnSpc>
                <a:spcPct val="100000"/>
              </a:lnSpc>
              <a:spcBef>
                <a:spcPts val="100"/>
              </a:spcBef>
            </a:pPr>
            <a:r>
              <a:rPr dirty="0"/>
              <a:t>Inheritance</a:t>
            </a:r>
            <a:r>
              <a:rPr spc="-7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Python</a:t>
            </a:r>
            <a:r>
              <a:rPr spc="-20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spc="-10" dirty="0"/>
              <a:t>simple,</a:t>
            </a:r>
          </a:p>
          <a:p>
            <a:pPr marL="3566160">
              <a:lnSpc>
                <a:spcPct val="100000"/>
              </a:lnSpc>
            </a:pPr>
            <a:r>
              <a:rPr dirty="0"/>
              <a:t>Just</a:t>
            </a:r>
            <a:r>
              <a:rPr spc="-35" dirty="0"/>
              <a:t> </a:t>
            </a:r>
            <a:r>
              <a:rPr dirty="0"/>
              <a:t>like</a:t>
            </a:r>
            <a:r>
              <a:rPr spc="-45" dirty="0"/>
              <a:t> </a:t>
            </a:r>
            <a:r>
              <a:rPr spc="-70" dirty="0"/>
              <a:t>JAVA,</a:t>
            </a:r>
            <a:r>
              <a:rPr spc="-20" dirty="0"/>
              <a:t> </a:t>
            </a:r>
            <a:r>
              <a:rPr dirty="0"/>
              <a:t>subclass</a:t>
            </a:r>
            <a:r>
              <a:rPr spc="-20" dirty="0"/>
              <a:t> </a:t>
            </a:r>
            <a:r>
              <a:rPr dirty="0"/>
              <a:t>can</a:t>
            </a:r>
            <a:r>
              <a:rPr spc="-20" dirty="0"/>
              <a:t> </a:t>
            </a:r>
            <a:r>
              <a:rPr spc="-10" dirty="0"/>
              <a:t>invoke</a:t>
            </a:r>
          </a:p>
          <a:p>
            <a:pPr marL="3566160">
              <a:lnSpc>
                <a:spcPct val="100000"/>
              </a:lnSpc>
            </a:pPr>
            <a:r>
              <a:rPr dirty="0"/>
              <a:t>Attributes</a:t>
            </a:r>
            <a:r>
              <a:rPr spc="-1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methods</a:t>
            </a:r>
            <a:r>
              <a:rPr spc="-5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spc="-10" dirty="0"/>
              <a:t>superclass.</a:t>
            </a:r>
          </a:p>
          <a:p>
            <a:pPr marL="3566160" marR="153035">
              <a:lnSpc>
                <a:spcPct val="100000"/>
              </a:lnSpc>
              <a:spcBef>
                <a:spcPts val="2165"/>
              </a:spcBef>
            </a:pPr>
            <a:r>
              <a:rPr dirty="0"/>
              <a:t>From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example,</a:t>
            </a:r>
            <a:r>
              <a:rPr spc="-20" dirty="0"/>
              <a:t> </a:t>
            </a:r>
            <a:r>
              <a:rPr b="1" dirty="0">
                <a:latin typeface="Palatino Linotype"/>
                <a:cs typeface="Palatino Linotype"/>
              </a:rPr>
              <a:t>Class</a:t>
            </a:r>
            <a:r>
              <a:rPr b="1" spc="-35" dirty="0">
                <a:latin typeface="Palatino Linotype"/>
                <a:cs typeface="Palatino Linotype"/>
              </a:rPr>
              <a:t> </a:t>
            </a:r>
            <a:r>
              <a:rPr b="1" dirty="0">
                <a:latin typeface="Palatino Linotype"/>
                <a:cs typeface="Palatino Linotype"/>
              </a:rPr>
              <a:t>Man</a:t>
            </a:r>
            <a:r>
              <a:rPr b="1" spc="-35" dirty="0">
                <a:latin typeface="Palatino Linotype"/>
                <a:cs typeface="Palatino Linotype"/>
              </a:rPr>
              <a:t> </a:t>
            </a:r>
            <a:r>
              <a:rPr spc="-10" dirty="0"/>
              <a:t>inherits </a:t>
            </a:r>
            <a:r>
              <a:rPr b="1" dirty="0">
                <a:latin typeface="Palatino Linotype"/>
                <a:cs typeface="Palatino Linotype"/>
              </a:rPr>
              <a:t>Class</a:t>
            </a:r>
            <a:r>
              <a:rPr b="1" spc="-50" dirty="0">
                <a:latin typeface="Palatino Linotype"/>
                <a:cs typeface="Palatino Linotype"/>
              </a:rPr>
              <a:t> </a:t>
            </a:r>
            <a:r>
              <a:rPr b="1" dirty="0">
                <a:latin typeface="Palatino Linotype"/>
                <a:cs typeface="Palatino Linotype"/>
              </a:rPr>
              <a:t>Person</a:t>
            </a:r>
            <a:r>
              <a:rPr dirty="0"/>
              <a:t>,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invoke</a:t>
            </a:r>
            <a:r>
              <a:rPr spc="-25" dirty="0"/>
              <a:t> </a:t>
            </a:r>
            <a:r>
              <a:rPr b="1" dirty="0">
                <a:latin typeface="Palatino Linotype"/>
                <a:cs typeface="Palatino Linotype"/>
              </a:rPr>
              <a:t>speak()</a:t>
            </a:r>
            <a:r>
              <a:rPr b="1" spc="-50" dirty="0">
                <a:latin typeface="Palatino Linotype"/>
                <a:cs typeface="Palatino Linotype"/>
              </a:rPr>
              <a:t> </a:t>
            </a:r>
            <a:r>
              <a:rPr spc="-10" dirty="0"/>
              <a:t>method </a:t>
            </a:r>
            <a:r>
              <a:rPr dirty="0"/>
              <a:t>In</a:t>
            </a:r>
            <a:r>
              <a:rPr spc="-20" dirty="0"/>
              <a:t> </a:t>
            </a:r>
            <a:r>
              <a:rPr b="1" dirty="0">
                <a:latin typeface="Palatino Linotype"/>
                <a:cs typeface="Palatino Linotype"/>
              </a:rPr>
              <a:t>Class</a:t>
            </a:r>
            <a:r>
              <a:rPr b="1" spc="-45" dirty="0">
                <a:latin typeface="Palatino Linotype"/>
                <a:cs typeface="Palatino Linotype"/>
              </a:rPr>
              <a:t> </a:t>
            </a:r>
            <a:r>
              <a:rPr b="1" spc="-10" dirty="0">
                <a:latin typeface="Palatino Linotype"/>
                <a:cs typeface="Palatino Linotype"/>
              </a:rPr>
              <a:t>Person</a:t>
            </a:r>
          </a:p>
          <a:p>
            <a:pPr marL="3566160">
              <a:lnSpc>
                <a:spcPct val="100000"/>
              </a:lnSpc>
              <a:spcBef>
                <a:spcPts val="2160"/>
              </a:spcBef>
            </a:pPr>
            <a:r>
              <a:rPr dirty="0"/>
              <a:t>Inherit</a:t>
            </a:r>
            <a:r>
              <a:rPr spc="-60" dirty="0"/>
              <a:t> </a:t>
            </a:r>
            <a:r>
              <a:rPr spc="-10" dirty="0"/>
              <a:t>Syntax:</a:t>
            </a:r>
          </a:p>
          <a:p>
            <a:pPr marL="3566160">
              <a:lnSpc>
                <a:spcPct val="100000"/>
              </a:lnSpc>
              <a:spcBef>
                <a:spcPts val="2160"/>
              </a:spcBef>
            </a:pPr>
            <a:r>
              <a:rPr dirty="0">
                <a:solidFill>
                  <a:srgbClr val="2E5796"/>
                </a:solidFill>
              </a:rPr>
              <a:t>class</a:t>
            </a:r>
            <a:r>
              <a:rPr spc="-40" dirty="0">
                <a:solidFill>
                  <a:srgbClr val="2E5796"/>
                </a:solidFill>
              </a:rPr>
              <a:t> </a:t>
            </a:r>
            <a:r>
              <a:rPr spc="-10" dirty="0">
                <a:solidFill>
                  <a:srgbClr val="2E5796"/>
                </a:solidFill>
              </a:rPr>
              <a:t>subclass(superclass):</a:t>
            </a:r>
          </a:p>
          <a:p>
            <a:pPr marL="4480560">
              <a:lnSpc>
                <a:spcPct val="100000"/>
              </a:lnSpc>
              <a:spcBef>
                <a:spcPts val="5"/>
              </a:spcBef>
            </a:pPr>
            <a:r>
              <a:rPr spc="-50" dirty="0">
                <a:solidFill>
                  <a:srgbClr val="2E5796"/>
                </a:solidFill>
              </a:rPr>
              <a:t>…</a:t>
            </a:r>
          </a:p>
          <a:p>
            <a:pPr marL="4480560">
              <a:lnSpc>
                <a:spcPct val="100000"/>
              </a:lnSpc>
            </a:pPr>
            <a:r>
              <a:rPr spc="-50" dirty="0">
                <a:solidFill>
                  <a:srgbClr val="2E5796"/>
                </a:solidFill>
              </a:rPr>
              <a:t>…</a:t>
            </a:r>
          </a:p>
          <a:p>
            <a:pPr marL="3566160">
              <a:lnSpc>
                <a:spcPct val="100000"/>
              </a:lnSpc>
              <a:spcBef>
                <a:spcPts val="2165"/>
              </a:spcBef>
            </a:pPr>
            <a:r>
              <a:rPr dirty="0"/>
              <a:t>In</a:t>
            </a:r>
            <a:r>
              <a:rPr spc="-55" dirty="0"/>
              <a:t> </a:t>
            </a:r>
            <a:r>
              <a:rPr dirty="0"/>
              <a:t>Python,</a:t>
            </a:r>
            <a:r>
              <a:rPr spc="-30" dirty="0"/>
              <a:t> </a:t>
            </a:r>
            <a:r>
              <a:rPr dirty="0"/>
              <a:t>it</a:t>
            </a:r>
            <a:r>
              <a:rPr spc="-65" dirty="0"/>
              <a:t> </a:t>
            </a:r>
            <a:r>
              <a:rPr dirty="0"/>
              <a:t>supports</a:t>
            </a:r>
            <a:r>
              <a:rPr spc="-25" dirty="0"/>
              <a:t> </a:t>
            </a:r>
            <a:r>
              <a:rPr dirty="0"/>
              <a:t>multiple</a:t>
            </a:r>
            <a:r>
              <a:rPr spc="-30" dirty="0"/>
              <a:t> </a:t>
            </a:r>
            <a:r>
              <a:rPr spc="-10" dirty="0"/>
              <a:t>inheritance,</a:t>
            </a:r>
          </a:p>
          <a:p>
            <a:pPr marL="3566160">
              <a:lnSpc>
                <a:spcPct val="100000"/>
              </a:lnSpc>
            </a:pPr>
            <a:r>
              <a:rPr dirty="0"/>
              <a:t>In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next</a:t>
            </a:r>
            <a:r>
              <a:rPr spc="-50" dirty="0"/>
              <a:t> </a:t>
            </a:r>
            <a:r>
              <a:rPr dirty="0"/>
              <a:t>slide,</a:t>
            </a:r>
            <a:r>
              <a:rPr spc="-40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dirty="0"/>
              <a:t>will</a:t>
            </a:r>
            <a:r>
              <a:rPr spc="-40" dirty="0"/>
              <a:t> </a:t>
            </a:r>
            <a:r>
              <a:rPr dirty="0"/>
              <a:t>be</a:t>
            </a:r>
            <a:r>
              <a:rPr spc="5" dirty="0"/>
              <a:t> </a:t>
            </a:r>
            <a:r>
              <a:rPr spc="-10" dirty="0"/>
              <a:t>introduced.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600" y="502919"/>
              <a:ext cx="7162800" cy="154838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45513" y="674623"/>
            <a:ext cx="62534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Multiple</a:t>
            </a:r>
            <a:r>
              <a:rPr sz="5400" spc="-215" dirty="0"/>
              <a:t> </a:t>
            </a:r>
            <a:r>
              <a:rPr sz="5400" spc="-10" dirty="0"/>
              <a:t>Inheritance</a:t>
            </a:r>
            <a:endParaRPr sz="5400"/>
          </a:p>
        </p:txBody>
      </p:sp>
      <p:sp>
        <p:nvSpPr>
          <p:cNvPr id="8" name="object 8"/>
          <p:cNvSpPr txBox="1"/>
          <p:nvPr/>
        </p:nvSpPr>
        <p:spPr>
          <a:xfrm>
            <a:off x="536244" y="1554556"/>
            <a:ext cx="8027034" cy="44481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latin typeface="Palatino Linotype"/>
                <a:cs typeface="Palatino Linotype"/>
              </a:rPr>
              <a:t>Python</a:t>
            </a:r>
            <a:r>
              <a:rPr sz="2200" spc="-8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supports</a:t>
            </a:r>
            <a:r>
              <a:rPr sz="2200" spc="-1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a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limited</a:t>
            </a:r>
            <a:r>
              <a:rPr sz="2200" spc="-9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form</a:t>
            </a:r>
            <a:r>
              <a:rPr sz="2200" spc="-5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of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multiple</a:t>
            </a:r>
            <a:r>
              <a:rPr sz="2200" spc="-60" dirty="0">
                <a:latin typeface="Palatino Linotype"/>
                <a:cs typeface="Palatino Linotype"/>
              </a:rPr>
              <a:t> </a:t>
            </a:r>
            <a:r>
              <a:rPr sz="2200" spc="-10" dirty="0">
                <a:latin typeface="Palatino Linotype"/>
                <a:cs typeface="Palatino Linotype"/>
              </a:rPr>
              <a:t>inheritance.</a:t>
            </a:r>
            <a:endParaRPr sz="2200">
              <a:latin typeface="Palatino Linotype"/>
              <a:cs typeface="Palatino Linotype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latin typeface="Palatino Linotype"/>
                <a:cs typeface="Palatino Linotype"/>
              </a:rPr>
              <a:t>A</a:t>
            </a:r>
            <a:r>
              <a:rPr sz="2200" spc="-14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class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definition</a:t>
            </a:r>
            <a:r>
              <a:rPr sz="2200" spc="-9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with</a:t>
            </a:r>
            <a:r>
              <a:rPr sz="2200" spc="-4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multiple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base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classes</a:t>
            </a:r>
            <a:r>
              <a:rPr sz="2200" spc="-8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looks</a:t>
            </a:r>
            <a:r>
              <a:rPr sz="2200" spc="-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as</a:t>
            </a:r>
            <a:r>
              <a:rPr sz="2200" spc="-10" dirty="0">
                <a:latin typeface="Palatino Linotype"/>
                <a:cs typeface="Palatino Linotype"/>
              </a:rPr>
              <a:t> follows:</a:t>
            </a:r>
            <a:endParaRPr sz="2200">
              <a:latin typeface="Palatino Linotype"/>
              <a:cs typeface="Palatino Linotype"/>
            </a:endParaRPr>
          </a:p>
          <a:p>
            <a:pPr marL="927100">
              <a:lnSpc>
                <a:spcPct val="100000"/>
              </a:lnSpc>
              <a:spcBef>
                <a:spcPts val="2640"/>
              </a:spcBef>
            </a:pPr>
            <a:r>
              <a:rPr sz="2300" dirty="0">
                <a:solidFill>
                  <a:srgbClr val="2E5796"/>
                </a:solidFill>
                <a:latin typeface="Palatino Linotype"/>
                <a:cs typeface="Palatino Linotype"/>
              </a:rPr>
              <a:t>class</a:t>
            </a:r>
            <a:r>
              <a:rPr sz="2300" spc="10" dirty="0">
                <a:solidFill>
                  <a:srgbClr val="2E5796"/>
                </a:solidFill>
                <a:latin typeface="Palatino Linotype"/>
                <a:cs typeface="Palatino Linotype"/>
              </a:rPr>
              <a:t> </a:t>
            </a:r>
            <a:r>
              <a:rPr sz="2300" spc="-10" dirty="0">
                <a:solidFill>
                  <a:srgbClr val="2E5796"/>
                </a:solidFill>
                <a:latin typeface="Palatino Linotype"/>
                <a:cs typeface="Palatino Linotype"/>
              </a:rPr>
              <a:t>DerivedClass(Base1,</a:t>
            </a:r>
            <a:r>
              <a:rPr sz="2300" spc="-45" dirty="0">
                <a:solidFill>
                  <a:srgbClr val="2E5796"/>
                </a:solidFill>
                <a:latin typeface="Palatino Linotype"/>
                <a:cs typeface="Palatino Linotype"/>
              </a:rPr>
              <a:t> </a:t>
            </a:r>
            <a:r>
              <a:rPr sz="2300" dirty="0">
                <a:solidFill>
                  <a:srgbClr val="2E5796"/>
                </a:solidFill>
                <a:latin typeface="Palatino Linotype"/>
                <a:cs typeface="Palatino Linotype"/>
              </a:rPr>
              <a:t>Base2,</a:t>
            </a:r>
            <a:r>
              <a:rPr sz="2300" spc="-25" dirty="0">
                <a:solidFill>
                  <a:srgbClr val="2E5796"/>
                </a:solidFill>
                <a:latin typeface="Palatino Linotype"/>
                <a:cs typeface="Palatino Linotype"/>
              </a:rPr>
              <a:t> </a:t>
            </a:r>
            <a:r>
              <a:rPr sz="2300" dirty="0">
                <a:solidFill>
                  <a:srgbClr val="2E5796"/>
                </a:solidFill>
                <a:latin typeface="Palatino Linotype"/>
                <a:cs typeface="Palatino Linotype"/>
              </a:rPr>
              <a:t>Base3</a:t>
            </a:r>
            <a:r>
              <a:rPr sz="2300" spc="5" dirty="0">
                <a:solidFill>
                  <a:srgbClr val="2E5796"/>
                </a:solidFill>
                <a:latin typeface="Palatino Linotype"/>
                <a:cs typeface="Palatino Linotype"/>
              </a:rPr>
              <a:t> </a:t>
            </a:r>
            <a:r>
              <a:rPr sz="2300" spc="-25" dirty="0">
                <a:solidFill>
                  <a:srgbClr val="2E5796"/>
                </a:solidFill>
                <a:latin typeface="Palatino Linotype"/>
                <a:cs typeface="Palatino Linotype"/>
              </a:rPr>
              <a:t>…)</a:t>
            </a:r>
            <a:endParaRPr sz="2300">
              <a:latin typeface="Palatino Linotype"/>
              <a:cs typeface="Palatino Linotype"/>
            </a:endParaRPr>
          </a:p>
          <a:p>
            <a:pPr marL="1841500">
              <a:lnSpc>
                <a:spcPct val="100000"/>
              </a:lnSpc>
            </a:pPr>
            <a:r>
              <a:rPr sz="2300" spc="-10" dirty="0">
                <a:solidFill>
                  <a:srgbClr val="2E5796"/>
                </a:solidFill>
                <a:latin typeface="Palatino Linotype"/>
                <a:cs typeface="Palatino Linotype"/>
              </a:rPr>
              <a:t>&lt;statement-</a:t>
            </a:r>
            <a:r>
              <a:rPr sz="2300" spc="-25" dirty="0">
                <a:solidFill>
                  <a:srgbClr val="2E5796"/>
                </a:solidFill>
                <a:latin typeface="Palatino Linotype"/>
                <a:cs typeface="Palatino Linotype"/>
              </a:rPr>
              <a:t>1&gt;</a:t>
            </a:r>
            <a:endParaRPr sz="2300">
              <a:latin typeface="Palatino Linotype"/>
              <a:cs typeface="Palatino Linotype"/>
            </a:endParaRPr>
          </a:p>
          <a:p>
            <a:pPr marL="1841500">
              <a:lnSpc>
                <a:spcPct val="100000"/>
              </a:lnSpc>
            </a:pPr>
            <a:r>
              <a:rPr sz="2300" dirty="0">
                <a:solidFill>
                  <a:srgbClr val="2E5796"/>
                </a:solidFill>
                <a:latin typeface="Palatino Linotype"/>
                <a:cs typeface="Palatino Linotype"/>
              </a:rPr>
              <a:t>&lt;statement-</a:t>
            </a:r>
            <a:r>
              <a:rPr sz="2300" spc="-25" dirty="0">
                <a:solidFill>
                  <a:srgbClr val="2E5796"/>
                </a:solidFill>
                <a:latin typeface="Palatino Linotype"/>
                <a:cs typeface="Palatino Linotype"/>
              </a:rPr>
              <a:t>2&gt;</a:t>
            </a:r>
            <a:endParaRPr sz="2300">
              <a:latin typeface="Palatino Linotype"/>
              <a:cs typeface="Palatino Linotype"/>
            </a:endParaRPr>
          </a:p>
          <a:p>
            <a:pPr marL="1841500">
              <a:lnSpc>
                <a:spcPct val="100000"/>
              </a:lnSpc>
            </a:pPr>
            <a:r>
              <a:rPr sz="2300" spc="-50" dirty="0">
                <a:solidFill>
                  <a:srgbClr val="2E5796"/>
                </a:solidFill>
                <a:latin typeface="Palatino Linotype"/>
                <a:cs typeface="Palatino Linotype"/>
              </a:rPr>
              <a:t>…</a:t>
            </a:r>
            <a:endParaRPr sz="23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300">
              <a:latin typeface="Palatino Linotype"/>
              <a:cs typeface="Palatino Linotype"/>
            </a:endParaRPr>
          </a:p>
          <a:p>
            <a:pPr marL="356870" marR="5080" indent="-344805">
              <a:lnSpc>
                <a:spcPct val="80000"/>
              </a:lnSpc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latin typeface="Palatino Linotype"/>
                <a:cs typeface="Palatino Linotype"/>
              </a:rPr>
              <a:t>The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only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rule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necessary</a:t>
            </a:r>
            <a:r>
              <a:rPr sz="2200" spc="-8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to</a:t>
            </a:r>
            <a:r>
              <a:rPr sz="2200" spc="-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explain</a:t>
            </a:r>
            <a:r>
              <a:rPr sz="2200" spc="-7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the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semantics</a:t>
            </a:r>
            <a:r>
              <a:rPr sz="2200" spc="-7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is</a:t>
            </a:r>
            <a:r>
              <a:rPr sz="2200" spc="-5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the </a:t>
            </a:r>
            <a:r>
              <a:rPr sz="2200" dirty="0">
                <a:latin typeface="Palatino Linotype"/>
                <a:cs typeface="Palatino Linotype"/>
              </a:rPr>
              <a:t>resolution</a:t>
            </a:r>
            <a:r>
              <a:rPr sz="2200" spc="-10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rule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used</a:t>
            </a:r>
            <a:r>
              <a:rPr sz="2200" spc="-4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for class</a:t>
            </a:r>
            <a:r>
              <a:rPr sz="2200" spc="-4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attribute</a:t>
            </a:r>
            <a:r>
              <a:rPr sz="2200" spc="-8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references.</a:t>
            </a:r>
            <a:r>
              <a:rPr sz="2200" spc="-9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This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is </a:t>
            </a:r>
            <a:r>
              <a:rPr sz="2200" dirty="0">
                <a:latin typeface="Palatino Linotype"/>
                <a:cs typeface="Palatino Linotype"/>
              </a:rPr>
              <a:t>depth-first,</a:t>
            </a:r>
            <a:r>
              <a:rPr sz="2200" spc="-8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left-</a:t>
            </a:r>
            <a:r>
              <a:rPr sz="2200" spc="-10" dirty="0">
                <a:latin typeface="Palatino Linotype"/>
                <a:cs typeface="Palatino Linotype"/>
              </a:rPr>
              <a:t>to-</a:t>
            </a:r>
            <a:r>
              <a:rPr sz="2200" dirty="0">
                <a:latin typeface="Palatino Linotype"/>
                <a:cs typeface="Palatino Linotype"/>
              </a:rPr>
              <a:t>right.</a:t>
            </a:r>
            <a:r>
              <a:rPr sz="2200" spc="-8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Thus,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if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an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attribute</a:t>
            </a:r>
            <a:r>
              <a:rPr sz="2200" spc="-6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is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not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found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in </a:t>
            </a:r>
            <a:r>
              <a:rPr sz="2200" dirty="0">
                <a:solidFill>
                  <a:srgbClr val="2E5796"/>
                </a:solidFill>
                <a:latin typeface="Palatino Linotype"/>
                <a:cs typeface="Palatino Linotype"/>
              </a:rPr>
              <a:t>DerivedClass</a:t>
            </a:r>
            <a:r>
              <a:rPr sz="2200" dirty="0">
                <a:latin typeface="Palatino Linotype"/>
                <a:cs typeface="Palatino Linotype"/>
              </a:rPr>
              <a:t>,</a:t>
            </a:r>
            <a:r>
              <a:rPr sz="2200" spc="-8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it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is</a:t>
            </a:r>
            <a:r>
              <a:rPr sz="2200" spc="-1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searched</a:t>
            </a:r>
            <a:r>
              <a:rPr sz="2200" spc="-6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in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2E5796"/>
                </a:solidFill>
                <a:latin typeface="Palatino Linotype"/>
                <a:cs typeface="Palatino Linotype"/>
              </a:rPr>
              <a:t>Base1</a:t>
            </a:r>
            <a:r>
              <a:rPr sz="2200" dirty="0">
                <a:latin typeface="Palatino Linotype"/>
                <a:cs typeface="Palatino Linotype"/>
              </a:rPr>
              <a:t>,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then</a:t>
            </a:r>
            <a:r>
              <a:rPr sz="2200" spc="-9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recursively</a:t>
            </a:r>
            <a:r>
              <a:rPr sz="2200" spc="-8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in</a:t>
            </a:r>
            <a:r>
              <a:rPr sz="2200" spc="-40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the </a:t>
            </a:r>
            <a:r>
              <a:rPr sz="2200" dirty="0">
                <a:latin typeface="Palatino Linotype"/>
                <a:cs typeface="Palatino Linotype"/>
              </a:rPr>
              <a:t>classes</a:t>
            </a:r>
            <a:r>
              <a:rPr sz="2200" spc="-5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of</a:t>
            </a:r>
            <a:r>
              <a:rPr sz="2200" spc="10" dirty="0"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2E5796"/>
                </a:solidFill>
                <a:latin typeface="Palatino Linotype"/>
                <a:cs typeface="Palatino Linotype"/>
              </a:rPr>
              <a:t>Base1</a:t>
            </a:r>
            <a:r>
              <a:rPr sz="2200" dirty="0">
                <a:latin typeface="Palatino Linotype"/>
                <a:cs typeface="Palatino Linotype"/>
              </a:rPr>
              <a:t>,</a:t>
            </a:r>
            <a:r>
              <a:rPr sz="2200" spc="-5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and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only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if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it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is not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found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there,</a:t>
            </a:r>
            <a:r>
              <a:rPr sz="2200" spc="-10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it</a:t>
            </a:r>
            <a:r>
              <a:rPr sz="2200" spc="-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is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spc="-10" dirty="0">
                <a:latin typeface="Palatino Linotype"/>
                <a:cs typeface="Palatino Linotype"/>
              </a:rPr>
              <a:t>searched </a:t>
            </a:r>
            <a:r>
              <a:rPr sz="2200" dirty="0">
                <a:latin typeface="Palatino Linotype"/>
                <a:cs typeface="Palatino Linotype"/>
              </a:rPr>
              <a:t>in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Base2,</a:t>
            </a:r>
            <a:r>
              <a:rPr sz="2200" spc="-5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and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so</a:t>
            </a:r>
            <a:r>
              <a:rPr sz="2200" spc="-10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on.</a:t>
            </a:r>
            <a:endParaRPr sz="2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8744" y="496824"/>
              <a:ext cx="7927848" cy="104546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689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An</a:t>
            </a:r>
            <a:r>
              <a:rPr sz="3600" spc="-30" dirty="0"/>
              <a:t> </a:t>
            </a:r>
            <a:r>
              <a:rPr sz="3600" dirty="0"/>
              <a:t>Example</a:t>
            </a:r>
            <a:r>
              <a:rPr sz="3600" spc="-30" dirty="0"/>
              <a:t> </a:t>
            </a:r>
            <a:r>
              <a:rPr sz="3600" dirty="0"/>
              <a:t>of</a:t>
            </a:r>
            <a:r>
              <a:rPr sz="3600" spc="-25" dirty="0"/>
              <a:t> </a:t>
            </a:r>
            <a:r>
              <a:rPr sz="3600" dirty="0"/>
              <a:t>Multiple</a:t>
            </a:r>
            <a:r>
              <a:rPr sz="3600" spc="-30" dirty="0"/>
              <a:t> </a:t>
            </a:r>
            <a:r>
              <a:rPr sz="3600" spc="-10" dirty="0"/>
              <a:t>Inheritance</a:t>
            </a:r>
            <a:endParaRPr sz="3600"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20080" y="1642910"/>
            <a:ext cx="2878708" cy="424853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2680" y="1719452"/>
            <a:ext cx="3505200" cy="3378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Palatino Linotype"/>
                <a:cs typeface="Palatino Linotype"/>
              </a:rPr>
              <a:t>C </a:t>
            </a:r>
            <a:r>
              <a:rPr sz="2000" spc="-10" dirty="0">
                <a:latin typeface="Palatino Linotype"/>
                <a:cs typeface="Palatino Linotype"/>
              </a:rPr>
              <a:t>multiple-inherit</a:t>
            </a:r>
            <a:r>
              <a:rPr sz="2000" spc="-120" dirty="0">
                <a:latin typeface="Palatino Linotype"/>
                <a:cs typeface="Palatino Linotype"/>
              </a:rPr>
              <a:t> </a:t>
            </a:r>
            <a:r>
              <a:rPr sz="2000" spc="-20" dirty="0">
                <a:latin typeface="Palatino Linotype"/>
                <a:cs typeface="Palatino Linotype"/>
              </a:rPr>
              <a:t>A</a:t>
            </a:r>
            <a:r>
              <a:rPr sz="2000" spc="-11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and</a:t>
            </a:r>
            <a:r>
              <a:rPr sz="2000" spc="3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B,</a:t>
            </a:r>
            <a:r>
              <a:rPr sz="2000" spc="-20" dirty="0">
                <a:latin typeface="Palatino Linotype"/>
                <a:cs typeface="Palatino Linotype"/>
              </a:rPr>
              <a:t> </a:t>
            </a:r>
            <a:r>
              <a:rPr sz="2000" spc="-25" dirty="0">
                <a:latin typeface="Palatino Linotype"/>
                <a:cs typeface="Palatino Linotype"/>
              </a:rPr>
              <a:t>but </a:t>
            </a:r>
            <a:r>
              <a:rPr sz="2000" dirty="0">
                <a:latin typeface="Palatino Linotype"/>
                <a:cs typeface="Palatino Linotype"/>
              </a:rPr>
              <a:t>since</a:t>
            </a:r>
            <a:r>
              <a:rPr sz="2000" spc="-85" dirty="0">
                <a:latin typeface="Palatino Linotype"/>
                <a:cs typeface="Palatino Linotype"/>
              </a:rPr>
              <a:t> </a:t>
            </a:r>
            <a:r>
              <a:rPr sz="2000" spc="-20" dirty="0">
                <a:latin typeface="Palatino Linotype"/>
                <a:cs typeface="Palatino Linotype"/>
              </a:rPr>
              <a:t>A</a:t>
            </a:r>
            <a:r>
              <a:rPr sz="2000" spc="-11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is</a:t>
            </a:r>
            <a:r>
              <a:rPr sz="2000" spc="-2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in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the</a:t>
            </a:r>
            <a:r>
              <a:rPr sz="2000" spc="1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left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of</a:t>
            </a:r>
            <a:r>
              <a:rPr sz="2000" spc="459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B,</a:t>
            </a:r>
            <a:r>
              <a:rPr sz="2000" spc="-3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so</a:t>
            </a:r>
            <a:r>
              <a:rPr sz="2000" spc="-5" dirty="0">
                <a:latin typeface="Palatino Linotype"/>
                <a:cs typeface="Palatino Linotype"/>
              </a:rPr>
              <a:t> </a:t>
            </a:r>
            <a:r>
              <a:rPr sz="2000" spc="-50" dirty="0">
                <a:latin typeface="Palatino Linotype"/>
                <a:cs typeface="Palatino Linotype"/>
              </a:rPr>
              <a:t>C </a:t>
            </a:r>
            <a:r>
              <a:rPr sz="2000" dirty="0">
                <a:latin typeface="Palatino Linotype"/>
                <a:cs typeface="Palatino Linotype"/>
              </a:rPr>
              <a:t>inherit</a:t>
            </a:r>
            <a:r>
              <a:rPr sz="2000" spc="-12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</a:t>
            </a:r>
            <a:r>
              <a:rPr sz="2000" spc="-13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and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invoke</a:t>
            </a:r>
            <a:r>
              <a:rPr sz="2000" spc="-100" dirty="0">
                <a:latin typeface="Palatino Linotype"/>
                <a:cs typeface="Palatino Linotype"/>
              </a:rPr>
              <a:t> </a:t>
            </a:r>
            <a:r>
              <a:rPr sz="2000" spc="-20" dirty="0">
                <a:latin typeface="Palatino Linotype"/>
                <a:cs typeface="Palatino Linotype"/>
              </a:rPr>
              <a:t>A.A() </a:t>
            </a:r>
            <a:r>
              <a:rPr sz="2000" dirty="0">
                <a:latin typeface="Palatino Linotype"/>
                <a:cs typeface="Palatino Linotype"/>
              </a:rPr>
              <a:t>according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to</a:t>
            </a:r>
            <a:r>
              <a:rPr sz="2000" spc="-3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the</a:t>
            </a:r>
            <a:r>
              <a:rPr sz="2000" spc="-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left-</a:t>
            </a:r>
            <a:r>
              <a:rPr sz="2000" spc="-10" dirty="0">
                <a:latin typeface="Palatino Linotype"/>
                <a:cs typeface="Palatino Linotype"/>
              </a:rPr>
              <a:t>to-</a:t>
            </a:r>
            <a:r>
              <a:rPr sz="2000" spc="-20" dirty="0">
                <a:latin typeface="Palatino Linotype"/>
                <a:cs typeface="Palatino Linotype"/>
              </a:rPr>
              <a:t>right </a:t>
            </a:r>
            <a:r>
              <a:rPr sz="2000" spc="-10" dirty="0">
                <a:latin typeface="Palatino Linotype"/>
                <a:cs typeface="Palatino Linotype"/>
              </a:rPr>
              <a:t>sequence.</a:t>
            </a:r>
            <a:endParaRPr sz="2000">
              <a:latin typeface="Palatino Linotype"/>
              <a:cs typeface="Palatino Linotype"/>
            </a:endParaRPr>
          </a:p>
          <a:p>
            <a:pPr marL="12700" marR="240029">
              <a:lnSpc>
                <a:spcPct val="100000"/>
              </a:lnSpc>
              <a:spcBef>
                <a:spcPts val="2410"/>
              </a:spcBef>
            </a:pPr>
            <a:r>
              <a:rPr sz="2000" spc="-50" dirty="0">
                <a:latin typeface="Palatino Linotype"/>
                <a:cs typeface="Palatino Linotype"/>
              </a:rPr>
              <a:t>To</a:t>
            </a:r>
            <a:r>
              <a:rPr sz="2000" spc="-6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implement</a:t>
            </a:r>
            <a:r>
              <a:rPr sz="2000" spc="-3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C.B(),</a:t>
            </a:r>
            <a:r>
              <a:rPr sz="2000" spc="-9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class</a:t>
            </a:r>
            <a:r>
              <a:rPr sz="2000" spc="-100" dirty="0">
                <a:latin typeface="Palatino Linotype"/>
                <a:cs typeface="Palatino Linotype"/>
              </a:rPr>
              <a:t> </a:t>
            </a:r>
            <a:r>
              <a:rPr sz="2000" spc="-50" dirty="0">
                <a:latin typeface="Palatino Linotype"/>
                <a:cs typeface="Palatino Linotype"/>
              </a:rPr>
              <a:t>A </a:t>
            </a:r>
            <a:r>
              <a:rPr sz="2000" dirty="0">
                <a:latin typeface="Palatino Linotype"/>
                <a:cs typeface="Palatino Linotype"/>
              </a:rPr>
              <a:t>does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not</a:t>
            </a:r>
            <a:r>
              <a:rPr sz="2000" spc="-7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have B()</a:t>
            </a:r>
            <a:r>
              <a:rPr sz="2000" spc="-6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method,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spc="-25" dirty="0">
                <a:latin typeface="Palatino Linotype"/>
                <a:cs typeface="Palatino Linotype"/>
              </a:rPr>
              <a:t>so </a:t>
            </a:r>
            <a:r>
              <a:rPr sz="2000" dirty="0">
                <a:latin typeface="Palatino Linotype"/>
                <a:cs typeface="Palatino Linotype"/>
              </a:rPr>
              <a:t>C</a:t>
            </a:r>
            <a:r>
              <a:rPr sz="2000" spc="-2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inherit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</a:t>
            </a:r>
            <a:r>
              <a:rPr sz="2000" spc="-2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for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the</a:t>
            </a:r>
            <a:r>
              <a:rPr sz="2000" spc="-20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second </a:t>
            </a:r>
            <a:r>
              <a:rPr sz="2000" spc="-25" dirty="0">
                <a:latin typeface="Palatino Linotype"/>
                <a:cs typeface="Palatino Linotype"/>
              </a:rPr>
              <a:t>priority.</a:t>
            </a:r>
            <a:r>
              <a:rPr sz="2000" spc="-5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So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C.B()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actually </a:t>
            </a:r>
            <a:r>
              <a:rPr sz="2000" dirty="0">
                <a:latin typeface="Palatino Linotype"/>
                <a:cs typeface="Palatino Linotype"/>
              </a:rPr>
              <a:t>invokes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B()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in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class</a:t>
            </a:r>
            <a:r>
              <a:rPr sz="2000" spc="-25" dirty="0">
                <a:latin typeface="Palatino Linotype"/>
                <a:cs typeface="Palatino Linotype"/>
              </a:rPr>
              <a:t> B.</a:t>
            </a:r>
            <a:endParaRPr sz="20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82111" y="502919"/>
              <a:ext cx="2776728" cy="154838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37534" y="674623"/>
            <a:ext cx="18675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/>
              <a:t>“Self”</a:t>
            </a:r>
            <a:endParaRPr sz="5400"/>
          </a:p>
        </p:txBody>
      </p:sp>
      <p:sp>
        <p:nvSpPr>
          <p:cNvPr id="8" name="object 8"/>
          <p:cNvSpPr txBox="1"/>
          <p:nvPr/>
        </p:nvSpPr>
        <p:spPr>
          <a:xfrm>
            <a:off x="536244" y="1612468"/>
            <a:ext cx="72504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“Self”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r>
              <a:rPr sz="24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Python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is</a:t>
            </a:r>
            <a:r>
              <a:rPr sz="24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like</a:t>
            </a:r>
            <a:r>
              <a:rPr sz="24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the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pointer</a:t>
            </a:r>
            <a:r>
              <a:rPr sz="2400" spc="-1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“this”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C++.</a:t>
            </a:r>
            <a:r>
              <a:rPr sz="24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endParaRPr sz="2400">
              <a:latin typeface="Palatino Linotype"/>
              <a:cs typeface="Palatino Linotype"/>
            </a:endParaRPr>
          </a:p>
          <a:p>
            <a:pPr marL="356870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Python,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functions</a:t>
            </a:r>
            <a:r>
              <a:rPr sz="2400" spc="-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class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access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data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via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“self”.</a:t>
            </a:r>
            <a:endParaRPr sz="240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6244" y="5052136"/>
            <a:ext cx="75755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“Self”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Python</a:t>
            </a:r>
            <a:r>
              <a:rPr sz="24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works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as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variable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of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function</a:t>
            </a:r>
            <a:r>
              <a:rPr sz="2400" spc="1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but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it</a:t>
            </a:r>
            <a:endParaRPr sz="2400">
              <a:latin typeface="Palatino Linotype"/>
              <a:cs typeface="Palatino Linotype"/>
            </a:endParaRPr>
          </a:p>
          <a:p>
            <a:pPr marL="356870">
              <a:lnSpc>
                <a:spcPct val="100000"/>
              </a:lnSpc>
            </a:pPr>
            <a:r>
              <a:rPr sz="24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won’t</a:t>
            </a:r>
            <a:r>
              <a:rPr sz="2400" spc="-10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invoke</a:t>
            </a:r>
            <a:r>
              <a:rPr sz="2400" spc="-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data.</a:t>
            </a:r>
            <a:endParaRPr sz="2400">
              <a:latin typeface="Palatino Linotype"/>
              <a:cs typeface="Palatino Linotyp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83739" y="2481452"/>
            <a:ext cx="3867530" cy="223431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9976" y="332231"/>
              <a:ext cx="3913632" cy="11643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77055" y="271272"/>
              <a:ext cx="1048512" cy="127101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28159" y="332231"/>
            <a:ext cx="4270247" cy="116433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156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95"/>
              </a:spcBef>
            </a:pPr>
            <a:r>
              <a:rPr dirty="0"/>
              <a:t>Encapsulation</a:t>
            </a:r>
            <a:r>
              <a:rPr spc="-15" dirty="0"/>
              <a:t> </a:t>
            </a:r>
            <a:r>
              <a:rPr sz="4400" dirty="0"/>
              <a:t>–</a:t>
            </a:r>
            <a:r>
              <a:rPr sz="4400" spc="-35" dirty="0"/>
              <a:t> </a:t>
            </a:r>
            <a:r>
              <a:rPr dirty="0"/>
              <a:t>Accessibility</a:t>
            </a:r>
            <a:r>
              <a:rPr spc="-130" dirty="0"/>
              <a:t> </a:t>
            </a:r>
            <a:r>
              <a:rPr spc="-25" dirty="0"/>
              <a:t>(1)</a:t>
            </a:r>
            <a:endParaRPr sz="4400"/>
          </a:p>
        </p:txBody>
      </p:sp>
      <p:sp>
        <p:nvSpPr>
          <p:cNvPr id="10" name="object 10"/>
          <p:cNvSpPr txBox="1"/>
          <p:nvPr/>
        </p:nvSpPr>
        <p:spPr>
          <a:xfrm>
            <a:off x="536244" y="2051684"/>
            <a:ext cx="8072120" cy="317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Palatino Linotype"/>
                <a:cs typeface="Palatino Linotype"/>
              </a:rPr>
              <a:t>In</a:t>
            </a:r>
            <a:r>
              <a:rPr sz="2400" spc="-6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Python,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there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is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no</a:t>
            </a:r>
            <a:r>
              <a:rPr sz="2400" spc="-6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keywords</a:t>
            </a:r>
            <a:r>
              <a:rPr sz="2400" spc="-7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like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‘public’,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‘protected’ </a:t>
            </a:r>
            <a:r>
              <a:rPr sz="2400" dirty="0">
                <a:latin typeface="Palatino Linotype"/>
                <a:cs typeface="Palatino Linotype"/>
              </a:rPr>
              <a:t>and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‘private’</a:t>
            </a:r>
            <a:r>
              <a:rPr sz="2400" spc="-1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to</a:t>
            </a:r>
            <a:r>
              <a:rPr sz="2400" spc="-6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define</a:t>
            </a:r>
            <a:r>
              <a:rPr sz="2400" spc="-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accessibility.</a:t>
            </a:r>
            <a:r>
              <a:rPr sz="2400" spc="7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In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other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words,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In </a:t>
            </a:r>
            <a:r>
              <a:rPr sz="2400" dirty="0">
                <a:latin typeface="Palatino Linotype"/>
                <a:cs typeface="Palatino Linotype"/>
              </a:rPr>
              <a:t>Python,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it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acquiesce</a:t>
            </a:r>
            <a:r>
              <a:rPr sz="2400" spc="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that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all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attributes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are</a:t>
            </a:r>
            <a:r>
              <a:rPr sz="2400" spc="-8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public.</a:t>
            </a:r>
            <a:endParaRPr sz="24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buFont typeface="Arial MT"/>
              <a:buChar char="•"/>
            </a:pPr>
            <a:endParaRPr sz="2400">
              <a:latin typeface="Palatino Linotype"/>
              <a:cs typeface="Palatino Linotype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Palatino Linotype"/>
                <a:cs typeface="Palatino Linotype"/>
              </a:rPr>
              <a:t>But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there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is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method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in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Python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to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define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Private:</a:t>
            </a:r>
            <a:endParaRPr sz="2400">
              <a:latin typeface="Palatino Linotype"/>
              <a:cs typeface="Palatino Linotype"/>
            </a:endParaRPr>
          </a:p>
          <a:p>
            <a:pPr marL="927100" marR="137795">
              <a:lnSpc>
                <a:spcPct val="100000"/>
              </a:lnSpc>
              <a:spcBef>
                <a:spcPts val="575"/>
              </a:spcBef>
              <a:tabLst>
                <a:tab pos="2066925" algn="l"/>
              </a:tabLst>
            </a:pPr>
            <a:r>
              <a:rPr sz="2400" dirty="0">
                <a:latin typeface="Palatino Linotype"/>
                <a:cs typeface="Palatino Linotype"/>
              </a:rPr>
              <a:t>Add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spc="-50" dirty="0">
                <a:latin typeface="Palatino Linotype"/>
                <a:cs typeface="Palatino Linotype"/>
              </a:rPr>
              <a:t>“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dirty="0">
                <a:latin typeface="Palatino Linotype"/>
                <a:cs typeface="Palatino Linotype"/>
              </a:rPr>
              <a:t>”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in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front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of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variable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and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function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name </a:t>
            </a:r>
            <a:r>
              <a:rPr sz="2400" dirty="0">
                <a:latin typeface="Palatino Linotype"/>
                <a:cs typeface="Palatino Linotype"/>
              </a:rPr>
              <a:t>can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hide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them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when</a:t>
            </a:r>
            <a:r>
              <a:rPr sz="2400" spc="-7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accessing</a:t>
            </a:r>
            <a:r>
              <a:rPr sz="2400" spc="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them</a:t>
            </a:r>
            <a:r>
              <a:rPr sz="2400" spc="-7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from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out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of </a:t>
            </a:r>
            <a:r>
              <a:rPr sz="2400" spc="-10" dirty="0">
                <a:latin typeface="Palatino Linotype"/>
                <a:cs typeface="Palatino Linotype"/>
              </a:rPr>
              <a:t>class.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" y="70104"/>
              <a:ext cx="7793735" cy="154838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38529" y="242138"/>
            <a:ext cx="68853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An</a:t>
            </a:r>
            <a:r>
              <a:rPr sz="5400" spc="-25" dirty="0"/>
              <a:t> </a:t>
            </a:r>
            <a:r>
              <a:rPr sz="5400" dirty="0"/>
              <a:t>Example</a:t>
            </a:r>
            <a:r>
              <a:rPr sz="5400" spc="-20" dirty="0"/>
              <a:t> </a:t>
            </a:r>
            <a:r>
              <a:rPr sz="5400" dirty="0"/>
              <a:t>of</a:t>
            </a:r>
            <a:r>
              <a:rPr sz="5400" spc="-25" dirty="0"/>
              <a:t> </a:t>
            </a:r>
            <a:r>
              <a:rPr sz="5400" spc="-10" dirty="0"/>
              <a:t>Private</a:t>
            </a:r>
            <a:endParaRPr sz="5400"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5618" y="1484757"/>
            <a:ext cx="3695700" cy="234315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139946" y="2153157"/>
            <a:ext cx="1584325" cy="103505"/>
          </a:xfrm>
          <a:custGeom>
            <a:avLst/>
            <a:gdLst/>
            <a:ahLst/>
            <a:cxnLst/>
            <a:rect l="l" t="t" r="r" b="b"/>
            <a:pathLst>
              <a:path w="1584325" h="103505">
                <a:moveTo>
                  <a:pt x="1559088" y="51688"/>
                </a:moveTo>
                <a:lnTo>
                  <a:pt x="1489202" y="92455"/>
                </a:lnTo>
                <a:lnTo>
                  <a:pt x="1488186" y="96265"/>
                </a:lnTo>
                <a:lnTo>
                  <a:pt x="1491741" y="102362"/>
                </a:lnTo>
                <a:lnTo>
                  <a:pt x="1495552" y="103377"/>
                </a:lnTo>
                <a:lnTo>
                  <a:pt x="1573307" y="58038"/>
                </a:lnTo>
                <a:lnTo>
                  <a:pt x="1571625" y="58038"/>
                </a:lnTo>
                <a:lnTo>
                  <a:pt x="1571625" y="57150"/>
                </a:lnTo>
                <a:lnTo>
                  <a:pt x="1568450" y="57150"/>
                </a:lnTo>
                <a:lnTo>
                  <a:pt x="1559088" y="51688"/>
                </a:lnTo>
                <a:close/>
              </a:path>
              <a:path w="1584325" h="103505">
                <a:moveTo>
                  <a:pt x="1548202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1548202" y="58038"/>
                </a:lnTo>
                <a:lnTo>
                  <a:pt x="1559088" y="51688"/>
                </a:lnTo>
                <a:lnTo>
                  <a:pt x="1548202" y="45338"/>
                </a:lnTo>
                <a:close/>
              </a:path>
              <a:path w="1584325" h="103505">
                <a:moveTo>
                  <a:pt x="1573307" y="45338"/>
                </a:moveTo>
                <a:lnTo>
                  <a:pt x="1571625" y="45338"/>
                </a:lnTo>
                <a:lnTo>
                  <a:pt x="1571625" y="58038"/>
                </a:lnTo>
                <a:lnTo>
                  <a:pt x="1573307" y="58038"/>
                </a:lnTo>
                <a:lnTo>
                  <a:pt x="1584198" y="51688"/>
                </a:lnTo>
                <a:lnTo>
                  <a:pt x="1573307" y="45338"/>
                </a:lnTo>
                <a:close/>
              </a:path>
              <a:path w="1584325" h="103505">
                <a:moveTo>
                  <a:pt x="1568450" y="46227"/>
                </a:moveTo>
                <a:lnTo>
                  <a:pt x="1559088" y="51688"/>
                </a:lnTo>
                <a:lnTo>
                  <a:pt x="1568450" y="57150"/>
                </a:lnTo>
                <a:lnTo>
                  <a:pt x="1568450" y="46227"/>
                </a:lnTo>
                <a:close/>
              </a:path>
              <a:path w="1584325" h="103505">
                <a:moveTo>
                  <a:pt x="1571625" y="46227"/>
                </a:moveTo>
                <a:lnTo>
                  <a:pt x="1568450" y="46227"/>
                </a:lnTo>
                <a:lnTo>
                  <a:pt x="1568450" y="57150"/>
                </a:lnTo>
                <a:lnTo>
                  <a:pt x="1571625" y="57150"/>
                </a:lnTo>
                <a:lnTo>
                  <a:pt x="1571625" y="46227"/>
                </a:lnTo>
                <a:close/>
              </a:path>
              <a:path w="1584325" h="103505">
                <a:moveTo>
                  <a:pt x="1495552" y="0"/>
                </a:moveTo>
                <a:lnTo>
                  <a:pt x="1491741" y="1015"/>
                </a:lnTo>
                <a:lnTo>
                  <a:pt x="1488186" y="7112"/>
                </a:lnTo>
                <a:lnTo>
                  <a:pt x="1489202" y="10921"/>
                </a:lnTo>
                <a:lnTo>
                  <a:pt x="1559088" y="51688"/>
                </a:lnTo>
                <a:lnTo>
                  <a:pt x="1568450" y="46227"/>
                </a:lnTo>
                <a:lnTo>
                  <a:pt x="1571625" y="46227"/>
                </a:lnTo>
                <a:lnTo>
                  <a:pt x="1571625" y="45338"/>
                </a:lnTo>
                <a:lnTo>
                  <a:pt x="1573307" y="45338"/>
                </a:lnTo>
                <a:lnTo>
                  <a:pt x="1495552" y="0"/>
                </a:lnTo>
                <a:close/>
              </a:path>
            </a:pathLst>
          </a:custGeom>
          <a:solidFill>
            <a:srgbClr val="5C7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09616" y="2414777"/>
            <a:ext cx="1058545" cy="320675"/>
          </a:xfrm>
          <a:custGeom>
            <a:avLst/>
            <a:gdLst/>
            <a:ahLst/>
            <a:cxnLst/>
            <a:rect l="l" t="t" r="r" b="b"/>
            <a:pathLst>
              <a:path w="1058545" h="320675">
                <a:moveTo>
                  <a:pt x="1022159" y="290782"/>
                </a:moveTo>
                <a:lnTo>
                  <a:pt x="956183" y="308483"/>
                </a:lnTo>
                <a:lnTo>
                  <a:pt x="954151" y="311912"/>
                </a:lnTo>
                <a:lnTo>
                  <a:pt x="955929" y="318770"/>
                </a:lnTo>
                <a:lnTo>
                  <a:pt x="959485" y="320675"/>
                </a:lnTo>
                <a:lnTo>
                  <a:pt x="1048117" y="296925"/>
                </a:lnTo>
                <a:lnTo>
                  <a:pt x="1044702" y="296925"/>
                </a:lnTo>
                <a:lnTo>
                  <a:pt x="1022159" y="290782"/>
                </a:lnTo>
                <a:close/>
              </a:path>
              <a:path w="1058545" h="320675">
                <a:moveTo>
                  <a:pt x="1034286" y="287528"/>
                </a:moveTo>
                <a:lnTo>
                  <a:pt x="1022159" y="290782"/>
                </a:lnTo>
                <a:lnTo>
                  <a:pt x="1044702" y="296925"/>
                </a:lnTo>
                <a:lnTo>
                  <a:pt x="1045149" y="295275"/>
                </a:lnTo>
                <a:lnTo>
                  <a:pt x="1041908" y="295275"/>
                </a:lnTo>
                <a:lnTo>
                  <a:pt x="1034286" y="287528"/>
                </a:lnTo>
                <a:close/>
              </a:path>
              <a:path w="1058545" h="320675">
                <a:moveTo>
                  <a:pt x="986663" y="220980"/>
                </a:moveTo>
                <a:lnTo>
                  <a:pt x="982599" y="220980"/>
                </a:lnTo>
                <a:lnTo>
                  <a:pt x="979932" y="223520"/>
                </a:lnTo>
                <a:lnTo>
                  <a:pt x="977646" y="225806"/>
                </a:lnTo>
                <a:lnTo>
                  <a:pt x="977519" y="229870"/>
                </a:lnTo>
                <a:lnTo>
                  <a:pt x="980059" y="232410"/>
                </a:lnTo>
                <a:lnTo>
                  <a:pt x="1025503" y="278600"/>
                </a:lnTo>
                <a:lnTo>
                  <a:pt x="1048004" y="284734"/>
                </a:lnTo>
                <a:lnTo>
                  <a:pt x="1044702" y="296925"/>
                </a:lnTo>
                <a:lnTo>
                  <a:pt x="1048117" y="296925"/>
                </a:lnTo>
                <a:lnTo>
                  <a:pt x="1058545" y="294132"/>
                </a:lnTo>
                <a:lnTo>
                  <a:pt x="989076" y="223520"/>
                </a:lnTo>
                <a:lnTo>
                  <a:pt x="986663" y="220980"/>
                </a:lnTo>
                <a:close/>
              </a:path>
              <a:path w="1058545" h="320675">
                <a:moveTo>
                  <a:pt x="1044702" y="284734"/>
                </a:moveTo>
                <a:lnTo>
                  <a:pt x="1034286" y="287528"/>
                </a:lnTo>
                <a:lnTo>
                  <a:pt x="1041908" y="295275"/>
                </a:lnTo>
                <a:lnTo>
                  <a:pt x="1044702" y="284734"/>
                </a:lnTo>
                <a:close/>
              </a:path>
              <a:path w="1058545" h="320675">
                <a:moveTo>
                  <a:pt x="1048004" y="284734"/>
                </a:moveTo>
                <a:lnTo>
                  <a:pt x="1044702" y="284734"/>
                </a:lnTo>
                <a:lnTo>
                  <a:pt x="1041908" y="295275"/>
                </a:lnTo>
                <a:lnTo>
                  <a:pt x="1045149" y="295275"/>
                </a:lnTo>
                <a:lnTo>
                  <a:pt x="1048004" y="284734"/>
                </a:lnTo>
                <a:close/>
              </a:path>
              <a:path w="1058545" h="320675">
                <a:moveTo>
                  <a:pt x="3429" y="0"/>
                </a:moveTo>
                <a:lnTo>
                  <a:pt x="0" y="12192"/>
                </a:lnTo>
                <a:lnTo>
                  <a:pt x="1022159" y="290782"/>
                </a:lnTo>
                <a:lnTo>
                  <a:pt x="1034286" y="287528"/>
                </a:lnTo>
                <a:lnTo>
                  <a:pt x="1025503" y="278600"/>
                </a:lnTo>
                <a:lnTo>
                  <a:pt x="3429" y="0"/>
                </a:lnTo>
                <a:close/>
              </a:path>
              <a:path w="1058545" h="320675">
                <a:moveTo>
                  <a:pt x="1025503" y="278600"/>
                </a:moveTo>
                <a:lnTo>
                  <a:pt x="1034286" y="287528"/>
                </a:lnTo>
                <a:lnTo>
                  <a:pt x="1044702" y="284734"/>
                </a:lnTo>
                <a:lnTo>
                  <a:pt x="1048004" y="284734"/>
                </a:lnTo>
                <a:lnTo>
                  <a:pt x="1025503" y="278600"/>
                </a:lnTo>
                <a:close/>
              </a:path>
            </a:pathLst>
          </a:custGeom>
          <a:solidFill>
            <a:srgbClr val="5C7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79901" y="3233292"/>
            <a:ext cx="1560195" cy="103505"/>
          </a:xfrm>
          <a:custGeom>
            <a:avLst/>
            <a:gdLst/>
            <a:ahLst/>
            <a:cxnLst/>
            <a:rect l="l" t="t" r="r" b="b"/>
            <a:pathLst>
              <a:path w="1560195" h="103504">
                <a:moveTo>
                  <a:pt x="1534704" y="51689"/>
                </a:moveTo>
                <a:lnTo>
                  <a:pt x="1464818" y="92456"/>
                </a:lnTo>
                <a:lnTo>
                  <a:pt x="1463802" y="96266"/>
                </a:lnTo>
                <a:lnTo>
                  <a:pt x="1467358" y="102362"/>
                </a:lnTo>
                <a:lnTo>
                  <a:pt x="1471168" y="103378"/>
                </a:lnTo>
                <a:lnTo>
                  <a:pt x="1548923" y="58039"/>
                </a:lnTo>
                <a:lnTo>
                  <a:pt x="1547240" y="58039"/>
                </a:lnTo>
                <a:lnTo>
                  <a:pt x="1547240" y="57150"/>
                </a:lnTo>
                <a:lnTo>
                  <a:pt x="1544065" y="57150"/>
                </a:lnTo>
                <a:lnTo>
                  <a:pt x="1534704" y="51689"/>
                </a:lnTo>
                <a:close/>
              </a:path>
              <a:path w="1560195" h="103504">
                <a:moveTo>
                  <a:pt x="1523818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1523818" y="58039"/>
                </a:lnTo>
                <a:lnTo>
                  <a:pt x="1534704" y="51689"/>
                </a:lnTo>
                <a:lnTo>
                  <a:pt x="1523818" y="45339"/>
                </a:lnTo>
                <a:close/>
              </a:path>
              <a:path w="1560195" h="103504">
                <a:moveTo>
                  <a:pt x="1548923" y="45339"/>
                </a:moveTo>
                <a:lnTo>
                  <a:pt x="1547240" y="45339"/>
                </a:lnTo>
                <a:lnTo>
                  <a:pt x="1547240" y="58039"/>
                </a:lnTo>
                <a:lnTo>
                  <a:pt x="1548923" y="58039"/>
                </a:lnTo>
                <a:lnTo>
                  <a:pt x="1559814" y="51689"/>
                </a:lnTo>
                <a:lnTo>
                  <a:pt x="1548923" y="45339"/>
                </a:lnTo>
                <a:close/>
              </a:path>
              <a:path w="1560195" h="103504">
                <a:moveTo>
                  <a:pt x="1544065" y="46228"/>
                </a:moveTo>
                <a:lnTo>
                  <a:pt x="1534704" y="51689"/>
                </a:lnTo>
                <a:lnTo>
                  <a:pt x="1544065" y="57150"/>
                </a:lnTo>
                <a:lnTo>
                  <a:pt x="1544065" y="46228"/>
                </a:lnTo>
                <a:close/>
              </a:path>
              <a:path w="1560195" h="103504">
                <a:moveTo>
                  <a:pt x="1547240" y="46228"/>
                </a:moveTo>
                <a:lnTo>
                  <a:pt x="1544065" y="46228"/>
                </a:lnTo>
                <a:lnTo>
                  <a:pt x="1544065" y="57150"/>
                </a:lnTo>
                <a:lnTo>
                  <a:pt x="1547240" y="57150"/>
                </a:lnTo>
                <a:lnTo>
                  <a:pt x="1547240" y="46228"/>
                </a:lnTo>
                <a:close/>
              </a:path>
              <a:path w="1560195" h="103504">
                <a:moveTo>
                  <a:pt x="1471168" y="0"/>
                </a:moveTo>
                <a:lnTo>
                  <a:pt x="1467358" y="1016"/>
                </a:lnTo>
                <a:lnTo>
                  <a:pt x="1463802" y="7112"/>
                </a:lnTo>
                <a:lnTo>
                  <a:pt x="1464818" y="10922"/>
                </a:lnTo>
                <a:lnTo>
                  <a:pt x="1534704" y="51689"/>
                </a:lnTo>
                <a:lnTo>
                  <a:pt x="1544065" y="46228"/>
                </a:lnTo>
                <a:lnTo>
                  <a:pt x="1547240" y="46228"/>
                </a:lnTo>
                <a:lnTo>
                  <a:pt x="1547240" y="45339"/>
                </a:lnTo>
                <a:lnTo>
                  <a:pt x="1548923" y="45339"/>
                </a:lnTo>
                <a:lnTo>
                  <a:pt x="1471168" y="0"/>
                </a:lnTo>
                <a:close/>
              </a:path>
            </a:pathLst>
          </a:custGeom>
          <a:solidFill>
            <a:srgbClr val="5C7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115618" y="3933050"/>
            <a:ext cx="6219825" cy="2305050"/>
            <a:chOff x="1115618" y="3933050"/>
            <a:chExt cx="6219825" cy="230505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5618" y="3933050"/>
              <a:ext cx="6219825" cy="23050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051685" y="3953382"/>
              <a:ext cx="1152525" cy="103505"/>
            </a:xfrm>
            <a:custGeom>
              <a:avLst/>
              <a:gdLst/>
              <a:ahLst/>
              <a:cxnLst/>
              <a:rect l="l" t="t" r="r" b="b"/>
              <a:pathLst>
                <a:path w="1152525" h="103504">
                  <a:moveTo>
                    <a:pt x="1127034" y="51689"/>
                  </a:moveTo>
                  <a:lnTo>
                    <a:pt x="1057147" y="92456"/>
                  </a:lnTo>
                  <a:lnTo>
                    <a:pt x="1056132" y="96266"/>
                  </a:lnTo>
                  <a:lnTo>
                    <a:pt x="1059688" y="102362"/>
                  </a:lnTo>
                  <a:lnTo>
                    <a:pt x="1063497" y="103378"/>
                  </a:lnTo>
                  <a:lnTo>
                    <a:pt x="1141253" y="58039"/>
                  </a:lnTo>
                  <a:lnTo>
                    <a:pt x="1139570" y="58039"/>
                  </a:lnTo>
                  <a:lnTo>
                    <a:pt x="1139570" y="57150"/>
                  </a:lnTo>
                  <a:lnTo>
                    <a:pt x="1136395" y="57150"/>
                  </a:lnTo>
                  <a:lnTo>
                    <a:pt x="1127034" y="51689"/>
                  </a:lnTo>
                  <a:close/>
                </a:path>
                <a:path w="1152525" h="103504">
                  <a:moveTo>
                    <a:pt x="1116148" y="45339"/>
                  </a:moveTo>
                  <a:lnTo>
                    <a:pt x="0" y="45339"/>
                  </a:lnTo>
                  <a:lnTo>
                    <a:pt x="0" y="58039"/>
                  </a:lnTo>
                  <a:lnTo>
                    <a:pt x="1116148" y="58039"/>
                  </a:lnTo>
                  <a:lnTo>
                    <a:pt x="1127034" y="51689"/>
                  </a:lnTo>
                  <a:lnTo>
                    <a:pt x="1116148" y="45339"/>
                  </a:lnTo>
                  <a:close/>
                </a:path>
                <a:path w="1152525" h="103504">
                  <a:moveTo>
                    <a:pt x="1141253" y="45339"/>
                  </a:moveTo>
                  <a:lnTo>
                    <a:pt x="1139570" y="45339"/>
                  </a:lnTo>
                  <a:lnTo>
                    <a:pt x="1139570" y="58039"/>
                  </a:lnTo>
                  <a:lnTo>
                    <a:pt x="1141253" y="58039"/>
                  </a:lnTo>
                  <a:lnTo>
                    <a:pt x="1152144" y="51689"/>
                  </a:lnTo>
                  <a:lnTo>
                    <a:pt x="1141253" y="45339"/>
                  </a:lnTo>
                  <a:close/>
                </a:path>
                <a:path w="1152525" h="103504">
                  <a:moveTo>
                    <a:pt x="1136395" y="46228"/>
                  </a:moveTo>
                  <a:lnTo>
                    <a:pt x="1127034" y="51689"/>
                  </a:lnTo>
                  <a:lnTo>
                    <a:pt x="1136395" y="57150"/>
                  </a:lnTo>
                  <a:lnTo>
                    <a:pt x="1136395" y="46228"/>
                  </a:lnTo>
                  <a:close/>
                </a:path>
                <a:path w="1152525" h="103504">
                  <a:moveTo>
                    <a:pt x="1139570" y="46228"/>
                  </a:moveTo>
                  <a:lnTo>
                    <a:pt x="1136395" y="46228"/>
                  </a:lnTo>
                  <a:lnTo>
                    <a:pt x="1136395" y="57150"/>
                  </a:lnTo>
                  <a:lnTo>
                    <a:pt x="1139570" y="57150"/>
                  </a:lnTo>
                  <a:lnTo>
                    <a:pt x="1139570" y="46228"/>
                  </a:lnTo>
                  <a:close/>
                </a:path>
                <a:path w="1152525" h="103504">
                  <a:moveTo>
                    <a:pt x="1063497" y="0"/>
                  </a:moveTo>
                  <a:lnTo>
                    <a:pt x="1059688" y="1016"/>
                  </a:lnTo>
                  <a:lnTo>
                    <a:pt x="1056132" y="7112"/>
                  </a:lnTo>
                  <a:lnTo>
                    <a:pt x="1057147" y="10922"/>
                  </a:lnTo>
                  <a:lnTo>
                    <a:pt x="1127034" y="51689"/>
                  </a:lnTo>
                  <a:lnTo>
                    <a:pt x="1136395" y="46228"/>
                  </a:lnTo>
                  <a:lnTo>
                    <a:pt x="1139570" y="46228"/>
                  </a:lnTo>
                  <a:lnTo>
                    <a:pt x="1139570" y="45339"/>
                  </a:lnTo>
                  <a:lnTo>
                    <a:pt x="1141253" y="45339"/>
                  </a:lnTo>
                  <a:lnTo>
                    <a:pt x="1063497" y="0"/>
                  </a:lnTo>
                  <a:close/>
                </a:path>
              </a:pathLst>
            </a:custGeom>
            <a:solidFill>
              <a:srgbClr val="5C7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499865" y="2079447"/>
            <a:ext cx="5245100" cy="253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126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alatino Linotype"/>
                <a:cs typeface="Palatino Linotype"/>
              </a:rPr>
              <a:t>Public</a:t>
            </a:r>
            <a:r>
              <a:rPr sz="1800" spc="-60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variable</a:t>
            </a:r>
            <a:endParaRPr sz="1800">
              <a:latin typeface="Palatino Linotype"/>
              <a:cs typeface="Palatino Linotype"/>
            </a:endParaRPr>
          </a:p>
          <a:p>
            <a:pPr marL="2605405">
              <a:lnSpc>
                <a:spcPct val="100000"/>
              </a:lnSpc>
              <a:spcBef>
                <a:spcPts val="1810"/>
              </a:spcBef>
            </a:pPr>
            <a:r>
              <a:rPr sz="1800" dirty="0">
                <a:latin typeface="Palatino Linotype"/>
                <a:cs typeface="Palatino Linotype"/>
              </a:rPr>
              <a:t>Private</a:t>
            </a:r>
            <a:r>
              <a:rPr sz="1800" spc="-95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variable</a:t>
            </a:r>
            <a:endParaRPr sz="1800">
              <a:latin typeface="Palatino Linotype"/>
              <a:cs typeface="Palatino Linotype"/>
            </a:endParaRPr>
          </a:p>
          <a:p>
            <a:pPr marL="2101215">
              <a:lnSpc>
                <a:spcPct val="100000"/>
              </a:lnSpc>
              <a:spcBef>
                <a:spcPts val="1810"/>
              </a:spcBef>
            </a:pPr>
            <a:r>
              <a:rPr sz="1800" dirty="0">
                <a:latin typeface="Palatino Linotype"/>
                <a:cs typeface="Palatino Linotype"/>
              </a:rPr>
              <a:t>Invoke</a:t>
            </a:r>
            <a:r>
              <a:rPr sz="1800" spc="-5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private</a:t>
            </a:r>
            <a:r>
              <a:rPr sz="1800" spc="-8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variable</a:t>
            </a:r>
            <a:r>
              <a:rPr sz="1800" spc="-8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in</a:t>
            </a:r>
            <a:r>
              <a:rPr sz="1800" spc="-65" dirty="0">
                <a:latin typeface="Palatino Linotype"/>
                <a:cs typeface="Palatino Linotype"/>
              </a:rPr>
              <a:t> </a:t>
            </a:r>
            <a:r>
              <a:rPr sz="1800" spc="-20" dirty="0">
                <a:latin typeface="Palatino Linotype"/>
                <a:cs typeface="Palatino Linotype"/>
              </a:rPr>
              <a:t>class</a:t>
            </a:r>
            <a:endParaRPr sz="1800">
              <a:latin typeface="Palatino Linotype"/>
              <a:cs typeface="Palatino Linotype"/>
            </a:endParaRPr>
          </a:p>
          <a:p>
            <a:pPr marL="156845" marR="880744" indent="-144145">
              <a:lnSpc>
                <a:spcPct val="167900"/>
              </a:lnSpc>
              <a:spcBef>
                <a:spcPts val="2390"/>
              </a:spcBef>
            </a:pPr>
            <a:r>
              <a:rPr sz="1800" dirty="0">
                <a:latin typeface="Palatino Linotype"/>
                <a:cs typeface="Palatino Linotype"/>
              </a:rPr>
              <a:t>Access</a:t>
            </a:r>
            <a:r>
              <a:rPr sz="1800" spc="-4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public</a:t>
            </a:r>
            <a:r>
              <a:rPr sz="1800" spc="-3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variable</a:t>
            </a:r>
            <a:r>
              <a:rPr sz="1800" spc="-6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out</a:t>
            </a:r>
            <a:r>
              <a:rPr sz="1800" spc="-1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of</a:t>
            </a:r>
            <a:r>
              <a:rPr sz="1800" spc="-2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class,</a:t>
            </a:r>
            <a:r>
              <a:rPr sz="1800" spc="-60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succeed </a:t>
            </a:r>
            <a:r>
              <a:rPr sz="1800" dirty="0">
                <a:latin typeface="Palatino Linotype"/>
                <a:cs typeface="Palatino Linotype"/>
              </a:rPr>
              <a:t>Access</a:t>
            </a:r>
            <a:r>
              <a:rPr sz="1800" spc="-4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private</a:t>
            </a:r>
            <a:r>
              <a:rPr sz="1800" spc="-5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variable</a:t>
            </a:r>
            <a:r>
              <a:rPr sz="1800" spc="-6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our</a:t>
            </a:r>
            <a:r>
              <a:rPr sz="1800" spc="-2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of</a:t>
            </a:r>
            <a:r>
              <a:rPr sz="1800" spc="-2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class,</a:t>
            </a:r>
            <a:r>
              <a:rPr sz="1800" spc="-85" dirty="0">
                <a:latin typeface="Palatino Linotype"/>
                <a:cs typeface="Palatino Linotype"/>
              </a:rPr>
              <a:t> </a:t>
            </a:r>
            <a:r>
              <a:rPr sz="1800" spc="-20" dirty="0">
                <a:latin typeface="Palatino Linotype"/>
                <a:cs typeface="Palatino Linotype"/>
              </a:rPr>
              <a:t>fail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67712" y="4426076"/>
            <a:ext cx="4084320" cy="1358900"/>
          </a:xfrm>
          <a:custGeom>
            <a:avLst/>
            <a:gdLst/>
            <a:ahLst/>
            <a:cxnLst/>
            <a:rect l="l" t="t" r="r" b="b"/>
            <a:pathLst>
              <a:path w="4084320" h="1358900">
                <a:moveTo>
                  <a:pt x="1152144" y="51689"/>
                </a:moveTo>
                <a:lnTo>
                  <a:pt x="1141247" y="45339"/>
                </a:lnTo>
                <a:lnTo>
                  <a:pt x="1063498" y="0"/>
                </a:lnTo>
                <a:lnTo>
                  <a:pt x="1059688" y="1016"/>
                </a:lnTo>
                <a:lnTo>
                  <a:pt x="1056132" y="7112"/>
                </a:lnTo>
                <a:lnTo>
                  <a:pt x="1057148" y="10922"/>
                </a:lnTo>
                <a:lnTo>
                  <a:pt x="1116126" y="45339"/>
                </a:lnTo>
                <a:lnTo>
                  <a:pt x="0" y="45339"/>
                </a:lnTo>
                <a:lnTo>
                  <a:pt x="0" y="58039"/>
                </a:lnTo>
                <a:lnTo>
                  <a:pt x="1116126" y="58039"/>
                </a:lnTo>
                <a:lnTo>
                  <a:pt x="1057148" y="92456"/>
                </a:lnTo>
                <a:lnTo>
                  <a:pt x="1056132" y="96266"/>
                </a:lnTo>
                <a:lnTo>
                  <a:pt x="1059688" y="102362"/>
                </a:lnTo>
                <a:lnTo>
                  <a:pt x="1063498" y="103378"/>
                </a:lnTo>
                <a:lnTo>
                  <a:pt x="1141247" y="58039"/>
                </a:lnTo>
                <a:lnTo>
                  <a:pt x="1152144" y="51689"/>
                </a:lnTo>
                <a:close/>
              </a:path>
              <a:path w="4084320" h="1358900">
                <a:moveTo>
                  <a:pt x="1368158" y="1307185"/>
                </a:moveTo>
                <a:lnTo>
                  <a:pt x="1357274" y="1300822"/>
                </a:lnTo>
                <a:lnTo>
                  <a:pt x="1279525" y="1255471"/>
                </a:lnTo>
                <a:lnTo>
                  <a:pt x="1275715" y="1256499"/>
                </a:lnTo>
                <a:lnTo>
                  <a:pt x="1272159" y="1262557"/>
                </a:lnTo>
                <a:lnTo>
                  <a:pt x="1273175" y="1266444"/>
                </a:lnTo>
                <a:lnTo>
                  <a:pt x="1332115" y="1300822"/>
                </a:lnTo>
                <a:lnTo>
                  <a:pt x="864108" y="1300822"/>
                </a:lnTo>
                <a:lnTo>
                  <a:pt x="864108" y="1313522"/>
                </a:lnTo>
                <a:lnTo>
                  <a:pt x="1332141" y="1313522"/>
                </a:lnTo>
                <a:lnTo>
                  <a:pt x="1343025" y="1307185"/>
                </a:lnTo>
                <a:lnTo>
                  <a:pt x="1273175" y="1347914"/>
                </a:lnTo>
                <a:lnTo>
                  <a:pt x="1272159" y="1351800"/>
                </a:lnTo>
                <a:lnTo>
                  <a:pt x="1275715" y="1357858"/>
                </a:lnTo>
                <a:lnTo>
                  <a:pt x="1279525" y="1358874"/>
                </a:lnTo>
                <a:lnTo>
                  <a:pt x="1357274" y="1313522"/>
                </a:lnTo>
                <a:lnTo>
                  <a:pt x="1368158" y="1307185"/>
                </a:lnTo>
                <a:close/>
              </a:path>
              <a:path w="4084320" h="1358900">
                <a:moveTo>
                  <a:pt x="4084193" y="324993"/>
                </a:moveTo>
                <a:lnTo>
                  <a:pt x="4039832" y="248920"/>
                </a:lnTo>
                <a:lnTo>
                  <a:pt x="4032504" y="236347"/>
                </a:lnTo>
                <a:lnTo>
                  <a:pt x="3980815" y="324993"/>
                </a:lnTo>
                <a:lnTo>
                  <a:pt x="3981831" y="328803"/>
                </a:lnTo>
                <a:lnTo>
                  <a:pt x="3984879" y="330581"/>
                </a:lnTo>
                <a:lnTo>
                  <a:pt x="3987800" y="332359"/>
                </a:lnTo>
                <a:lnTo>
                  <a:pt x="3991737" y="331343"/>
                </a:lnTo>
                <a:lnTo>
                  <a:pt x="4026154" y="272351"/>
                </a:lnTo>
                <a:lnTo>
                  <a:pt x="4026154" y="947166"/>
                </a:lnTo>
                <a:lnTo>
                  <a:pt x="4038854" y="947166"/>
                </a:lnTo>
                <a:lnTo>
                  <a:pt x="4038854" y="272351"/>
                </a:lnTo>
                <a:lnTo>
                  <a:pt x="4073271" y="331343"/>
                </a:lnTo>
                <a:lnTo>
                  <a:pt x="4077081" y="332359"/>
                </a:lnTo>
                <a:lnTo>
                  <a:pt x="4083177" y="328803"/>
                </a:lnTo>
                <a:lnTo>
                  <a:pt x="4084193" y="324993"/>
                </a:lnTo>
                <a:close/>
              </a:path>
            </a:pathLst>
          </a:custGeom>
          <a:solidFill>
            <a:srgbClr val="5C7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860038" y="5609335"/>
            <a:ext cx="500062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885314" algn="l"/>
              </a:tabLst>
            </a:pPr>
            <a:r>
              <a:rPr sz="1800" dirty="0">
                <a:latin typeface="Palatino Linotype"/>
                <a:cs typeface="Palatino Linotype"/>
              </a:rPr>
              <a:t>Access</a:t>
            </a:r>
            <a:r>
              <a:rPr sz="1800" spc="-7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public</a:t>
            </a:r>
            <a:r>
              <a:rPr sz="1800" spc="-6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function</a:t>
            </a:r>
            <a:r>
              <a:rPr sz="1800" spc="-2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but</a:t>
            </a:r>
            <a:r>
              <a:rPr sz="1800" spc="-5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this</a:t>
            </a:r>
            <a:r>
              <a:rPr sz="1800" spc="-6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function</a:t>
            </a:r>
            <a:r>
              <a:rPr sz="1800" spc="-40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access </a:t>
            </a:r>
            <a:r>
              <a:rPr sz="1800" dirty="0">
                <a:latin typeface="Palatino Linotype"/>
                <a:cs typeface="Palatino Linotype"/>
              </a:rPr>
              <a:t>Private variable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1800" dirty="0">
                <a:latin typeface="Palatino Linotype"/>
                <a:cs typeface="Palatino Linotype"/>
              </a:rPr>
              <a:t>B</a:t>
            </a:r>
            <a:r>
              <a:rPr sz="1800" spc="-8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successfully</a:t>
            </a:r>
            <a:r>
              <a:rPr sz="1800" spc="-3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since</a:t>
            </a:r>
            <a:r>
              <a:rPr sz="1800" spc="-5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they</a:t>
            </a:r>
            <a:r>
              <a:rPr sz="1800" spc="-3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are</a:t>
            </a:r>
            <a:r>
              <a:rPr sz="1800" spc="-60" dirty="0">
                <a:latin typeface="Palatino Linotype"/>
                <a:cs typeface="Palatino Linotype"/>
              </a:rPr>
              <a:t> </a:t>
            </a:r>
            <a:r>
              <a:rPr sz="1800" spc="-25" dirty="0">
                <a:latin typeface="Palatino Linotype"/>
                <a:cs typeface="Palatino Linotype"/>
              </a:rPr>
              <a:t>in </a:t>
            </a:r>
            <a:r>
              <a:rPr sz="1800" dirty="0">
                <a:latin typeface="Palatino Linotype"/>
                <a:cs typeface="Palatino Linotype"/>
              </a:rPr>
              <a:t>the</a:t>
            </a:r>
            <a:r>
              <a:rPr sz="1800" spc="-1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same</a:t>
            </a:r>
            <a:r>
              <a:rPr sz="1800" spc="-30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class.</a:t>
            </a:r>
            <a:endParaRPr sz="18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6551" y="405383"/>
              <a:ext cx="4026408" cy="11582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1920" y="405383"/>
              <a:ext cx="957072" cy="115823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94632" y="405384"/>
            <a:ext cx="4267200" cy="115823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43457" y="532587"/>
            <a:ext cx="727900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Encapsulation</a:t>
            </a:r>
            <a:r>
              <a:rPr spc="-100" dirty="0"/>
              <a:t> </a:t>
            </a:r>
            <a:r>
              <a:rPr dirty="0"/>
              <a:t>–</a:t>
            </a:r>
            <a:r>
              <a:rPr spc="-185" dirty="0"/>
              <a:t> </a:t>
            </a:r>
            <a:r>
              <a:rPr dirty="0"/>
              <a:t>Accessibility</a:t>
            </a:r>
            <a:r>
              <a:rPr spc="-100" dirty="0"/>
              <a:t> </a:t>
            </a:r>
            <a:r>
              <a:rPr spc="-25" dirty="0"/>
              <a:t>(2)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6244" y="1612468"/>
            <a:ext cx="8077834" cy="1635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5048885" algn="l"/>
              </a:tabLst>
            </a:pPr>
            <a:r>
              <a:rPr sz="2400" dirty="0">
                <a:latin typeface="Palatino Linotype"/>
                <a:cs typeface="Palatino Linotype"/>
              </a:rPr>
              <a:t>Actually,</a:t>
            </a:r>
            <a:r>
              <a:rPr sz="2400" spc="2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2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private</a:t>
            </a:r>
            <a:r>
              <a:rPr sz="2400" spc="22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accessibility</a:t>
            </a:r>
            <a:r>
              <a:rPr sz="2400" dirty="0">
                <a:latin typeface="Palatino Linotype"/>
                <a:cs typeface="Palatino Linotype"/>
              </a:rPr>
              <a:t>	method</a:t>
            </a:r>
            <a:r>
              <a:rPr sz="2400" spc="36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is</a:t>
            </a:r>
            <a:r>
              <a:rPr sz="2400" spc="3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just</a:t>
            </a:r>
            <a:r>
              <a:rPr sz="2400" spc="3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</a:t>
            </a:r>
            <a:r>
              <a:rPr sz="2400" spc="35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rule,</a:t>
            </a:r>
            <a:endParaRPr sz="2400">
              <a:latin typeface="Palatino Linotype"/>
              <a:cs typeface="Palatino Linotype"/>
            </a:endParaRPr>
          </a:p>
          <a:p>
            <a:pPr marL="356870">
              <a:lnSpc>
                <a:spcPct val="100000"/>
              </a:lnSpc>
            </a:pPr>
            <a:r>
              <a:rPr sz="2400" dirty="0">
                <a:latin typeface="Palatino Linotype"/>
                <a:cs typeface="Palatino Linotype"/>
              </a:rPr>
              <a:t>not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-7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limitation</a:t>
            </a:r>
            <a:r>
              <a:rPr sz="2400" spc="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of</a:t>
            </a:r>
            <a:r>
              <a:rPr sz="2400" spc="-7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compiler.</a:t>
            </a:r>
            <a:endParaRPr sz="24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2400">
              <a:latin typeface="Palatino Linotype"/>
              <a:cs typeface="Palatino Linotype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  <a:tab pos="6982459" algn="l"/>
              </a:tabLst>
            </a:pPr>
            <a:r>
              <a:rPr sz="2400" dirty="0">
                <a:latin typeface="Palatino Linotype"/>
                <a:cs typeface="Palatino Linotype"/>
              </a:rPr>
              <a:t>Its</a:t>
            </a:r>
            <a:r>
              <a:rPr sz="2400" spc="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fact</a:t>
            </a:r>
            <a:r>
              <a:rPr sz="2400" spc="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is to</a:t>
            </a:r>
            <a:r>
              <a:rPr sz="2400" spc="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change</a:t>
            </a:r>
            <a:r>
              <a:rPr sz="2400" spc="7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name</a:t>
            </a:r>
            <a:r>
              <a:rPr sz="2400" spc="7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of</a:t>
            </a:r>
            <a:r>
              <a:rPr sz="2400" spc="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private</a:t>
            </a:r>
            <a:r>
              <a:rPr sz="2400" spc="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name</a:t>
            </a:r>
            <a:r>
              <a:rPr sz="2400" spc="7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like</a:t>
            </a:r>
            <a:r>
              <a:rPr sz="2400" spc="75" dirty="0">
                <a:latin typeface="Palatino Linotype"/>
                <a:cs typeface="Palatino Linotype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2400" spc="-10" dirty="0">
                <a:latin typeface="Palatino Linotype"/>
                <a:cs typeface="Palatino Linotype"/>
              </a:rPr>
              <a:t>variable</a:t>
            </a:r>
            <a:endParaRPr sz="24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69967" y="3222752"/>
            <a:ext cx="40398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5570">
              <a:lnSpc>
                <a:spcPct val="100000"/>
              </a:lnSpc>
              <a:spcBef>
                <a:spcPts val="100"/>
              </a:spcBef>
              <a:tabLst>
                <a:tab pos="628015" algn="l"/>
                <a:tab pos="1308100" algn="l"/>
                <a:tab pos="2118995" algn="l"/>
                <a:tab pos="2223135" algn="l"/>
                <a:tab pos="3333115" algn="l"/>
                <a:tab pos="3735704" algn="l"/>
              </a:tabLst>
            </a:pPr>
            <a:r>
              <a:rPr sz="2400" spc="-10" dirty="0">
                <a:latin typeface="Palatino Linotype"/>
                <a:cs typeface="Palatino Linotype"/>
              </a:rPr>
              <a:t>_ClassName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2400" spc="-10" dirty="0">
                <a:latin typeface="Palatino Linotype"/>
                <a:cs typeface="Palatino Linotype"/>
              </a:rPr>
              <a:t>variable</a:t>
            </a:r>
            <a:r>
              <a:rPr sz="2400" dirty="0">
                <a:latin typeface="Palatino Linotype"/>
                <a:cs typeface="Palatino Linotype"/>
              </a:rPr>
              <a:t>		</a:t>
            </a:r>
            <a:r>
              <a:rPr sz="2400" spc="-25" dirty="0">
                <a:latin typeface="Palatino Linotype"/>
                <a:cs typeface="Palatino Linotype"/>
              </a:rPr>
              <a:t>or So</a:t>
            </a:r>
            <a:r>
              <a:rPr sz="2400" dirty="0">
                <a:latin typeface="Palatino Linotype"/>
                <a:cs typeface="Palatino Linotype"/>
              </a:rPr>
              <a:t>	</a:t>
            </a:r>
            <a:r>
              <a:rPr sz="2400" spc="-25" dirty="0">
                <a:latin typeface="Palatino Linotype"/>
                <a:cs typeface="Palatino Linotype"/>
              </a:rPr>
              <a:t>we</a:t>
            </a:r>
            <a:r>
              <a:rPr sz="2400" dirty="0">
                <a:latin typeface="Palatino Linotype"/>
                <a:cs typeface="Palatino Linotype"/>
              </a:rPr>
              <a:t>	</a:t>
            </a:r>
            <a:r>
              <a:rPr sz="2400" spc="-20" dirty="0">
                <a:latin typeface="Palatino Linotype"/>
                <a:cs typeface="Palatino Linotype"/>
              </a:rPr>
              <a:t>can’t</a:t>
            </a:r>
            <a:r>
              <a:rPr sz="2400" dirty="0">
                <a:latin typeface="Palatino Linotype"/>
                <a:cs typeface="Palatino Linotype"/>
              </a:rPr>
              <a:t>		</a:t>
            </a:r>
            <a:r>
              <a:rPr sz="2400" spc="-10" dirty="0">
                <a:latin typeface="Palatino Linotype"/>
                <a:cs typeface="Palatino Linotype"/>
              </a:rPr>
              <a:t>access</a:t>
            </a:r>
            <a:r>
              <a:rPr sz="2400" dirty="0">
                <a:latin typeface="Palatino Linotype"/>
                <a:cs typeface="Palatino Linotype"/>
              </a:rPr>
              <a:t>	</a:t>
            </a:r>
            <a:r>
              <a:rPr sz="2400" spc="-20" dirty="0">
                <a:latin typeface="Palatino Linotype"/>
                <a:cs typeface="Palatino Linotype"/>
              </a:rPr>
              <a:t>them</a:t>
            </a:r>
            <a:endParaRPr sz="240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0668" y="3222752"/>
            <a:ext cx="34283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835" algn="l"/>
                <a:tab pos="1143635" algn="l"/>
                <a:tab pos="3009265" algn="l"/>
              </a:tabLst>
            </a:pPr>
            <a:r>
              <a:rPr sz="2400" spc="-25" dirty="0">
                <a:latin typeface="Palatino Linotype"/>
                <a:cs typeface="Palatino Linotype"/>
              </a:rPr>
              <a:t>or</a:t>
            </a:r>
            <a:r>
              <a:rPr sz="2400" dirty="0">
                <a:latin typeface="Palatino Linotype"/>
                <a:cs typeface="Palatino Linotype"/>
              </a:rPr>
              <a:t>	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2400" spc="-10" dirty="0">
                <a:latin typeface="Palatino Linotype"/>
                <a:cs typeface="Palatino Linotype"/>
              </a:rPr>
              <a:t>function()</a:t>
            </a:r>
            <a:r>
              <a:rPr sz="2400" dirty="0">
                <a:latin typeface="Palatino Linotype"/>
                <a:cs typeface="Palatino Linotype"/>
              </a:rPr>
              <a:t>	</a:t>
            </a:r>
            <a:r>
              <a:rPr sz="2400" spc="-25" dirty="0">
                <a:latin typeface="Palatino Linotype"/>
                <a:cs typeface="Palatino Linotype"/>
              </a:rPr>
              <a:t>to</a:t>
            </a:r>
            <a:endParaRPr sz="24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tabLst>
                <a:tab pos="2005964" algn="l"/>
              </a:tabLst>
            </a:pPr>
            <a:r>
              <a:rPr sz="2400" spc="-10" dirty="0">
                <a:latin typeface="Palatino Linotype"/>
                <a:cs typeface="Palatino Linotype"/>
              </a:rPr>
              <a:t>_ClassName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2400" spc="-10" dirty="0">
                <a:latin typeface="Palatino Linotype"/>
                <a:cs typeface="Palatino Linotype"/>
              </a:rPr>
              <a:t>function().</a:t>
            </a:r>
            <a:endParaRPr sz="24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Palatino Linotype"/>
                <a:cs typeface="Palatino Linotype"/>
              </a:rPr>
              <a:t>because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of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wrong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names.</a:t>
            </a:r>
            <a:endParaRPr sz="240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6244" y="4832730"/>
            <a:ext cx="80772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429895" algn="l"/>
              </a:tabLst>
            </a:pPr>
            <a:r>
              <a:rPr sz="2400" dirty="0">
                <a:latin typeface="Palatino Linotype"/>
                <a:cs typeface="Palatino Linotype"/>
              </a:rPr>
              <a:t>	We</a:t>
            </a:r>
            <a:r>
              <a:rPr sz="2400" spc="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even</a:t>
            </a:r>
            <a:r>
              <a:rPr sz="2400" spc="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can</a:t>
            </a:r>
            <a:r>
              <a:rPr sz="2400" spc="7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use</a:t>
            </a:r>
            <a:r>
              <a:rPr sz="2400" spc="8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special</a:t>
            </a:r>
            <a:r>
              <a:rPr sz="2400" spc="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syntax</a:t>
            </a:r>
            <a:r>
              <a:rPr sz="2400" spc="9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to</a:t>
            </a:r>
            <a:r>
              <a:rPr sz="2400" spc="9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access</a:t>
            </a:r>
            <a:r>
              <a:rPr sz="2400" spc="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8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private </a:t>
            </a:r>
            <a:r>
              <a:rPr sz="2400" dirty="0">
                <a:latin typeface="Palatino Linotype"/>
                <a:cs typeface="Palatino Linotype"/>
              </a:rPr>
              <a:t>data</a:t>
            </a:r>
            <a:r>
              <a:rPr sz="2400" spc="70" dirty="0">
                <a:latin typeface="Palatino Linotype"/>
                <a:cs typeface="Palatino Linotype"/>
              </a:rPr>
              <a:t>  </a:t>
            </a:r>
            <a:r>
              <a:rPr sz="2400" dirty="0">
                <a:latin typeface="Palatino Linotype"/>
                <a:cs typeface="Palatino Linotype"/>
              </a:rPr>
              <a:t>or</a:t>
            </a:r>
            <a:r>
              <a:rPr sz="2400" spc="80" dirty="0">
                <a:latin typeface="Palatino Linotype"/>
                <a:cs typeface="Palatino Linotype"/>
              </a:rPr>
              <a:t>  </a:t>
            </a:r>
            <a:r>
              <a:rPr sz="2400" dirty="0">
                <a:latin typeface="Palatino Linotype"/>
                <a:cs typeface="Palatino Linotype"/>
              </a:rPr>
              <a:t>methods.</a:t>
            </a:r>
            <a:r>
              <a:rPr sz="2400" spc="70" dirty="0">
                <a:latin typeface="Palatino Linotype"/>
                <a:cs typeface="Palatino Linotype"/>
              </a:rPr>
              <a:t> 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80" dirty="0">
                <a:latin typeface="Palatino Linotype"/>
                <a:cs typeface="Palatino Linotype"/>
              </a:rPr>
              <a:t>  </a:t>
            </a:r>
            <a:r>
              <a:rPr sz="2400" dirty="0">
                <a:latin typeface="Palatino Linotype"/>
                <a:cs typeface="Palatino Linotype"/>
              </a:rPr>
              <a:t>syntax</a:t>
            </a:r>
            <a:r>
              <a:rPr sz="2400" spc="90" dirty="0">
                <a:latin typeface="Palatino Linotype"/>
                <a:cs typeface="Palatino Linotype"/>
              </a:rPr>
              <a:t>  </a:t>
            </a:r>
            <a:r>
              <a:rPr sz="2400" dirty="0">
                <a:latin typeface="Palatino Linotype"/>
                <a:cs typeface="Palatino Linotype"/>
              </a:rPr>
              <a:t>is</a:t>
            </a:r>
            <a:r>
              <a:rPr sz="2400" spc="70" dirty="0">
                <a:latin typeface="Palatino Linotype"/>
                <a:cs typeface="Palatino Linotype"/>
              </a:rPr>
              <a:t>  </a:t>
            </a:r>
            <a:r>
              <a:rPr sz="2400" dirty="0">
                <a:latin typeface="Palatino Linotype"/>
                <a:cs typeface="Palatino Linotype"/>
              </a:rPr>
              <a:t>actually</a:t>
            </a:r>
            <a:r>
              <a:rPr sz="2400" spc="90" dirty="0">
                <a:latin typeface="Palatino Linotype"/>
                <a:cs typeface="Palatino Linotype"/>
              </a:rPr>
              <a:t>  </a:t>
            </a:r>
            <a:r>
              <a:rPr sz="2400" dirty="0">
                <a:latin typeface="Palatino Linotype"/>
                <a:cs typeface="Palatino Linotype"/>
              </a:rPr>
              <a:t>its</a:t>
            </a:r>
            <a:r>
              <a:rPr sz="2400" spc="80" dirty="0">
                <a:latin typeface="Palatino Linotype"/>
                <a:cs typeface="Palatino Linotype"/>
              </a:rPr>
              <a:t>  </a:t>
            </a:r>
            <a:r>
              <a:rPr sz="2400" spc="-10" dirty="0">
                <a:latin typeface="Palatino Linotype"/>
                <a:cs typeface="Palatino Linotype"/>
              </a:rPr>
              <a:t>changed </a:t>
            </a:r>
            <a:r>
              <a:rPr sz="2400" dirty="0">
                <a:latin typeface="Palatino Linotype"/>
                <a:cs typeface="Palatino Linotype"/>
              </a:rPr>
              <a:t>name.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Refer</a:t>
            </a:r>
            <a:r>
              <a:rPr sz="2400" spc="-6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to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following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example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in</a:t>
            </a:r>
            <a:r>
              <a:rPr sz="2400" spc="-1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next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slide.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400" y="316992"/>
              <a:ext cx="8077200" cy="115823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65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/>
              <a:t>An</a:t>
            </a:r>
            <a:r>
              <a:rPr spc="-50" dirty="0"/>
              <a:t> </a:t>
            </a:r>
            <a:r>
              <a:rPr dirty="0"/>
              <a:t>example</a:t>
            </a:r>
            <a:r>
              <a:rPr spc="-60" dirty="0"/>
              <a:t> </a:t>
            </a:r>
            <a:r>
              <a:rPr dirty="0"/>
              <a:t>of</a:t>
            </a:r>
            <a:r>
              <a:rPr spc="-155" dirty="0"/>
              <a:t> </a:t>
            </a:r>
            <a:r>
              <a:rPr dirty="0"/>
              <a:t>Accessing</a:t>
            </a:r>
            <a:r>
              <a:rPr spc="-60" dirty="0"/>
              <a:t> </a:t>
            </a:r>
            <a:r>
              <a:rPr spc="-10" dirty="0"/>
              <a:t>Private</a:t>
            </a: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3914" y="1916810"/>
            <a:ext cx="3952875" cy="108585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51909" y="2153157"/>
            <a:ext cx="1080135" cy="103505"/>
          </a:xfrm>
          <a:custGeom>
            <a:avLst/>
            <a:gdLst/>
            <a:ahLst/>
            <a:cxnLst/>
            <a:rect l="l" t="t" r="r" b="b"/>
            <a:pathLst>
              <a:path w="1080135" h="103505">
                <a:moveTo>
                  <a:pt x="1055025" y="51688"/>
                </a:moveTo>
                <a:lnTo>
                  <a:pt x="985138" y="92455"/>
                </a:lnTo>
                <a:lnTo>
                  <a:pt x="984123" y="96265"/>
                </a:lnTo>
                <a:lnTo>
                  <a:pt x="987678" y="102362"/>
                </a:lnTo>
                <a:lnTo>
                  <a:pt x="991488" y="103377"/>
                </a:lnTo>
                <a:lnTo>
                  <a:pt x="1069244" y="58038"/>
                </a:lnTo>
                <a:lnTo>
                  <a:pt x="1067562" y="58038"/>
                </a:lnTo>
                <a:lnTo>
                  <a:pt x="1067562" y="57150"/>
                </a:lnTo>
                <a:lnTo>
                  <a:pt x="1064387" y="57150"/>
                </a:lnTo>
                <a:lnTo>
                  <a:pt x="1055025" y="51688"/>
                </a:lnTo>
                <a:close/>
              </a:path>
              <a:path w="1080135" h="103505">
                <a:moveTo>
                  <a:pt x="1044139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1044139" y="58038"/>
                </a:lnTo>
                <a:lnTo>
                  <a:pt x="1055025" y="51688"/>
                </a:lnTo>
                <a:lnTo>
                  <a:pt x="1044139" y="45338"/>
                </a:lnTo>
                <a:close/>
              </a:path>
              <a:path w="1080135" h="103505">
                <a:moveTo>
                  <a:pt x="1069244" y="45338"/>
                </a:moveTo>
                <a:lnTo>
                  <a:pt x="1067562" y="45338"/>
                </a:lnTo>
                <a:lnTo>
                  <a:pt x="1067562" y="58038"/>
                </a:lnTo>
                <a:lnTo>
                  <a:pt x="1069244" y="58038"/>
                </a:lnTo>
                <a:lnTo>
                  <a:pt x="1080135" y="51688"/>
                </a:lnTo>
                <a:lnTo>
                  <a:pt x="1069244" y="45338"/>
                </a:lnTo>
                <a:close/>
              </a:path>
              <a:path w="1080135" h="103505">
                <a:moveTo>
                  <a:pt x="1064387" y="46227"/>
                </a:moveTo>
                <a:lnTo>
                  <a:pt x="1055025" y="51688"/>
                </a:lnTo>
                <a:lnTo>
                  <a:pt x="1064387" y="57150"/>
                </a:lnTo>
                <a:lnTo>
                  <a:pt x="1064387" y="46227"/>
                </a:lnTo>
                <a:close/>
              </a:path>
              <a:path w="1080135" h="103505">
                <a:moveTo>
                  <a:pt x="1067562" y="46227"/>
                </a:moveTo>
                <a:lnTo>
                  <a:pt x="1064387" y="46227"/>
                </a:lnTo>
                <a:lnTo>
                  <a:pt x="1064387" y="57150"/>
                </a:lnTo>
                <a:lnTo>
                  <a:pt x="1067562" y="57150"/>
                </a:lnTo>
                <a:lnTo>
                  <a:pt x="1067562" y="46227"/>
                </a:lnTo>
                <a:close/>
              </a:path>
              <a:path w="1080135" h="103505">
                <a:moveTo>
                  <a:pt x="991488" y="0"/>
                </a:moveTo>
                <a:lnTo>
                  <a:pt x="987678" y="1015"/>
                </a:lnTo>
                <a:lnTo>
                  <a:pt x="984123" y="7112"/>
                </a:lnTo>
                <a:lnTo>
                  <a:pt x="985138" y="10921"/>
                </a:lnTo>
                <a:lnTo>
                  <a:pt x="1055025" y="51688"/>
                </a:lnTo>
                <a:lnTo>
                  <a:pt x="1064387" y="46227"/>
                </a:lnTo>
                <a:lnTo>
                  <a:pt x="1067562" y="46227"/>
                </a:lnTo>
                <a:lnTo>
                  <a:pt x="1067562" y="45338"/>
                </a:lnTo>
                <a:lnTo>
                  <a:pt x="1069244" y="45338"/>
                </a:lnTo>
                <a:lnTo>
                  <a:pt x="991488" y="0"/>
                </a:lnTo>
                <a:close/>
              </a:path>
            </a:pathLst>
          </a:custGeom>
          <a:solidFill>
            <a:srgbClr val="5C7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37228" y="2585211"/>
            <a:ext cx="838835" cy="103505"/>
          </a:xfrm>
          <a:custGeom>
            <a:avLst/>
            <a:gdLst/>
            <a:ahLst/>
            <a:cxnLst/>
            <a:rect l="l" t="t" r="r" b="b"/>
            <a:pathLst>
              <a:path w="838835" h="103505">
                <a:moveTo>
                  <a:pt x="813725" y="51688"/>
                </a:moveTo>
                <a:lnTo>
                  <a:pt x="743838" y="92455"/>
                </a:lnTo>
                <a:lnTo>
                  <a:pt x="742823" y="96265"/>
                </a:lnTo>
                <a:lnTo>
                  <a:pt x="746379" y="102362"/>
                </a:lnTo>
                <a:lnTo>
                  <a:pt x="750188" y="103377"/>
                </a:lnTo>
                <a:lnTo>
                  <a:pt x="827944" y="58038"/>
                </a:lnTo>
                <a:lnTo>
                  <a:pt x="826262" y="58038"/>
                </a:lnTo>
                <a:lnTo>
                  <a:pt x="826262" y="57150"/>
                </a:lnTo>
                <a:lnTo>
                  <a:pt x="823087" y="57150"/>
                </a:lnTo>
                <a:lnTo>
                  <a:pt x="813725" y="51688"/>
                </a:lnTo>
                <a:close/>
              </a:path>
              <a:path w="838835" h="103505">
                <a:moveTo>
                  <a:pt x="802839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02839" y="58038"/>
                </a:lnTo>
                <a:lnTo>
                  <a:pt x="813725" y="51688"/>
                </a:lnTo>
                <a:lnTo>
                  <a:pt x="802839" y="45338"/>
                </a:lnTo>
                <a:close/>
              </a:path>
              <a:path w="838835" h="103505">
                <a:moveTo>
                  <a:pt x="827944" y="45338"/>
                </a:moveTo>
                <a:lnTo>
                  <a:pt x="826262" y="45338"/>
                </a:lnTo>
                <a:lnTo>
                  <a:pt x="826262" y="58038"/>
                </a:lnTo>
                <a:lnTo>
                  <a:pt x="827944" y="58038"/>
                </a:lnTo>
                <a:lnTo>
                  <a:pt x="838835" y="51688"/>
                </a:lnTo>
                <a:lnTo>
                  <a:pt x="827944" y="45338"/>
                </a:lnTo>
                <a:close/>
              </a:path>
              <a:path w="838835" h="103505">
                <a:moveTo>
                  <a:pt x="823087" y="46227"/>
                </a:moveTo>
                <a:lnTo>
                  <a:pt x="813725" y="51688"/>
                </a:lnTo>
                <a:lnTo>
                  <a:pt x="823087" y="57150"/>
                </a:lnTo>
                <a:lnTo>
                  <a:pt x="823087" y="46227"/>
                </a:lnTo>
                <a:close/>
              </a:path>
              <a:path w="838835" h="103505">
                <a:moveTo>
                  <a:pt x="826262" y="46227"/>
                </a:moveTo>
                <a:lnTo>
                  <a:pt x="823087" y="46227"/>
                </a:lnTo>
                <a:lnTo>
                  <a:pt x="823087" y="57150"/>
                </a:lnTo>
                <a:lnTo>
                  <a:pt x="826262" y="57150"/>
                </a:lnTo>
                <a:lnTo>
                  <a:pt x="826262" y="46227"/>
                </a:lnTo>
                <a:close/>
              </a:path>
              <a:path w="838835" h="103505">
                <a:moveTo>
                  <a:pt x="750188" y="0"/>
                </a:moveTo>
                <a:lnTo>
                  <a:pt x="746379" y="1015"/>
                </a:lnTo>
                <a:lnTo>
                  <a:pt x="742823" y="7112"/>
                </a:lnTo>
                <a:lnTo>
                  <a:pt x="743838" y="10922"/>
                </a:lnTo>
                <a:lnTo>
                  <a:pt x="813725" y="51688"/>
                </a:lnTo>
                <a:lnTo>
                  <a:pt x="823087" y="46227"/>
                </a:lnTo>
                <a:lnTo>
                  <a:pt x="826262" y="46227"/>
                </a:lnTo>
                <a:lnTo>
                  <a:pt x="826262" y="45338"/>
                </a:lnTo>
                <a:lnTo>
                  <a:pt x="827944" y="45338"/>
                </a:lnTo>
                <a:lnTo>
                  <a:pt x="750188" y="0"/>
                </a:lnTo>
                <a:close/>
              </a:path>
            </a:pathLst>
          </a:custGeom>
          <a:solidFill>
            <a:srgbClr val="5C7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893914" y="3717035"/>
            <a:ext cx="6686550" cy="2105025"/>
            <a:chOff x="893914" y="3717035"/>
            <a:chExt cx="6686550" cy="210502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3914" y="3717035"/>
              <a:ext cx="6686550" cy="21050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75838" y="3737355"/>
              <a:ext cx="1231900" cy="1816735"/>
            </a:xfrm>
            <a:custGeom>
              <a:avLst/>
              <a:gdLst/>
              <a:ahLst/>
              <a:cxnLst/>
              <a:rect l="l" t="t" r="r" b="b"/>
              <a:pathLst>
                <a:path w="1231900" h="1816735">
                  <a:moveTo>
                    <a:pt x="864108" y="51689"/>
                  </a:moveTo>
                  <a:lnTo>
                    <a:pt x="853211" y="45339"/>
                  </a:lnTo>
                  <a:lnTo>
                    <a:pt x="775462" y="0"/>
                  </a:lnTo>
                  <a:lnTo>
                    <a:pt x="771652" y="1016"/>
                  </a:lnTo>
                  <a:lnTo>
                    <a:pt x="768096" y="7112"/>
                  </a:lnTo>
                  <a:lnTo>
                    <a:pt x="769112" y="10922"/>
                  </a:lnTo>
                  <a:lnTo>
                    <a:pt x="828090" y="45339"/>
                  </a:lnTo>
                  <a:lnTo>
                    <a:pt x="0" y="45339"/>
                  </a:lnTo>
                  <a:lnTo>
                    <a:pt x="0" y="58039"/>
                  </a:lnTo>
                  <a:lnTo>
                    <a:pt x="828090" y="58039"/>
                  </a:lnTo>
                  <a:lnTo>
                    <a:pt x="769112" y="92456"/>
                  </a:lnTo>
                  <a:lnTo>
                    <a:pt x="768096" y="96266"/>
                  </a:lnTo>
                  <a:lnTo>
                    <a:pt x="771652" y="102362"/>
                  </a:lnTo>
                  <a:lnTo>
                    <a:pt x="775462" y="103378"/>
                  </a:lnTo>
                  <a:lnTo>
                    <a:pt x="853211" y="58039"/>
                  </a:lnTo>
                  <a:lnTo>
                    <a:pt x="864108" y="51689"/>
                  </a:lnTo>
                  <a:close/>
                </a:path>
                <a:path w="1231900" h="1816735">
                  <a:moveTo>
                    <a:pt x="961390" y="483743"/>
                  </a:moveTo>
                  <a:lnTo>
                    <a:pt x="950493" y="477393"/>
                  </a:lnTo>
                  <a:lnTo>
                    <a:pt x="872744" y="432054"/>
                  </a:lnTo>
                  <a:lnTo>
                    <a:pt x="868807" y="433070"/>
                  </a:lnTo>
                  <a:lnTo>
                    <a:pt x="867029" y="436118"/>
                  </a:lnTo>
                  <a:lnTo>
                    <a:pt x="865378" y="439166"/>
                  </a:lnTo>
                  <a:lnTo>
                    <a:pt x="866394" y="442976"/>
                  </a:lnTo>
                  <a:lnTo>
                    <a:pt x="869315" y="444754"/>
                  </a:lnTo>
                  <a:lnTo>
                    <a:pt x="925245" y="477393"/>
                  </a:lnTo>
                  <a:lnTo>
                    <a:pt x="144018" y="477393"/>
                  </a:lnTo>
                  <a:lnTo>
                    <a:pt x="144018" y="490093"/>
                  </a:lnTo>
                  <a:lnTo>
                    <a:pt x="925245" y="490093"/>
                  </a:lnTo>
                  <a:lnTo>
                    <a:pt x="869315" y="522732"/>
                  </a:lnTo>
                  <a:lnTo>
                    <a:pt x="866394" y="524510"/>
                  </a:lnTo>
                  <a:lnTo>
                    <a:pt x="865378" y="528320"/>
                  </a:lnTo>
                  <a:lnTo>
                    <a:pt x="867029" y="531368"/>
                  </a:lnTo>
                  <a:lnTo>
                    <a:pt x="868807" y="534416"/>
                  </a:lnTo>
                  <a:lnTo>
                    <a:pt x="872744" y="535432"/>
                  </a:lnTo>
                  <a:lnTo>
                    <a:pt x="950493" y="490093"/>
                  </a:lnTo>
                  <a:lnTo>
                    <a:pt x="961390" y="483743"/>
                  </a:lnTo>
                  <a:close/>
                </a:path>
                <a:path w="1231900" h="1816735">
                  <a:moveTo>
                    <a:pt x="1231392" y="1765046"/>
                  </a:moveTo>
                  <a:lnTo>
                    <a:pt x="1220520" y="1758696"/>
                  </a:lnTo>
                  <a:lnTo>
                    <a:pt x="1142746" y="1713230"/>
                  </a:lnTo>
                  <a:lnTo>
                    <a:pt x="1138936" y="1714246"/>
                  </a:lnTo>
                  <a:lnTo>
                    <a:pt x="1135380" y="1720342"/>
                  </a:lnTo>
                  <a:lnTo>
                    <a:pt x="1136396" y="1724279"/>
                  </a:lnTo>
                  <a:lnTo>
                    <a:pt x="1195374" y="1758696"/>
                  </a:lnTo>
                  <a:lnTo>
                    <a:pt x="691261" y="1758696"/>
                  </a:lnTo>
                  <a:lnTo>
                    <a:pt x="691261" y="1771396"/>
                  </a:lnTo>
                  <a:lnTo>
                    <a:pt x="1195171" y="1771396"/>
                  </a:lnTo>
                  <a:lnTo>
                    <a:pt x="1136396" y="1805686"/>
                  </a:lnTo>
                  <a:lnTo>
                    <a:pt x="1135380" y="1809623"/>
                  </a:lnTo>
                  <a:lnTo>
                    <a:pt x="1138936" y="1815719"/>
                  </a:lnTo>
                  <a:lnTo>
                    <a:pt x="1142746" y="1816735"/>
                  </a:lnTo>
                  <a:lnTo>
                    <a:pt x="1220495" y="1771396"/>
                  </a:lnTo>
                  <a:lnTo>
                    <a:pt x="1231392" y="1765046"/>
                  </a:lnTo>
                  <a:close/>
                </a:path>
              </a:pathLst>
            </a:custGeom>
            <a:solidFill>
              <a:srgbClr val="5C7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56708" y="2007489"/>
            <a:ext cx="2514600" cy="771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alatino Linotype"/>
                <a:cs typeface="Palatino Linotype"/>
              </a:rPr>
              <a:t>Define</a:t>
            </a:r>
            <a:r>
              <a:rPr sz="1800" spc="-6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public</a:t>
            </a:r>
            <a:r>
              <a:rPr sz="1800" spc="-20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function</a:t>
            </a:r>
            <a:endParaRPr sz="1800">
              <a:latin typeface="Palatino Linotype"/>
              <a:cs typeface="Palatino Linotype"/>
            </a:endParaRPr>
          </a:p>
          <a:p>
            <a:pPr marL="156210">
              <a:lnSpc>
                <a:spcPct val="100000"/>
              </a:lnSpc>
              <a:spcBef>
                <a:spcPts val="1550"/>
              </a:spcBef>
            </a:pPr>
            <a:r>
              <a:rPr sz="1800" dirty="0">
                <a:latin typeface="Palatino Linotype"/>
                <a:cs typeface="Palatino Linotype"/>
              </a:rPr>
              <a:t>Define</a:t>
            </a:r>
            <a:r>
              <a:rPr sz="1800" spc="-7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private</a:t>
            </a:r>
            <a:r>
              <a:rPr sz="1800" spc="-45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function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72432" y="3592448"/>
            <a:ext cx="2976880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alatino Linotype"/>
                <a:cs typeface="Palatino Linotype"/>
              </a:rPr>
              <a:t>Access</a:t>
            </a:r>
            <a:r>
              <a:rPr sz="1800" spc="-5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public</a:t>
            </a:r>
            <a:r>
              <a:rPr sz="1800" spc="-40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function</a:t>
            </a:r>
            <a:endParaRPr sz="1800">
              <a:latin typeface="Palatino Linotype"/>
              <a:cs typeface="Palatino Linotype"/>
            </a:endParaRPr>
          </a:p>
          <a:p>
            <a:pPr marL="82550">
              <a:lnSpc>
                <a:spcPct val="100000"/>
              </a:lnSpc>
              <a:spcBef>
                <a:spcPts val="1490"/>
              </a:spcBef>
            </a:pPr>
            <a:r>
              <a:rPr sz="1800" spc="-20" dirty="0">
                <a:latin typeface="Palatino Linotype"/>
                <a:cs typeface="Palatino Linotype"/>
              </a:rPr>
              <a:t>Can’t</a:t>
            </a:r>
            <a:r>
              <a:rPr sz="1800" spc="-7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access</a:t>
            </a:r>
            <a:r>
              <a:rPr sz="1800" spc="-4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private</a:t>
            </a:r>
            <a:r>
              <a:rPr sz="1800" spc="-60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function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36972" y="5393232"/>
            <a:ext cx="42868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alatino Linotype"/>
                <a:cs typeface="Palatino Linotype"/>
              </a:rPr>
              <a:t>Access</a:t>
            </a:r>
            <a:r>
              <a:rPr sz="1800" spc="-5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private</a:t>
            </a:r>
            <a:r>
              <a:rPr sz="1800" spc="-5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function</a:t>
            </a:r>
            <a:r>
              <a:rPr sz="1800" spc="-2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via</a:t>
            </a:r>
            <a:r>
              <a:rPr sz="1800" spc="-4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changed</a:t>
            </a:r>
            <a:r>
              <a:rPr sz="1800" spc="-90" dirty="0">
                <a:latin typeface="Palatino Linotype"/>
                <a:cs typeface="Palatino Linotype"/>
              </a:rPr>
              <a:t> </a:t>
            </a:r>
            <a:r>
              <a:rPr sz="1800" spc="-20" dirty="0">
                <a:latin typeface="Palatino Linotype"/>
                <a:cs typeface="Palatino Linotype"/>
              </a:rPr>
              <a:t>name</a:t>
            </a:r>
            <a:endParaRPr sz="18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3183" y="502919"/>
              <a:ext cx="5437632" cy="154838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08351" y="674623"/>
            <a:ext cx="45307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0" dirty="0"/>
              <a:t>Polymorphism</a:t>
            </a:r>
            <a:endParaRPr sz="5400"/>
          </a:p>
        </p:txBody>
      </p:sp>
      <p:sp>
        <p:nvSpPr>
          <p:cNvPr id="8" name="object 8"/>
          <p:cNvSpPr txBox="1"/>
          <p:nvPr/>
        </p:nvSpPr>
        <p:spPr>
          <a:xfrm>
            <a:off x="536244" y="1612468"/>
            <a:ext cx="8053705" cy="287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14351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Polymorphism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is</a:t>
            </a:r>
            <a:r>
              <a:rPr sz="2400" spc="-7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an</a:t>
            </a:r>
            <a:r>
              <a:rPr sz="2400" spc="-8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important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definition</a:t>
            </a:r>
            <a:r>
              <a:rPr sz="2400" spc="-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OOP. 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Absolutely,</a:t>
            </a:r>
            <a:r>
              <a:rPr sz="24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we</a:t>
            </a:r>
            <a:r>
              <a:rPr sz="24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can</a:t>
            </a:r>
            <a:r>
              <a:rPr sz="2400" spc="-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realize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polymorphism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r>
              <a:rPr sz="24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Python</a:t>
            </a:r>
            <a:r>
              <a:rPr sz="2400" spc="-7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just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like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90" dirty="0">
                <a:solidFill>
                  <a:srgbClr val="404040"/>
                </a:solidFill>
                <a:latin typeface="Palatino Linotype"/>
                <a:cs typeface="Palatino Linotype"/>
              </a:rPr>
              <a:t>JAVA.</a:t>
            </a:r>
            <a:r>
              <a:rPr sz="24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call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it</a:t>
            </a:r>
            <a:r>
              <a:rPr sz="24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“traditional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polymorphism”</a:t>
            </a:r>
            <a:endParaRPr sz="2400">
              <a:latin typeface="Palatino Linotype"/>
              <a:cs typeface="Palatino Linotype"/>
            </a:endParaRPr>
          </a:p>
          <a:p>
            <a:pPr marL="356870" marR="508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the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next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slide,</a:t>
            </a:r>
            <a:r>
              <a:rPr sz="24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there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is</a:t>
            </a:r>
            <a:r>
              <a:rPr sz="24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an</a:t>
            </a:r>
            <a:r>
              <a:rPr sz="24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example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of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polymorphism</a:t>
            </a:r>
            <a:r>
              <a:rPr sz="24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in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Python.</a:t>
            </a:r>
            <a:endParaRPr sz="2400">
              <a:latin typeface="Palatino Linotype"/>
              <a:cs typeface="Palatino Linotype"/>
            </a:endParaRPr>
          </a:p>
          <a:p>
            <a:pPr marL="356870" indent="-34417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But</a:t>
            </a:r>
            <a:r>
              <a:rPr sz="24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r>
              <a:rPr sz="2400" spc="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Python,</a:t>
            </a:r>
            <a:endParaRPr sz="2400">
              <a:latin typeface="Palatino Linotype"/>
              <a:cs typeface="Palatino Linotype"/>
            </a:endParaRPr>
          </a:p>
          <a:p>
            <a:pPr marL="1003300">
              <a:lnSpc>
                <a:spcPct val="100000"/>
              </a:lnSpc>
              <a:spcBef>
                <a:spcPts val="655"/>
              </a:spcBef>
            </a:pPr>
            <a:r>
              <a:rPr sz="2800" b="1" dirty="0">
                <a:solidFill>
                  <a:srgbClr val="2E5796"/>
                </a:solidFill>
                <a:latin typeface="Palatino Linotype"/>
                <a:cs typeface="Palatino Linotype"/>
              </a:rPr>
              <a:t>Only</a:t>
            </a:r>
            <a:r>
              <a:rPr sz="2800" b="1" spc="-65" dirty="0">
                <a:solidFill>
                  <a:srgbClr val="2E5796"/>
                </a:solidFill>
                <a:latin typeface="Palatino Linotype"/>
                <a:cs typeface="Palatino Linotype"/>
              </a:rPr>
              <a:t> </a:t>
            </a:r>
            <a:r>
              <a:rPr sz="2800" b="1" dirty="0">
                <a:solidFill>
                  <a:srgbClr val="2E5796"/>
                </a:solidFill>
                <a:latin typeface="Palatino Linotype"/>
                <a:cs typeface="Palatino Linotype"/>
              </a:rPr>
              <a:t>traditional</a:t>
            </a:r>
            <a:r>
              <a:rPr sz="2800" b="1" spc="-100" dirty="0">
                <a:solidFill>
                  <a:srgbClr val="2E5796"/>
                </a:solidFill>
                <a:latin typeface="Palatino Linotype"/>
                <a:cs typeface="Palatino Linotype"/>
              </a:rPr>
              <a:t> </a:t>
            </a:r>
            <a:r>
              <a:rPr sz="2800" b="1" dirty="0">
                <a:solidFill>
                  <a:srgbClr val="2E5796"/>
                </a:solidFill>
                <a:latin typeface="Palatino Linotype"/>
                <a:cs typeface="Palatino Linotype"/>
              </a:rPr>
              <a:t>polymorphism</a:t>
            </a:r>
            <a:r>
              <a:rPr sz="2800" b="1" spc="-80" dirty="0">
                <a:solidFill>
                  <a:srgbClr val="2E5796"/>
                </a:solidFill>
                <a:latin typeface="Palatino Linotype"/>
                <a:cs typeface="Palatino Linotype"/>
              </a:rPr>
              <a:t> </a:t>
            </a:r>
            <a:r>
              <a:rPr sz="2800" b="1" spc="-10" dirty="0">
                <a:solidFill>
                  <a:srgbClr val="2E5796"/>
                </a:solidFill>
                <a:latin typeface="Palatino Linotype"/>
                <a:cs typeface="Palatino Linotype"/>
              </a:rPr>
              <a:t>exist?</a:t>
            </a:r>
            <a:endParaRPr sz="2800">
              <a:latin typeface="Palatino Linotype"/>
              <a:cs typeface="Palatino Linotype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29528" y="5062728"/>
            <a:ext cx="1280159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2063" y="448056"/>
              <a:ext cx="8116824" cy="93268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83742" y="548081"/>
            <a:ext cx="757110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Compare</a:t>
            </a:r>
            <a:r>
              <a:rPr sz="3200" spc="-190" dirty="0"/>
              <a:t> </a:t>
            </a:r>
            <a:r>
              <a:rPr sz="3200" dirty="0"/>
              <a:t>Accessibility</a:t>
            </a:r>
            <a:r>
              <a:rPr sz="3200" spc="-10" dirty="0"/>
              <a:t> </a:t>
            </a:r>
            <a:r>
              <a:rPr sz="3200" dirty="0"/>
              <a:t>of</a:t>
            </a:r>
            <a:r>
              <a:rPr sz="3200" spc="-100" dirty="0"/>
              <a:t> </a:t>
            </a:r>
            <a:r>
              <a:rPr sz="3200" dirty="0"/>
              <a:t>Python</a:t>
            </a:r>
            <a:r>
              <a:rPr sz="3200" spc="-55" dirty="0"/>
              <a:t> </a:t>
            </a:r>
            <a:r>
              <a:rPr sz="3200" dirty="0"/>
              <a:t>and</a:t>
            </a:r>
            <a:r>
              <a:rPr sz="3200" spc="-95" dirty="0"/>
              <a:t> </a:t>
            </a:r>
            <a:r>
              <a:rPr sz="3200" spc="-20" dirty="0"/>
              <a:t>Java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536244" y="1612468"/>
            <a:ext cx="7886065" cy="309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170" marR="5080" indent="-344170" algn="r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44170" algn="l"/>
              </a:tabLst>
            </a:pP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Java</a:t>
            </a:r>
            <a:r>
              <a:rPr sz="2400" spc="-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is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static</a:t>
            </a:r>
            <a:r>
              <a:rPr sz="24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and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strong</a:t>
            </a:r>
            <a:r>
              <a:rPr sz="2400" spc="-8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type</a:t>
            </a:r>
            <a:r>
              <a:rPr sz="2400" spc="-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definition</a:t>
            </a:r>
            <a:r>
              <a:rPr sz="2400" spc="1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language.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Java</a:t>
            </a:r>
            <a:endParaRPr sz="2400">
              <a:latin typeface="Palatino Linotype"/>
              <a:cs typeface="Palatino Linotype"/>
            </a:endParaRPr>
          </a:p>
          <a:p>
            <a:pPr marR="19050" algn="r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has</a:t>
            </a:r>
            <a:r>
              <a:rPr sz="24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strict</a:t>
            </a:r>
            <a:r>
              <a:rPr sz="2400" spc="-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definition</a:t>
            </a:r>
            <a:r>
              <a:rPr sz="2400" spc="1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of</a:t>
            </a:r>
            <a:r>
              <a:rPr sz="24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accessibility</a:t>
            </a:r>
            <a:r>
              <a:rPr sz="2400" spc="2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type</a:t>
            </a:r>
            <a:r>
              <a:rPr sz="24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with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keywords.</a:t>
            </a:r>
            <a:endParaRPr sz="2400">
              <a:latin typeface="Palatino Linotype"/>
              <a:cs typeface="Palatino Linotype"/>
            </a:endParaRPr>
          </a:p>
          <a:p>
            <a:pPr marL="356870" marR="253365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While</a:t>
            </a:r>
            <a:r>
              <a:rPr sz="24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Python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is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dynamic</a:t>
            </a:r>
            <a:r>
              <a:rPr sz="24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and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weak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type</a:t>
            </a:r>
            <a:r>
              <a:rPr sz="2400" spc="-8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definition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language.</a:t>
            </a:r>
            <a:r>
              <a:rPr sz="2400" spc="-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Python</a:t>
            </a:r>
            <a:r>
              <a:rPr sz="2400" spc="-7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acquiesces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all</a:t>
            </a:r>
            <a:r>
              <a:rPr sz="2400" spc="-7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the</a:t>
            </a:r>
            <a:r>
              <a:rPr sz="2400" spc="-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accessibility</a:t>
            </a:r>
            <a:r>
              <a:rPr sz="2400" spc="-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types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are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public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except</a:t>
            </a:r>
            <a:r>
              <a:rPr sz="2400" spc="-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for</a:t>
            </a:r>
            <a:r>
              <a:rPr sz="24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supporting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method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to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realize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private</a:t>
            </a:r>
            <a:r>
              <a:rPr sz="2400" spc="-1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accessibility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virtually.</a:t>
            </a:r>
            <a:endParaRPr sz="2400">
              <a:latin typeface="Palatino Linotype"/>
              <a:cs typeface="Palatino Linotype"/>
            </a:endParaRPr>
          </a:p>
          <a:p>
            <a:pPr marL="356870" marR="2171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Someone</a:t>
            </a:r>
            <a:r>
              <a:rPr sz="2400" spc="-7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think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Python</a:t>
            </a:r>
            <a:r>
              <a:rPr sz="2400" spc="-7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violates</a:t>
            </a:r>
            <a:r>
              <a:rPr sz="2400" spc="-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the</a:t>
            </a:r>
            <a:r>
              <a:rPr sz="24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requirement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of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encapsulation.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But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its</a:t>
            </a:r>
            <a:r>
              <a:rPr sz="24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aim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is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to</a:t>
            </a:r>
            <a:r>
              <a:rPr sz="24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make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language</a:t>
            </a:r>
            <a:r>
              <a:rPr sz="24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simple.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265" y="415874"/>
            <a:ext cx="806386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Traditional</a:t>
            </a:r>
            <a:r>
              <a:rPr spc="-190" dirty="0"/>
              <a:t> </a:t>
            </a:r>
            <a:r>
              <a:rPr dirty="0"/>
              <a:t>Polymorphism</a:t>
            </a:r>
            <a:r>
              <a:rPr spc="-170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676" y="1604937"/>
            <a:ext cx="2406650" cy="46164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47209" y="1604899"/>
            <a:ext cx="2376677" cy="22322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60035" y="4135411"/>
            <a:ext cx="1419225" cy="20859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231" y="490728"/>
              <a:ext cx="8357616" cy="93268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2995" y="592074"/>
            <a:ext cx="782002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dirty="0"/>
              <a:t>Everywhere</a:t>
            </a:r>
            <a:r>
              <a:rPr sz="3200" spc="-100" dirty="0"/>
              <a:t> </a:t>
            </a:r>
            <a:r>
              <a:rPr sz="3200" dirty="0"/>
              <a:t>is</a:t>
            </a:r>
            <a:r>
              <a:rPr sz="3200" spc="-110" dirty="0"/>
              <a:t> </a:t>
            </a:r>
            <a:r>
              <a:rPr sz="3200" dirty="0"/>
              <a:t>polymorphism</a:t>
            </a:r>
            <a:r>
              <a:rPr sz="3200" spc="-75" dirty="0"/>
              <a:t> </a:t>
            </a:r>
            <a:r>
              <a:rPr sz="3200" dirty="0"/>
              <a:t>in</a:t>
            </a:r>
            <a:r>
              <a:rPr sz="3200" spc="-110" dirty="0"/>
              <a:t> </a:t>
            </a:r>
            <a:r>
              <a:rPr sz="3200" dirty="0"/>
              <a:t>Python</a:t>
            </a:r>
            <a:r>
              <a:rPr sz="3200" spc="-70" dirty="0"/>
              <a:t> </a:t>
            </a:r>
            <a:r>
              <a:rPr sz="3200" spc="-25" dirty="0"/>
              <a:t>(1)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546608" y="1353058"/>
            <a:ext cx="788035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Palatino Linotype"/>
                <a:cs typeface="Palatino Linotype"/>
              </a:rPr>
              <a:t>Since</a:t>
            </a:r>
            <a:r>
              <a:rPr sz="2400" spc="-7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Python</a:t>
            </a:r>
            <a:r>
              <a:rPr sz="2400" spc="-7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is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</a:t>
            </a:r>
            <a:r>
              <a:rPr sz="2400" spc="-8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dynamic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programming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language,</a:t>
            </a:r>
            <a:r>
              <a:rPr sz="2400" spc="-90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it </a:t>
            </a:r>
            <a:r>
              <a:rPr sz="2400" dirty="0">
                <a:latin typeface="Palatino Linotype"/>
                <a:cs typeface="Palatino Linotype"/>
              </a:rPr>
              <a:t>means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Python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is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strongly</a:t>
            </a:r>
            <a:r>
              <a:rPr sz="2400" spc="-7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typed</a:t>
            </a:r>
            <a:r>
              <a:rPr sz="2400" spc="-8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as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interpreter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keeps </a:t>
            </a:r>
            <a:r>
              <a:rPr sz="2400" dirty="0">
                <a:latin typeface="Palatino Linotype"/>
                <a:cs typeface="Palatino Linotype"/>
              </a:rPr>
              <a:t>track</a:t>
            </a:r>
            <a:r>
              <a:rPr sz="2400" spc="-6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of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all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variables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types.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It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reflects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polymorphism </a:t>
            </a:r>
            <a:r>
              <a:rPr sz="2400" dirty="0">
                <a:latin typeface="Palatino Linotype"/>
                <a:cs typeface="Palatino Linotype"/>
              </a:rPr>
              <a:t>character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in</a:t>
            </a:r>
            <a:r>
              <a:rPr sz="2400" spc="-6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Python.</a:t>
            </a:r>
            <a:endParaRPr sz="240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7346" y="3501009"/>
            <a:ext cx="3600450" cy="1728470"/>
          </a:xfrm>
          <a:custGeom>
            <a:avLst/>
            <a:gdLst/>
            <a:ahLst/>
            <a:cxnLst/>
            <a:rect l="l" t="t" r="r" b="b"/>
            <a:pathLst>
              <a:path w="3600450" h="1728470">
                <a:moveTo>
                  <a:pt x="1800148" y="0"/>
                </a:moveTo>
                <a:lnTo>
                  <a:pt x="1736953" y="522"/>
                </a:lnTo>
                <a:lnTo>
                  <a:pt x="1674305" y="2078"/>
                </a:lnTo>
                <a:lnTo>
                  <a:pt x="1612239" y="4651"/>
                </a:lnTo>
                <a:lnTo>
                  <a:pt x="1550791" y="8223"/>
                </a:lnTo>
                <a:lnTo>
                  <a:pt x="1489997" y="12777"/>
                </a:lnTo>
                <a:lnTo>
                  <a:pt x="1429893" y="18296"/>
                </a:lnTo>
                <a:lnTo>
                  <a:pt x="1370514" y="24763"/>
                </a:lnTo>
                <a:lnTo>
                  <a:pt x="1311896" y="32161"/>
                </a:lnTo>
                <a:lnTo>
                  <a:pt x="1254074" y="40473"/>
                </a:lnTo>
                <a:lnTo>
                  <a:pt x="1197086" y="49681"/>
                </a:lnTo>
                <a:lnTo>
                  <a:pt x="1140965" y="59768"/>
                </a:lnTo>
                <a:lnTo>
                  <a:pt x="1085748" y="70718"/>
                </a:lnTo>
                <a:lnTo>
                  <a:pt x="1031471" y="82513"/>
                </a:lnTo>
                <a:lnTo>
                  <a:pt x="978169" y="95136"/>
                </a:lnTo>
                <a:lnTo>
                  <a:pt x="925877" y="108570"/>
                </a:lnTo>
                <a:lnTo>
                  <a:pt x="874633" y="122798"/>
                </a:lnTo>
                <a:lnTo>
                  <a:pt x="824471" y="137803"/>
                </a:lnTo>
                <a:lnTo>
                  <a:pt x="775427" y="153566"/>
                </a:lnTo>
                <a:lnTo>
                  <a:pt x="727536" y="170073"/>
                </a:lnTo>
                <a:lnTo>
                  <a:pt x="680836" y="187304"/>
                </a:lnTo>
                <a:lnTo>
                  <a:pt x="635360" y="205244"/>
                </a:lnTo>
                <a:lnTo>
                  <a:pt x="591145" y="223875"/>
                </a:lnTo>
                <a:lnTo>
                  <a:pt x="548227" y="243179"/>
                </a:lnTo>
                <a:lnTo>
                  <a:pt x="506641" y="263140"/>
                </a:lnTo>
                <a:lnTo>
                  <a:pt x="466423" y="283741"/>
                </a:lnTo>
                <a:lnTo>
                  <a:pt x="427609" y="304965"/>
                </a:lnTo>
                <a:lnTo>
                  <a:pt x="390234" y="326793"/>
                </a:lnTo>
                <a:lnTo>
                  <a:pt x="354335" y="349210"/>
                </a:lnTo>
                <a:lnTo>
                  <a:pt x="319946" y="372198"/>
                </a:lnTo>
                <a:lnTo>
                  <a:pt x="287104" y="395740"/>
                </a:lnTo>
                <a:lnTo>
                  <a:pt x="255843" y="419819"/>
                </a:lnTo>
                <a:lnTo>
                  <a:pt x="226201" y="444417"/>
                </a:lnTo>
                <a:lnTo>
                  <a:pt x="171914" y="495104"/>
                </a:lnTo>
                <a:lnTo>
                  <a:pt x="124526" y="547665"/>
                </a:lnTo>
                <a:lnTo>
                  <a:pt x="84324" y="601962"/>
                </a:lnTo>
                <a:lnTo>
                  <a:pt x="51594" y="657858"/>
                </a:lnTo>
                <a:lnTo>
                  <a:pt x="26621" y="715216"/>
                </a:lnTo>
                <a:lnTo>
                  <a:pt x="9690" y="773898"/>
                </a:lnTo>
                <a:lnTo>
                  <a:pt x="1088" y="833769"/>
                </a:lnTo>
                <a:lnTo>
                  <a:pt x="0" y="864107"/>
                </a:lnTo>
                <a:lnTo>
                  <a:pt x="1088" y="894446"/>
                </a:lnTo>
                <a:lnTo>
                  <a:pt x="9690" y="954317"/>
                </a:lnTo>
                <a:lnTo>
                  <a:pt x="26621" y="1012999"/>
                </a:lnTo>
                <a:lnTo>
                  <a:pt x="51594" y="1070357"/>
                </a:lnTo>
                <a:lnTo>
                  <a:pt x="84324" y="1126253"/>
                </a:lnTo>
                <a:lnTo>
                  <a:pt x="124526" y="1180550"/>
                </a:lnTo>
                <a:lnTo>
                  <a:pt x="171914" y="1233111"/>
                </a:lnTo>
                <a:lnTo>
                  <a:pt x="226201" y="1283798"/>
                </a:lnTo>
                <a:lnTo>
                  <a:pt x="255843" y="1308396"/>
                </a:lnTo>
                <a:lnTo>
                  <a:pt x="287104" y="1332475"/>
                </a:lnTo>
                <a:lnTo>
                  <a:pt x="319946" y="1356017"/>
                </a:lnTo>
                <a:lnTo>
                  <a:pt x="354335" y="1379005"/>
                </a:lnTo>
                <a:lnTo>
                  <a:pt x="390234" y="1401422"/>
                </a:lnTo>
                <a:lnTo>
                  <a:pt x="427609" y="1423250"/>
                </a:lnTo>
                <a:lnTo>
                  <a:pt x="466423" y="1444474"/>
                </a:lnTo>
                <a:lnTo>
                  <a:pt x="506641" y="1465075"/>
                </a:lnTo>
                <a:lnTo>
                  <a:pt x="548227" y="1485036"/>
                </a:lnTo>
                <a:lnTo>
                  <a:pt x="591145" y="1504340"/>
                </a:lnTo>
                <a:lnTo>
                  <a:pt x="635360" y="1522971"/>
                </a:lnTo>
                <a:lnTo>
                  <a:pt x="680836" y="1540911"/>
                </a:lnTo>
                <a:lnTo>
                  <a:pt x="727536" y="1558142"/>
                </a:lnTo>
                <a:lnTo>
                  <a:pt x="775427" y="1574649"/>
                </a:lnTo>
                <a:lnTo>
                  <a:pt x="824471" y="1590412"/>
                </a:lnTo>
                <a:lnTo>
                  <a:pt x="874633" y="1605417"/>
                </a:lnTo>
                <a:lnTo>
                  <a:pt x="925877" y="1619645"/>
                </a:lnTo>
                <a:lnTo>
                  <a:pt x="978169" y="1633079"/>
                </a:lnTo>
                <a:lnTo>
                  <a:pt x="1031471" y="1645702"/>
                </a:lnTo>
                <a:lnTo>
                  <a:pt x="1085748" y="1657497"/>
                </a:lnTo>
                <a:lnTo>
                  <a:pt x="1140965" y="1668447"/>
                </a:lnTo>
                <a:lnTo>
                  <a:pt x="1197086" y="1678534"/>
                </a:lnTo>
                <a:lnTo>
                  <a:pt x="1254074" y="1687742"/>
                </a:lnTo>
                <a:lnTo>
                  <a:pt x="1311896" y="1696054"/>
                </a:lnTo>
                <a:lnTo>
                  <a:pt x="1370514" y="1703452"/>
                </a:lnTo>
                <a:lnTo>
                  <a:pt x="1429893" y="1709919"/>
                </a:lnTo>
                <a:lnTo>
                  <a:pt x="1489997" y="1715438"/>
                </a:lnTo>
                <a:lnTo>
                  <a:pt x="1550791" y="1719992"/>
                </a:lnTo>
                <a:lnTo>
                  <a:pt x="1612239" y="1723564"/>
                </a:lnTo>
                <a:lnTo>
                  <a:pt x="1674305" y="1726137"/>
                </a:lnTo>
                <a:lnTo>
                  <a:pt x="1736953" y="1727693"/>
                </a:lnTo>
                <a:lnTo>
                  <a:pt x="1800148" y="1728215"/>
                </a:lnTo>
                <a:lnTo>
                  <a:pt x="1863351" y="1727693"/>
                </a:lnTo>
                <a:lnTo>
                  <a:pt x="1926007" y="1726137"/>
                </a:lnTo>
                <a:lnTo>
                  <a:pt x="1988080" y="1723564"/>
                </a:lnTo>
                <a:lnTo>
                  <a:pt x="2049535" y="1719992"/>
                </a:lnTo>
                <a:lnTo>
                  <a:pt x="2110335" y="1715438"/>
                </a:lnTo>
                <a:lnTo>
                  <a:pt x="2170444" y="1709919"/>
                </a:lnTo>
                <a:lnTo>
                  <a:pt x="2229829" y="1703452"/>
                </a:lnTo>
                <a:lnTo>
                  <a:pt x="2288452" y="1696054"/>
                </a:lnTo>
                <a:lnTo>
                  <a:pt x="2346277" y="1687742"/>
                </a:lnTo>
                <a:lnTo>
                  <a:pt x="2403270" y="1678534"/>
                </a:lnTo>
                <a:lnTo>
                  <a:pt x="2459395" y="1668447"/>
                </a:lnTo>
                <a:lnTo>
                  <a:pt x="2514615" y="1657497"/>
                </a:lnTo>
                <a:lnTo>
                  <a:pt x="2568895" y="1645702"/>
                </a:lnTo>
                <a:lnTo>
                  <a:pt x="2622200" y="1633079"/>
                </a:lnTo>
                <a:lnTo>
                  <a:pt x="2674494" y="1619645"/>
                </a:lnTo>
                <a:lnTo>
                  <a:pt x="2725741" y="1605417"/>
                </a:lnTo>
                <a:lnTo>
                  <a:pt x="2775905" y="1590412"/>
                </a:lnTo>
                <a:lnTo>
                  <a:pt x="2824950" y="1574649"/>
                </a:lnTo>
                <a:lnTo>
                  <a:pt x="2872842" y="1558142"/>
                </a:lnTo>
                <a:lnTo>
                  <a:pt x="2919544" y="1540911"/>
                </a:lnTo>
                <a:lnTo>
                  <a:pt x="2965021" y="1522971"/>
                </a:lnTo>
                <a:lnTo>
                  <a:pt x="3009236" y="1504340"/>
                </a:lnTo>
                <a:lnTo>
                  <a:pt x="3052155" y="1485036"/>
                </a:lnTo>
                <a:lnTo>
                  <a:pt x="3093741" y="1465075"/>
                </a:lnTo>
                <a:lnTo>
                  <a:pt x="3133959" y="1444474"/>
                </a:lnTo>
                <a:lnTo>
                  <a:pt x="3172774" y="1423250"/>
                </a:lnTo>
                <a:lnTo>
                  <a:pt x="3210148" y="1401422"/>
                </a:lnTo>
                <a:lnTo>
                  <a:pt x="3246048" y="1379005"/>
                </a:lnTo>
                <a:lnTo>
                  <a:pt x="3280436" y="1356017"/>
                </a:lnTo>
                <a:lnTo>
                  <a:pt x="3313278" y="1332475"/>
                </a:lnTo>
                <a:lnTo>
                  <a:pt x="3344538" y="1308396"/>
                </a:lnTo>
                <a:lnTo>
                  <a:pt x="3374180" y="1283798"/>
                </a:lnTo>
                <a:lnTo>
                  <a:pt x="3428466" y="1233111"/>
                </a:lnTo>
                <a:lnTo>
                  <a:pt x="3475852" y="1180550"/>
                </a:lnTo>
                <a:lnTo>
                  <a:pt x="3516053" y="1126253"/>
                </a:lnTo>
                <a:lnTo>
                  <a:pt x="3548781" y="1070357"/>
                </a:lnTo>
                <a:lnTo>
                  <a:pt x="3573754" y="1012999"/>
                </a:lnTo>
                <a:lnTo>
                  <a:pt x="3590683" y="954317"/>
                </a:lnTo>
                <a:lnTo>
                  <a:pt x="3599285" y="894446"/>
                </a:lnTo>
                <a:lnTo>
                  <a:pt x="3600373" y="864107"/>
                </a:lnTo>
                <a:lnTo>
                  <a:pt x="3599285" y="833769"/>
                </a:lnTo>
                <a:lnTo>
                  <a:pt x="3590683" y="773898"/>
                </a:lnTo>
                <a:lnTo>
                  <a:pt x="3573754" y="715216"/>
                </a:lnTo>
                <a:lnTo>
                  <a:pt x="3548781" y="657858"/>
                </a:lnTo>
                <a:lnTo>
                  <a:pt x="3516053" y="601962"/>
                </a:lnTo>
                <a:lnTo>
                  <a:pt x="3475852" y="547665"/>
                </a:lnTo>
                <a:lnTo>
                  <a:pt x="3428466" y="495104"/>
                </a:lnTo>
                <a:lnTo>
                  <a:pt x="3374180" y="444417"/>
                </a:lnTo>
                <a:lnTo>
                  <a:pt x="3344538" y="419819"/>
                </a:lnTo>
                <a:lnTo>
                  <a:pt x="3313278" y="395740"/>
                </a:lnTo>
                <a:lnTo>
                  <a:pt x="3280436" y="372198"/>
                </a:lnTo>
                <a:lnTo>
                  <a:pt x="3246048" y="349210"/>
                </a:lnTo>
                <a:lnTo>
                  <a:pt x="3210148" y="326793"/>
                </a:lnTo>
                <a:lnTo>
                  <a:pt x="3172774" y="304965"/>
                </a:lnTo>
                <a:lnTo>
                  <a:pt x="3133959" y="283741"/>
                </a:lnTo>
                <a:lnTo>
                  <a:pt x="3093741" y="263140"/>
                </a:lnTo>
                <a:lnTo>
                  <a:pt x="3052155" y="243179"/>
                </a:lnTo>
                <a:lnTo>
                  <a:pt x="3009236" y="223875"/>
                </a:lnTo>
                <a:lnTo>
                  <a:pt x="2965021" y="205244"/>
                </a:lnTo>
                <a:lnTo>
                  <a:pt x="2919544" y="187304"/>
                </a:lnTo>
                <a:lnTo>
                  <a:pt x="2872842" y="170073"/>
                </a:lnTo>
                <a:lnTo>
                  <a:pt x="2824950" y="153566"/>
                </a:lnTo>
                <a:lnTo>
                  <a:pt x="2775905" y="137803"/>
                </a:lnTo>
                <a:lnTo>
                  <a:pt x="2725741" y="122798"/>
                </a:lnTo>
                <a:lnTo>
                  <a:pt x="2674494" y="108570"/>
                </a:lnTo>
                <a:lnTo>
                  <a:pt x="2622200" y="95136"/>
                </a:lnTo>
                <a:lnTo>
                  <a:pt x="2568895" y="82513"/>
                </a:lnTo>
                <a:lnTo>
                  <a:pt x="2514615" y="70718"/>
                </a:lnTo>
                <a:lnTo>
                  <a:pt x="2459395" y="59768"/>
                </a:lnTo>
                <a:lnTo>
                  <a:pt x="2403270" y="49681"/>
                </a:lnTo>
                <a:lnTo>
                  <a:pt x="2346277" y="40473"/>
                </a:lnTo>
                <a:lnTo>
                  <a:pt x="2288452" y="32161"/>
                </a:lnTo>
                <a:lnTo>
                  <a:pt x="2229829" y="24763"/>
                </a:lnTo>
                <a:lnTo>
                  <a:pt x="2170444" y="18296"/>
                </a:lnTo>
                <a:lnTo>
                  <a:pt x="2110335" y="12777"/>
                </a:lnTo>
                <a:lnTo>
                  <a:pt x="2049535" y="8223"/>
                </a:lnTo>
                <a:lnTo>
                  <a:pt x="1988080" y="4651"/>
                </a:lnTo>
                <a:lnTo>
                  <a:pt x="1926007" y="2078"/>
                </a:lnTo>
                <a:lnTo>
                  <a:pt x="1863351" y="522"/>
                </a:lnTo>
                <a:lnTo>
                  <a:pt x="1800148" y="0"/>
                </a:lnTo>
                <a:close/>
              </a:path>
            </a:pathLst>
          </a:custGeom>
          <a:solidFill>
            <a:srgbClr val="5F76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17346" y="3501009"/>
            <a:ext cx="3600450" cy="1728470"/>
          </a:xfrm>
          <a:custGeom>
            <a:avLst/>
            <a:gdLst/>
            <a:ahLst/>
            <a:cxnLst/>
            <a:rect l="l" t="t" r="r" b="b"/>
            <a:pathLst>
              <a:path w="3600450" h="1728470">
                <a:moveTo>
                  <a:pt x="0" y="864107"/>
                </a:moveTo>
                <a:lnTo>
                  <a:pt x="4330" y="803694"/>
                </a:lnTo>
                <a:lnTo>
                  <a:pt x="17132" y="744400"/>
                </a:lnTo>
                <a:lnTo>
                  <a:pt x="38120" y="686362"/>
                </a:lnTo>
                <a:lnTo>
                  <a:pt x="67007" y="629718"/>
                </a:lnTo>
                <a:lnTo>
                  <a:pt x="103509" y="574605"/>
                </a:lnTo>
                <a:lnTo>
                  <a:pt x="147339" y="521159"/>
                </a:lnTo>
                <a:lnTo>
                  <a:pt x="198213" y="469518"/>
                </a:lnTo>
                <a:lnTo>
                  <a:pt x="255843" y="419819"/>
                </a:lnTo>
                <a:lnTo>
                  <a:pt x="287104" y="395740"/>
                </a:lnTo>
                <a:lnTo>
                  <a:pt x="319946" y="372198"/>
                </a:lnTo>
                <a:lnTo>
                  <a:pt x="354335" y="349210"/>
                </a:lnTo>
                <a:lnTo>
                  <a:pt x="390234" y="326793"/>
                </a:lnTo>
                <a:lnTo>
                  <a:pt x="427609" y="304965"/>
                </a:lnTo>
                <a:lnTo>
                  <a:pt x="466423" y="283741"/>
                </a:lnTo>
                <a:lnTo>
                  <a:pt x="506641" y="263140"/>
                </a:lnTo>
                <a:lnTo>
                  <a:pt x="548227" y="243179"/>
                </a:lnTo>
                <a:lnTo>
                  <a:pt x="591145" y="223875"/>
                </a:lnTo>
                <a:lnTo>
                  <a:pt x="635360" y="205244"/>
                </a:lnTo>
                <a:lnTo>
                  <a:pt x="680836" y="187304"/>
                </a:lnTo>
                <a:lnTo>
                  <a:pt x="727536" y="170073"/>
                </a:lnTo>
                <a:lnTo>
                  <a:pt x="775427" y="153566"/>
                </a:lnTo>
                <a:lnTo>
                  <a:pt x="824471" y="137803"/>
                </a:lnTo>
                <a:lnTo>
                  <a:pt x="874633" y="122798"/>
                </a:lnTo>
                <a:lnTo>
                  <a:pt x="925877" y="108570"/>
                </a:lnTo>
                <a:lnTo>
                  <a:pt x="978169" y="95136"/>
                </a:lnTo>
                <a:lnTo>
                  <a:pt x="1031471" y="82513"/>
                </a:lnTo>
                <a:lnTo>
                  <a:pt x="1085748" y="70718"/>
                </a:lnTo>
                <a:lnTo>
                  <a:pt x="1140965" y="59768"/>
                </a:lnTo>
                <a:lnTo>
                  <a:pt x="1197086" y="49681"/>
                </a:lnTo>
                <a:lnTo>
                  <a:pt x="1254074" y="40473"/>
                </a:lnTo>
                <a:lnTo>
                  <a:pt x="1311896" y="32161"/>
                </a:lnTo>
                <a:lnTo>
                  <a:pt x="1370514" y="24763"/>
                </a:lnTo>
                <a:lnTo>
                  <a:pt x="1429893" y="18296"/>
                </a:lnTo>
                <a:lnTo>
                  <a:pt x="1489997" y="12777"/>
                </a:lnTo>
                <a:lnTo>
                  <a:pt x="1550791" y="8223"/>
                </a:lnTo>
                <a:lnTo>
                  <a:pt x="1612239" y="4651"/>
                </a:lnTo>
                <a:lnTo>
                  <a:pt x="1674305" y="2078"/>
                </a:lnTo>
                <a:lnTo>
                  <a:pt x="1736953" y="522"/>
                </a:lnTo>
                <a:lnTo>
                  <a:pt x="1800148" y="0"/>
                </a:lnTo>
                <a:lnTo>
                  <a:pt x="1863351" y="522"/>
                </a:lnTo>
                <a:lnTo>
                  <a:pt x="1926007" y="2078"/>
                </a:lnTo>
                <a:lnTo>
                  <a:pt x="1988080" y="4651"/>
                </a:lnTo>
                <a:lnTo>
                  <a:pt x="2049535" y="8223"/>
                </a:lnTo>
                <a:lnTo>
                  <a:pt x="2110335" y="12777"/>
                </a:lnTo>
                <a:lnTo>
                  <a:pt x="2170444" y="18296"/>
                </a:lnTo>
                <a:lnTo>
                  <a:pt x="2229829" y="24763"/>
                </a:lnTo>
                <a:lnTo>
                  <a:pt x="2288452" y="32161"/>
                </a:lnTo>
                <a:lnTo>
                  <a:pt x="2346277" y="40473"/>
                </a:lnTo>
                <a:lnTo>
                  <a:pt x="2403270" y="49681"/>
                </a:lnTo>
                <a:lnTo>
                  <a:pt x="2459395" y="59768"/>
                </a:lnTo>
                <a:lnTo>
                  <a:pt x="2514615" y="70718"/>
                </a:lnTo>
                <a:lnTo>
                  <a:pt x="2568895" y="82513"/>
                </a:lnTo>
                <a:lnTo>
                  <a:pt x="2622200" y="95136"/>
                </a:lnTo>
                <a:lnTo>
                  <a:pt x="2674494" y="108570"/>
                </a:lnTo>
                <a:lnTo>
                  <a:pt x="2725741" y="122798"/>
                </a:lnTo>
                <a:lnTo>
                  <a:pt x="2775905" y="137803"/>
                </a:lnTo>
                <a:lnTo>
                  <a:pt x="2824950" y="153566"/>
                </a:lnTo>
                <a:lnTo>
                  <a:pt x="2872842" y="170073"/>
                </a:lnTo>
                <a:lnTo>
                  <a:pt x="2919544" y="187304"/>
                </a:lnTo>
                <a:lnTo>
                  <a:pt x="2965021" y="205244"/>
                </a:lnTo>
                <a:lnTo>
                  <a:pt x="3009236" y="223875"/>
                </a:lnTo>
                <a:lnTo>
                  <a:pt x="3052155" y="243179"/>
                </a:lnTo>
                <a:lnTo>
                  <a:pt x="3093741" y="263140"/>
                </a:lnTo>
                <a:lnTo>
                  <a:pt x="3133959" y="283741"/>
                </a:lnTo>
                <a:lnTo>
                  <a:pt x="3172774" y="304965"/>
                </a:lnTo>
                <a:lnTo>
                  <a:pt x="3210148" y="326793"/>
                </a:lnTo>
                <a:lnTo>
                  <a:pt x="3246048" y="349210"/>
                </a:lnTo>
                <a:lnTo>
                  <a:pt x="3280436" y="372198"/>
                </a:lnTo>
                <a:lnTo>
                  <a:pt x="3313278" y="395740"/>
                </a:lnTo>
                <a:lnTo>
                  <a:pt x="3344538" y="419819"/>
                </a:lnTo>
                <a:lnTo>
                  <a:pt x="3374180" y="444417"/>
                </a:lnTo>
                <a:lnTo>
                  <a:pt x="3428466" y="495104"/>
                </a:lnTo>
                <a:lnTo>
                  <a:pt x="3475852" y="547665"/>
                </a:lnTo>
                <a:lnTo>
                  <a:pt x="3516053" y="601962"/>
                </a:lnTo>
                <a:lnTo>
                  <a:pt x="3548781" y="657858"/>
                </a:lnTo>
                <a:lnTo>
                  <a:pt x="3573754" y="715216"/>
                </a:lnTo>
                <a:lnTo>
                  <a:pt x="3590683" y="773898"/>
                </a:lnTo>
                <a:lnTo>
                  <a:pt x="3599285" y="833769"/>
                </a:lnTo>
                <a:lnTo>
                  <a:pt x="3600373" y="864107"/>
                </a:lnTo>
                <a:lnTo>
                  <a:pt x="3599285" y="894446"/>
                </a:lnTo>
                <a:lnTo>
                  <a:pt x="3590683" y="954317"/>
                </a:lnTo>
                <a:lnTo>
                  <a:pt x="3573754" y="1012999"/>
                </a:lnTo>
                <a:lnTo>
                  <a:pt x="3548781" y="1070357"/>
                </a:lnTo>
                <a:lnTo>
                  <a:pt x="3516053" y="1126253"/>
                </a:lnTo>
                <a:lnTo>
                  <a:pt x="3475852" y="1180550"/>
                </a:lnTo>
                <a:lnTo>
                  <a:pt x="3428466" y="1233111"/>
                </a:lnTo>
                <a:lnTo>
                  <a:pt x="3374180" y="1283798"/>
                </a:lnTo>
                <a:lnTo>
                  <a:pt x="3344538" y="1308396"/>
                </a:lnTo>
                <a:lnTo>
                  <a:pt x="3313278" y="1332475"/>
                </a:lnTo>
                <a:lnTo>
                  <a:pt x="3280436" y="1356017"/>
                </a:lnTo>
                <a:lnTo>
                  <a:pt x="3246048" y="1379005"/>
                </a:lnTo>
                <a:lnTo>
                  <a:pt x="3210148" y="1401422"/>
                </a:lnTo>
                <a:lnTo>
                  <a:pt x="3172774" y="1423250"/>
                </a:lnTo>
                <a:lnTo>
                  <a:pt x="3133959" y="1444474"/>
                </a:lnTo>
                <a:lnTo>
                  <a:pt x="3093741" y="1465075"/>
                </a:lnTo>
                <a:lnTo>
                  <a:pt x="3052155" y="1485036"/>
                </a:lnTo>
                <a:lnTo>
                  <a:pt x="3009236" y="1504340"/>
                </a:lnTo>
                <a:lnTo>
                  <a:pt x="2965021" y="1522971"/>
                </a:lnTo>
                <a:lnTo>
                  <a:pt x="2919544" y="1540911"/>
                </a:lnTo>
                <a:lnTo>
                  <a:pt x="2872842" y="1558142"/>
                </a:lnTo>
                <a:lnTo>
                  <a:pt x="2824950" y="1574649"/>
                </a:lnTo>
                <a:lnTo>
                  <a:pt x="2775905" y="1590412"/>
                </a:lnTo>
                <a:lnTo>
                  <a:pt x="2725741" y="1605417"/>
                </a:lnTo>
                <a:lnTo>
                  <a:pt x="2674494" y="1619645"/>
                </a:lnTo>
                <a:lnTo>
                  <a:pt x="2622200" y="1633079"/>
                </a:lnTo>
                <a:lnTo>
                  <a:pt x="2568895" y="1645702"/>
                </a:lnTo>
                <a:lnTo>
                  <a:pt x="2514615" y="1657497"/>
                </a:lnTo>
                <a:lnTo>
                  <a:pt x="2459395" y="1668447"/>
                </a:lnTo>
                <a:lnTo>
                  <a:pt x="2403270" y="1678534"/>
                </a:lnTo>
                <a:lnTo>
                  <a:pt x="2346277" y="1687742"/>
                </a:lnTo>
                <a:lnTo>
                  <a:pt x="2288452" y="1696054"/>
                </a:lnTo>
                <a:lnTo>
                  <a:pt x="2229829" y="1703452"/>
                </a:lnTo>
                <a:lnTo>
                  <a:pt x="2170444" y="1709919"/>
                </a:lnTo>
                <a:lnTo>
                  <a:pt x="2110335" y="1715438"/>
                </a:lnTo>
                <a:lnTo>
                  <a:pt x="2049535" y="1719992"/>
                </a:lnTo>
                <a:lnTo>
                  <a:pt x="1988080" y="1723564"/>
                </a:lnTo>
                <a:lnTo>
                  <a:pt x="1926007" y="1726137"/>
                </a:lnTo>
                <a:lnTo>
                  <a:pt x="1863351" y="1727693"/>
                </a:lnTo>
                <a:lnTo>
                  <a:pt x="1800148" y="1728215"/>
                </a:lnTo>
                <a:lnTo>
                  <a:pt x="1736953" y="1727693"/>
                </a:lnTo>
                <a:lnTo>
                  <a:pt x="1674305" y="1726137"/>
                </a:lnTo>
                <a:lnTo>
                  <a:pt x="1612239" y="1723564"/>
                </a:lnTo>
                <a:lnTo>
                  <a:pt x="1550791" y="1719992"/>
                </a:lnTo>
                <a:lnTo>
                  <a:pt x="1489997" y="1715438"/>
                </a:lnTo>
                <a:lnTo>
                  <a:pt x="1429893" y="1709919"/>
                </a:lnTo>
                <a:lnTo>
                  <a:pt x="1370514" y="1703452"/>
                </a:lnTo>
                <a:lnTo>
                  <a:pt x="1311896" y="1696054"/>
                </a:lnTo>
                <a:lnTo>
                  <a:pt x="1254074" y="1687742"/>
                </a:lnTo>
                <a:lnTo>
                  <a:pt x="1197086" y="1678534"/>
                </a:lnTo>
                <a:lnTo>
                  <a:pt x="1140965" y="1668447"/>
                </a:lnTo>
                <a:lnTo>
                  <a:pt x="1085748" y="1657497"/>
                </a:lnTo>
                <a:lnTo>
                  <a:pt x="1031471" y="1645702"/>
                </a:lnTo>
                <a:lnTo>
                  <a:pt x="978169" y="1633079"/>
                </a:lnTo>
                <a:lnTo>
                  <a:pt x="925877" y="1619645"/>
                </a:lnTo>
                <a:lnTo>
                  <a:pt x="874633" y="1605417"/>
                </a:lnTo>
                <a:lnTo>
                  <a:pt x="824471" y="1590412"/>
                </a:lnTo>
                <a:lnTo>
                  <a:pt x="775427" y="1574649"/>
                </a:lnTo>
                <a:lnTo>
                  <a:pt x="727536" y="1558142"/>
                </a:lnTo>
                <a:lnTo>
                  <a:pt x="680836" y="1540911"/>
                </a:lnTo>
                <a:lnTo>
                  <a:pt x="635360" y="1522971"/>
                </a:lnTo>
                <a:lnTo>
                  <a:pt x="591145" y="1504340"/>
                </a:lnTo>
                <a:lnTo>
                  <a:pt x="548227" y="1485036"/>
                </a:lnTo>
                <a:lnTo>
                  <a:pt x="506641" y="1465075"/>
                </a:lnTo>
                <a:lnTo>
                  <a:pt x="466423" y="1444474"/>
                </a:lnTo>
                <a:lnTo>
                  <a:pt x="427609" y="1423250"/>
                </a:lnTo>
                <a:lnTo>
                  <a:pt x="390234" y="1401422"/>
                </a:lnTo>
                <a:lnTo>
                  <a:pt x="354335" y="1379005"/>
                </a:lnTo>
                <a:lnTo>
                  <a:pt x="319946" y="1356017"/>
                </a:lnTo>
                <a:lnTo>
                  <a:pt x="287104" y="1332475"/>
                </a:lnTo>
                <a:lnTo>
                  <a:pt x="255843" y="1308396"/>
                </a:lnTo>
                <a:lnTo>
                  <a:pt x="226201" y="1283798"/>
                </a:lnTo>
                <a:lnTo>
                  <a:pt x="171914" y="1233111"/>
                </a:lnTo>
                <a:lnTo>
                  <a:pt x="124526" y="1180550"/>
                </a:lnTo>
                <a:lnTo>
                  <a:pt x="84324" y="1126253"/>
                </a:lnTo>
                <a:lnTo>
                  <a:pt x="51594" y="1070357"/>
                </a:lnTo>
                <a:lnTo>
                  <a:pt x="26621" y="1012999"/>
                </a:lnTo>
                <a:lnTo>
                  <a:pt x="9690" y="954317"/>
                </a:lnTo>
                <a:lnTo>
                  <a:pt x="1088" y="894446"/>
                </a:lnTo>
                <a:lnTo>
                  <a:pt x="0" y="864107"/>
                </a:lnTo>
                <a:close/>
              </a:path>
            </a:pathLst>
          </a:custGeom>
          <a:ln w="28575">
            <a:solidFill>
              <a:srgbClr val="4454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6833" y="3927475"/>
            <a:ext cx="1938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Palatino Linotype"/>
                <a:cs typeface="Palatino Linotype"/>
              </a:rPr>
              <a:t>Dynamic</a:t>
            </a:r>
            <a:r>
              <a:rPr sz="1800" spc="-5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Palatino Linotype"/>
                <a:cs typeface="Palatino Linotype"/>
              </a:rPr>
              <a:t>language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3201" y="4476369"/>
            <a:ext cx="2148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Palatino Linotype"/>
                <a:cs typeface="Palatino Linotype"/>
              </a:rPr>
              <a:t>Track</a:t>
            </a:r>
            <a:r>
              <a:rPr sz="1800" spc="-95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FFFFF"/>
                </a:solidFill>
                <a:latin typeface="Palatino Linotype"/>
                <a:cs typeface="Palatino Linotype"/>
              </a:rPr>
              <a:t>variables</a:t>
            </a:r>
            <a:r>
              <a:rPr sz="1800" spc="-9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Palatino Linotype"/>
                <a:cs typeface="Palatino Linotype"/>
              </a:rPr>
              <a:t>types</a:t>
            </a:r>
            <a:endParaRPr sz="1800">
              <a:latin typeface="Palatino Linotype"/>
              <a:cs typeface="Palatino Linotyp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81865" y="3738689"/>
            <a:ext cx="2534285" cy="1252855"/>
            <a:chOff x="5781865" y="3738689"/>
            <a:chExt cx="2534285" cy="1252855"/>
          </a:xfrm>
        </p:grpSpPr>
        <p:sp>
          <p:nvSpPr>
            <p:cNvPr id="14" name="object 14"/>
            <p:cNvSpPr/>
            <p:nvPr/>
          </p:nvSpPr>
          <p:spPr>
            <a:xfrm>
              <a:off x="5796153" y="3752977"/>
              <a:ext cx="2505710" cy="1224280"/>
            </a:xfrm>
            <a:custGeom>
              <a:avLst/>
              <a:gdLst/>
              <a:ahLst/>
              <a:cxnLst/>
              <a:rect l="l" t="t" r="r" b="b"/>
              <a:pathLst>
                <a:path w="2505709" h="1224279">
                  <a:moveTo>
                    <a:pt x="1252727" y="0"/>
                  </a:moveTo>
                  <a:lnTo>
                    <a:pt x="1190201" y="749"/>
                  </a:lnTo>
                  <a:lnTo>
                    <a:pt x="1128468" y="2973"/>
                  </a:lnTo>
                  <a:lnTo>
                    <a:pt x="1067601" y="6637"/>
                  </a:lnTo>
                  <a:lnTo>
                    <a:pt x="1007671" y="11705"/>
                  </a:lnTo>
                  <a:lnTo>
                    <a:pt x="948751" y="18144"/>
                  </a:lnTo>
                  <a:lnTo>
                    <a:pt x="890911" y="25917"/>
                  </a:lnTo>
                  <a:lnTo>
                    <a:pt x="834224" y="34990"/>
                  </a:lnTo>
                  <a:lnTo>
                    <a:pt x="778761" y="45327"/>
                  </a:lnTo>
                  <a:lnTo>
                    <a:pt x="724595" y="56894"/>
                  </a:lnTo>
                  <a:lnTo>
                    <a:pt x="671796" y="69655"/>
                  </a:lnTo>
                  <a:lnTo>
                    <a:pt x="620437" y="83575"/>
                  </a:lnTo>
                  <a:lnTo>
                    <a:pt x="570589" y="98619"/>
                  </a:lnTo>
                  <a:lnTo>
                    <a:pt x="522325" y="114753"/>
                  </a:lnTo>
                  <a:lnTo>
                    <a:pt x="475715" y="131941"/>
                  </a:lnTo>
                  <a:lnTo>
                    <a:pt x="430832" y="150148"/>
                  </a:lnTo>
                  <a:lnTo>
                    <a:pt x="387748" y="169338"/>
                  </a:lnTo>
                  <a:lnTo>
                    <a:pt x="346534" y="189478"/>
                  </a:lnTo>
                  <a:lnTo>
                    <a:pt x="307261" y="210531"/>
                  </a:lnTo>
                  <a:lnTo>
                    <a:pt x="270003" y="232463"/>
                  </a:lnTo>
                  <a:lnTo>
                    <a:pt x="234829" y="255239"/>
                  </a:lnTo>
                  <a:lnTo>
                    <a:pt x="201813" y="278824"/>
                  </a:lnTo>
                  <a:lnTo>
                    <a:pt x="171026" y="303181"/>
                  </a:lnTo>
                  <a:lnTo>
                    <a:pt x="116426" y="354077"/>
                  </a:lnTo>
                  <a:lnTo>
                    <a:pt x="71602" y="407647"/>
                  </a:lnTo>
                  <a:lnTo>
                    <a:pt x="37129" y="463608"/>
                  </a:lnTo>
                  <a:lnTo>
                    <a:pt x="13582" y="521682"/>
                  </a:lnTo>
                  <a:lnTo>
                    <a:pt x="1533" y="581588"/>
                  </a:lnTo>
                  <a:lnTo>
                    <a:pt x="0" y="612140"/>
                  </a:lnTo>
                  <a:lnTo>
                    <a:pt x="1533" y="642691"/>
                  </a:lnTo>
                  <a:lnTo>
                    <a:pt x="13582" y="702594"/>
                  </a:lnTo>
                  <a:lnTo>
                    <a:pt x="37129" y="760663"/>
                  </a:lnTo>
                  <a:lnTo>
                    <a:pt x="71602" y="816618"/>
                  </a:lnTo>
                  <a:lnTo>
                    <a:pt x="116426" y="870178"/>
                  </a:lnTo>
                  <a:lnTo>
                    <a:pt x="171026" y="921065"/>
                  </a:lnTo>
                  <a:lnTo>
                    <a:pt x="201813" y="945417"/>
                  </a:lnTo>
                  <a:lnTo>
                    <a:pt x="234829" y="968996"/>
                  </a:lnTo>
                  <a:lnTo>
                    <a:pt x="270003" y="991766"/>
                  </a:lnTo>
                  <a:lnTo>
                    <a:pt x="307261" y="1013693"/>
                  </a:lnTo>
                  <a:lnTo>
                    <a:pt x="346534" y="1034740"/>
                  </a:lnTo>
                  <a:lnTo>
                    <a:pt x="387748" y="1054874"/>
                  </a:lnTo>
                  <a:lnTo>
                    <a:pt x="430832" y="1074059"/>
                  </a:lnTo>
                  <a:lnTo>
                    <a:pt x="475715" y="1092260"/>
                  </a:lnTo>
                  <a:lnTo>
                    <a:pt x="522325" y="1109442"/>
                  </a:lnTo>
                  <a:lnTo>
                    <a:pt x="570589" y="1125571"/>
                  </a:lnTo>
                  <a:lnTo>
                    <a:pt x="620437" y="1140610"/>
                  </a:lnTo>
                  <a:lnTo>
                    <a:pt x="671796" y="1154525"/>
                  </a:lnTo>
                  <a:lnTo>
                    <a:pt x="724595" y="1167282"/>
                  </a:lnTo>
                  <a:lnTo>
                    <a:pt x="778761" y="1178844"/>
                  </a:lnTo>
                  <a:lnTo>
                    <a:pt x="834224" y="1189177"/>
                  </a:lnTo>
                  <a:lnTo>
                    <a:pt x="890911" y="1198246"/>
                  </a:lnTo>
                  <a:lnTo>
                    <a:pt x="948751" y="1206016"/>
                  </a:lnTo>
                  <a:lnTo>
                    <a:pt x="1007671" y="1212452"/>
                  </a:lnTo>
                  <a:lnTo>
                    <a:pt x="1067601" y="1217518"/>
                  </a:lnTo>
                  <a:lnTo>
                    <a:pt x="1128468" y="1221181"/>
                  </a:lnTo>
                  <a:lnTo>
                    <a:pt x="1190201" y="1223404"/>
                  </a:lnTo>
                  <a:lnTo>
                    <a:pt x="1252727" y="1224153"/>
                  </a:lnTo>
                  <a:lnTo>
                    <a:pt x="1315243" y="1223404"/>
                  </a:lnTo>
                  <a:lnTo>
                    <a:pt x="1376965" y="1221181"/>
                  </a:lnTo>
                  <a:lnTo>
                    <a:pt x="1437822" y="1217518"/>
                  </a:lnTo>
                  <a:lnTo>
                    <a:pt x="1497743" y="1212452"/>
                  </a:lnTo>
                  <a:lnTo>
                    <a:pt x="1556655" y="1206016"/>
                  </a:lnTo>
                  <a:lnTo>
                    <a:pt x="1614487" y="1198246"/>
                  </a:lnTo>
                  <a:lnTo>
                    <a:pt x="1671166" y="1189177"/>
                  </a:lnTo>
                  <a:lnTo>
                    <a:pt x="1726622" y="1178844"/>
                  </a:lnTo>
                  <a:lnTo>
                    <a:pt x="1780782" y="1167282"/>
                  </a:lnTo>
                  <a:lnTo>
                    <a:pt x="1833575" y="1154525"/>
                  </a:lnTo>
                  <a:lnTo>
                    <a:pt x="1884929" y="1140610"/>
                  </a:lnTo>
                  <a:lnTo>
                    <a:pt x="1934772" y="1125571"/>
                  </a:lnTo>
                  <a:lnTo>
                    <a:pt x="1983032" y="1109442"/>
                  </a:lnTo>
                  <a:lnTo>
                    <a:pt x="2029637" y="1092260"/>
                  </a:lnTo>
                  <a:lnTo>
                    <a:pt x="2074516" y="1074059"/>
                  </a:lnTo>
                  <a:lnTo>
                    <a:pt x="2117597" y="1054874"/>
                  </a:lnTo>
                  <a:lnTo>
                    <a:pt x="2158809" y="1034740"/>
                  </a:lnTo>
                  <a:lnTo>
                    <a:pt x="2198079" y="1013693"/>
                  </a:lnTo>
                  <a:lnTo>
                    <a:pt x="2235335" y="991766"/>
                  </a:lnTo>
                  <a:lnTo>
                    <a:pt x="2270506" y="968996"/>
                  </a:lnTo>
                  <a:lnTo>
                    <a:pt x="2303521" y="945417"/>
                  </a:lnTo>
                  <a:lnTo>
                    <a:pt x="2334307" y="921065"/>
                  </a:lnTo>
                  <a:lnTo>
                    <a:pt x="2388905" y="870178"/>
                  </a:lnTo>
                  <a:lnTo>
                    <a:pt x="2433727" y="816618"/>
                  </a:lnTo>
                  <a:lnTo>
                    <a:pt x="2468199" y="760663"/>
                  </a:lnTo>
                  <a:lnTo>
                    <a:pt x="2491747" y="702594"/>
                  </a:lnTo>
                  <a:lnTo>
                    <a:pt x="2503795" y="642691"/>
                  </a:lnTo>
                  <a:lnTo>
                    <a:pt x="2505329" y="612140"/>
                  </a:lnTo>
                  <a:lnTo>
                    <a:pt x="2503795" y="581588"/>
                  </a:lnTo>
                  <a:lnTo>
                    <a:pt x="2491747" y="521682"/>
                  </a:lnTo>
                  <a:lnTo>
                    <a:pt x="2468199" y="463608"/>
                  </a:lnTo>
                  <a:lnTo>
                    <a:pt x="2433727" y="407647"/>
                  </a:lnTo>
                  <a:lnTo>
                    <a:pt x="2388905" y="354077"/>
                  </a:lnTo>
                  <a:lnTo>
                    <a:pt x="2334307" y="303181"/>
                  </a:lnTo>
                  <a:lnTo>
                    <a:pt x="2303521" y="278824"/>
                  </a:lnTo>
                  <a:lnTo>
                    <a:pt x="2270506" y="255239"/>
                  </a:lnTo>
                  <a:lnTo>
                    <a:pt x="2235335" y="232463"/>
                  </a:lnTo>
                  <a:lnTo>
                    <a:pt x="2198079" y="210531"/>
                  </a:lnTo>
                  <a:lnTo>
                    <a:pt x="2158809" y="189478"/>
                  </a:lnTo>
                  <a:lnTo>
                    <a:pt x="2117597" y="169338"/>
                  </a:lnTo>
                  <a:lnTo>
                    <a:pt x="2074516" y="150148"/>
                  </a:lnTo>
                  <a:lnTo>
                    <a:pt x="2029637" y="131941"/>
                  </a:lnTo>
                  <a:lnTo>
                    <a:pt x="1983032" y="114753"/>
                  </a:lnTo>
                  <a:lnTo>
                    <a:pt x="1934772" y="98619"/>
                  </a:lnTo>
                  <a:lnTo>
                    <a:pt x="1884929" y="83575"/>
                  </a:lnTo>
                  <a:lnTo>
                    <a:pt x="1833575" y="69655"/>
                  </a:lnTo>
                  <a:lnTo>
                    <a:pt x="1780782" y="56894"/>
                  </a:lnTo>
                  <a:lnTo>
                    <a:pt x="1726622" y="45327"/>
                  </a:lnTo>
                  <a:lnTo>
                    <a:pt x="1671166" y="34990"/>
                  </a:lnTo>
                  <a:lnTo>
                    <a:pt x="1614487" y="25917"/>
                  </a:lnTo>
                  <a:lnTo>
                    <a:pt x="1556655" y="18144"/>
                  </a:lnTo>
                  <a:lnTo>
                    <a:pt x="1497743" y="11705"/>
                  </a:lnTo>
                  <a:lnTo>
                    <a:pt x="1437822" y="6637"/>
                  </a:lnTo>
                  <a:lnTo>
                    <a:pt x="1376965" y="2973"/>
                  </a:lnTo>
                  <a:lnTo>
                    <a:pt x="1315243" y="749"/>
                  </a:lnTo>
                  <a:lnTo>
                    <a:pt x="1252727" y="0"/>
                  </a:lnTo>
                  <a:close/>
                </a:path>
              </a:pathLst>
            </a:custGeom>
            <a:solidFill>
              <a:srgbClr val="5F76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96153" y="3752977"/>
              <a:ext cx="2505710" cy="1224280"/>
            </a:xfrm>
            <a:custGeom>
              <a:avLst/>
              <a:gdLst/>
              <a:ahLst/>
              <a:cxnLst/>
              <a:rect l="l" t="t" r="r" b="b"/>
              <a:pathLst>
                <a:path w="2505709" h="1224279">
                  <a:moveTo>
                    <a:pt x="0" y="612140"/>
                  </a:moveTo>
                  <a:lnTo>
                    <a:pt x="6084" y="551424"/>
                  </a:lnTo>
                  <a:lnTo>
                    <a:pt x="23954" y="492399"/>
                  </a:lnTo>
                  <a:lnTo>
                    <a:pt x="53036" y="435346"/>
                  </a:lnTo>
                  <a:lnTo>
                    <a:pt x="92756" y="380545"/>
                  </a:lnTo>
                  <a:lnTo>
                    <a:pt x="142540" y="328278"/>
                  </a:lnTo>
                  <a:lnTo>
                    <a:pt x="201813" y="278824"/>
                  </a:lnTo>
                  <a:lnTo>
                    <a:pt x="234829" y="255239"/>
                  </a:lnTo>
                  <a:lnTo>
                    <a:pt x="270003" y="232463"/>
                  </a:lnTo>
                  <a:lnTo>
                    <a:pt x="307261" y="210531"/>
                  </a:lnTo>
                  <a:lnTo>
                    <a:pt x="346534" y="189478"/>
                  </a:lnTo>
                  <a:lnTo>
                    <a:pt x="387748" y="169338"/>
                  </a:lnTo>
                  <a:lnTo>
                    <a:pt x="430832" y="150148"/>
                  </a:lnTo>
                  <a:lnTo>
                    <a:pt x="475715" y="131941"/>
                  </a:lnTo>
                  <a:lnTo>
                    <a:pt x="522325" y="114753"/>
                  </a:lnTo>
                  <a:lnTo>
                    <a:pt x="570589" y="98619"/>
                  </a:lnTo>
                  <a:lnTo>
                    <a:pt x="620437" y="83575"/>
                  </a:lnTo>
                  <a:lnTo>
                    <a:pt x="671796" y="69655"/>
                  </a:lnTo>
                  <a:lnTo>
                    <a:pt x="724595" y="56894"/>
                  </a:lnTo>
                  <a:lnTo>
                    <a:pt x="778761" y="45327"/>
                  </a:lnTo>
                  <a:lnTo>
                    <a:pt x="834224" y="34990"/>
                  </a:lnTo>
                  <a:lnTo>
                    <a:pt x="890911" y="25917"/>
                  </a:lnTo>
                  <a:lnTo>
                    <a:pt x="948751" y="18144"/>
                  </a:lnTo>
                  <a:lnTo>
                    <a:pt x="1007671" y="11705"/>
                  </a:lnTo>
                  <a:lnTo>
                    <a:pt x="1067601" y="6637"/>
                  </a:lnTo>
                  <a:lnTo>
                    <a:pt x="1128468" y="2973"/>
                  </a:lnTo>
                  <a:lnTo>
                    <a:pt x="1190201" y="749"/>
                  </a:lnTo>
                  <a:lnTo>
                    <a:pt x="1252727" y="0"/>
                  </a:lnTo>
                  <a:lnTo>
                    <a:pt x="1315243" y="749"/>
                  </a:lnTo>
                  <a:lnTo>
                    <a:pt x="1376965" y="2973"/>
                  </a:lnTo>
                  <a:lnTo>
                    <a:pt x="1437822" y="6637"/>
                  </a:lnTo>
                  <a:lnTo>
                    <a:pt x="1497743" y="11705"/>
                  </a:lnTo>
                  <a:lnTo>
                    <a:pt x="1556655" y="18144"/>
                  </a:lnTo>
                  <a:lnTo>
                    <a:pt x="1614487" y="25917"/>
                  </a:lnTo>
                  <a:lnTo>
                    <a:pt x="1671166" y="34990"/>
                  </a:lnTo>
                  <a:lnTo>
                    <a:pt x="1726622" y="45327"/>
                  </a:lnTo>
                  <a:lnTo>
                    <a:pt x="1780782" y="56894"/>
                  </a:lnTo>
                  <a:lnTo>
                    <a:pt x="1833575" y="69655"/>
                  </a:lnTo>
                  <a:lnTo>
                    <a:pt x="1884929" y="83575"/>
                  </a:lnTo>
                  <a:lnTo>
                    <a:pt x="1934772" y="98619"/>
                  </a:lnTo>
                  <a:lnTo>
                    <a:pt x="1983032" y="114753"/>
                  </a:lnTo>
                  <a:lnTo>
                    <a:pt x="2029637" y="131941"/>
                  </a:lnTo>
                  <a:lnTo>
                    <a:pt x="2074516" y="150148"/>
                  </a:lnTo>
                  <a:lnTo>
                    <a:pt x="2117597" y="169338"/>
                  </a:lnTo>
                  <a:lnTo>
                    <a:pt x="2158809" y="189478"/>
                  </a:lnTo>
                  <a:lnTo>
                    <a:pt x="2198079" y="210531"/>
                  </a:lnTo>
                  <a:lnTo>
                    <a:pt x="2235335" y="232463"/>
                  </a:lnTo>
                  <a:lnTo>
                    <a:pt x="2270506" y="255239"/>
                  </a:lnTo>
                  <a:lnTo>
                    <a:pt x="2303521" y="278824"/>
                  </a:lnTo>
                  <a:lnTo>
                    <a:pt x="2334307" y="303181"/>
                  </a:lnTo>
                  <a:lnTo>
                    <a:pt x="2388905" y="354077"/>
                  </a:lnTo>
                  <a:lnTo>
                    <a:pt x="2433727" y="407647"/>
                  </a:lnTo>
                  <a:lnTo>
                    <a:pt x="2468199" y="463608"/>
                  </a:lnTo>
                  <a:lnTo>
                    <a:pt x="2491747" y="521682"/>
                  </a:lnTo>
                  <a:lnTo>
                    <a:pt x="2503795" y="581588"/>
                  </a:lnTo>
                  <a:lnTo>
                    <a:pt x="2505329" y="612140"/>
                  </a:lnTo>
                  <a:lnTo>
                    <a:pt x="2503795" y="642691"/>
                  </a:lnTo>
                  <a:lnTo>
                    <a:pt x="2491747" y="702594"/>
                  </a:lnTo>
                  <a:lnTo>
                    <a:pt x="2468199" y="760663"/>
                  </a:lnTo>
                  <a:lnTo>
                    <a:pt x="2433727" y="816618"/>
                  </a:lnTo>
                  <a:lnTo>
                    <a:pt x="2388905" y="870178"/>
                  </a:lnTo>
                  <a:lnTo>
                    <a:pt x="2334307" y="921065"/>
                  </a:lnTo>
                  <a:lnTo>
                    <a:pt x="2303521" y="945417"/>
                  </a:lnTo>
                  <a:lnTo>
                    <a:pt x="2270506" y="968996"/>
                  </a:lnTo>
                  <a:lnTo>
                    <a:pt x="2235335" y="991766"/>
                  </a:lnTo>
                  <a:lnTo>
                    <a:pt x="2198079" y="1013693"/>
                  </a:lnTo>
                  <a:lnTo>
                    <a:pt x="2158809" y="1034740"/>
                  </a:lnTo>
                  <a:lnTo>
                    <a:pt x="2117597" y="1054874"/>
                  </a:lnTo>
                  <a:lnTo>
                    <a:pt x="2074516" y="1074059"/>
                  </a:lnTo>
                  <a:lnTo>
                    <a:pt x="2029637" y="1092260"/>
                  </a:lnTo>
                  <a:lnTo>
                    <a:pt x="1983032" y="1109442"/>
                  </a:lnTo>
                  <a:lnTo>
                    <a:pt x="1934772" y="1125571"/>
                  </a:lnTo>
                  <a:lnTo>
                    <a:pt x="1884929" y="1140610"/>
                  </a:lnTo>
                  <a:lnTo>
                    <a:pt x="1833575" y="1154525"/>
                  </a:lnTo>
                  <a:lnTo>
                    <a:pt x="1780782" y="1167282"/>
                  </a:lnTo>
                  <a:lnTo>
                    <a:pt x="1726622" y="1178844"/>
                  </a:lnTo>
                  <a:lnTo>
                    <a:pt x="1671166" y="1189177"/>
                  </a:lnTo>
                  <a:lnTo>
                    <a:pt x="1614487" y="1198246"/>
                  </a:lnTo>
                  <a:lnTo>
                    <a:pt x="1556655" y="1206016"/>
                  </a:lnTo>
                  <a:lnTo>
                    <a:pt x="1497743" y="1212452"/>
                  </a:lnTo>
                  <a:lnTo>
                    <a:pt x="1437822" y="1217518"/>
                  </a:lnTo>
                  <a:lnTo>
                    <a:pt x="1376965" y="1221181"/>
                  </a:lnTo>
                  <a:lnTo>
                    <a:pt x="1315243" y="1223404"/>
                  </a:lnTo>
                  <a:lnTo>
                    <a:pt x="1252727" y="1224153"/>
                  </a:lnTo>
                  <a:lnTo>
                    <a:pt x="1190201" y="1223404"/>
                  </a:lnTo>
                  <a:lnTo>
                    <a:pt x="1128468" y="1221181"/>
                  </a:lnTo>
                  <a:lnTo>
                    <a:pt x="1067601" y="1217518"/>
                  </a:lnTo>
                  <a:lnTo>
                    <a:pt x="1007671" y="1212452"/>
                  </a:lnTo>
                  <a:lnTo>
                    <a:pt x="948751" y="1206016"/>
                  </a:lnTo>
                  <a:lnTo>
                    <a:pt x="890911" y="1198246"/>
                  </a:lnTo>
                  <a:lnTo>
                    <a:pt x="834224" y="1189177"/>
                  </a:lnTo>
                  <a:lnTo>
                    <a:pt x="778761" y="1178844"/>
                  </a:lnTo>
                  <a:lnTo>
                    <a:pt x="724595" y="1167282"/>
                  </a:lnTo>
                  <a:lnTo>
                    <a:pt x="671796" y="1154525"/>
                  </a:lnTo>
                  <a:lnTo>
                    <a:pt x="620437" y="1140610"/>
                  </a:lnTo>
                  <a:lnTo>
                    <a:pt x="570589" y="1125571"/>
                  </a:lnTo>
                  <a:lnTo>
                    <a:pt x="522325" y="1109442"/>
                  </a:lnTo>
                  <a:lnTo>
                    <a:pt x="475715" y="1092260"/>
                  </a:lnTo>
                  <a:lnTo>
                    <a:pt x="430832" y="1074059"/>
                  </a:lnTo>
                  <a:lnTo>
                    <a:pt x="387748" y="1054874"/>
                  </a:lnTo>
                  <a:lnTo>
                    <a:pt x="346534" y="1034740"/>
                  </a:lnTo>
                  <a:lnTo>
                    <a:pt x="307261" y="1013693"/>
                  </a:lnTo>
                  <a:lnTo>
                    <a:pt x="270003" y="991766"/>
                  </a:lnTo>
                  <a:lnTo>
                    <a:pt x="234829" y="968996"/>
                  </a:lnTo>
                  <a:lnTo>
                    <a:pt x="201813" y="945417"/>
                  </a:lnTo>
                  <a:lnTo>
                    <a:pt x="171026" y="921065"/>
                  </a:lnTo>
                  <a:lnTo>
                    <a:pt x="116426" y="870178"/>
                  </a:lnTo>
                  <a:lnTo>
                    <a:pt x="71602" y="816618"/>
                  </a:lnTo>
                  <a:lnTo>
                    <a:pt x="37129" y="760663"/>
                  </a:lnTo>
                  <a:lnTo>
                    <a:pt x="13582" y="702594"/>
                  </a:lnTo>
                  <a:lnTo>
                    <a:pt x="1533" y="642691"/>
                  </a:lnTo>
                  <a:lnTo>
                    <a:pt x="0" y="612140"/>
                  </a:lnTo>
                  <a:close/>
                </a:path>
              </a:pathLst>
            </a:custGeom>
            <a:ln w="28574">
              <a:solidFill>
                <a:srgbClr val="4454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287261" y="4201744"/>
            <a:ext cx="1525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Palatino Linotype"/>
                <a:cs typeface="Palatino Linotype"/>
              </a:rPr>
              <a:t>Polymorphism</a:t>
            </a:r>
            <a:endParaRPr sz="1800">
              <a:latin typeface="Palatino Linotype"/>
              <a:cs typeface="Palatino Linotyp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0" y="4114800"/>
            <a:ext cx="1496695" cy="546100"/>
            <a:chOff x="4572000" y="4114800"/>
            <a:chExt cx="1496695" cy="54610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0" y="4114800"/>
              <a:ext cx="1496568" cy="54559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17719" y="4250977"/>
              <a:ext cx="1178560" cy="228600"/>
            </a:xfrm>
            <a:custGeom>
              <a:avLst/>
              <a:gdLst/>
              <a:ahLst/>
              <a:cxnLst/>
              <a:rect l="l" t="t" r="r" b="b"/>
              <a:pathLst>
                <a:path w="1178560" h="228600">
                  <a:moveTo>
                    <a:pt x="1077649" y="114139"/>
                  </a:moveTo>
                  <a:lnTo>
                    <a:pt x="962913" y="181068"/>
                  </a:lnTo>
                  <a:lnTo>
                    <a:pt x="955395" y="187791"/>
                  </a:lnTo>
                  <a:lnTo>
                    <a:pt x="951150" y="196562"/>
                  </a:lnTo>
                  <a:lnTo>
                    <a:pt x="950501" y="206285"/>
                  </a:lnTo>
                  <a:lnTo>
                    <a:pt x="953769" y="215866"/>
                  </a:lnTo>
                  <a:lnTo>
                    <a:pt x="960493" y="223367"/>
                  </a:lnTo>
                  <a:lnTo>
                    <a:pt x="969263" y="227582"/>
                  </a:lnTo>
                  <a:lnTo>
                    <a:pt x="978987" y="228224"/>
                  </a:lnTo>
                  <a:lnTo>
                    <a:pt x="988567" y="225010"/>
                  </a:lnTo>
                  <a:lnTo>
                    <a:pt x="1135033" y="139539"/>
                  </a:lnTo>
                  <a:lnTo>
                    <a:pt x="1128140" y="139539"/>
                  </a:lnTo>
                  <a:lnTo>
                    <a:pt x="1128140" y="136110"/>
                  </a:lnTo>
                  <a:lnTo>
                    <a:pt x="1115314" y="136110"/>
                  </a:lnTo>
                  <a:lnTo>
                    <a:pt x="1077649" y="114139"/>
                  </a:lnTo>
                  <a:close/>
                </a:path>
                <a:path w="1178560" h="228600">
                  <a:moveTo>
                    <a:pt x="1034106" y="88739"/>
                  </a:moveTo>
                  <a:lnTo>
                    <a:pt x="0" y="88739"/>
                  </a:lnTo>
                  <a:lnTo>
                    <a:pt x="0" y="139539"/>
                  </a:lnTo>
                  <a:lnTo>
                    <a:pt x="1034106" y="139539"/>
                  </a:lnTo>
                  <a:lnTo>
                    <a:pt x="1077649" y="114139"/>
                  </a:lnTo>
                  <a:lnTo>
                    <a:pt x="1034106" y="88739"/>
                  </a:lnTo>
                  <a:close/>
                </a:path>
                <a:path w="1178560" h="228600">
                  <a:moveTo>
                    <a:pt x="1135033" y="88739"/>
                  </a:moveTo>
                  <a:lnTo>
                    <a:pt x="1128140" y="88739"/>
                  </a:lnTo>
                  <a:lnTo>
                    <a:pt x="1128140" y="139539"/>
                  </a:lnTo>
                  <a:lnTo>
                    <a:pt x="1135033" y="139539"/>
                  </a:lnTo>
                  <a:lnTo>
                    <a:pt x="1178559" y="114139"/>
                  </a:lnTo>
                  <a:lnTo>
                    <a:pt x="1135033" y="88739"/>
                  </a:lnTo>
                  <a:close/>
                </a:path>
                <a:path w="1178560" h="228600">
                  <a:moveTo>
                    <a:pt x="1115314" y="92168"/>
                  </a:moveTo>
                  <a:lnTo>
                    <a:pt x="1077649" y="114139"/>
                  </a:lnTo>
                  <a:lnTo>
                    <a:pt x="1115314" y="136110"/>
                  </a:lnTo>
                  <a:lnTo>
                    <a:pt x="1115314" y="92168"/>
                  </a:lnTo>
                  <a:close/>
                </a:path>
                <a:path w="1178560" h="228600">
                  <a:moveTo>
                    <a:pt x="1128140" y="92168"/>
                  </a:moveTo>
                  <a:lnTo>
                    <a:pt x="1115314" y="92168"/>
                  </a:lnTo>
                  <a:lnTo>
                    <a:pt x="1115314" y="136110"/>
                  </a:lnTo>
                  <a:lnTo>
                    <a:pt x="1128140" y="136110"/>
                  </a:lnTo>
                  <a:lnTo>
                    <a:pt x="1128140" y="92168"/>
                  </a:lnTo>
                  <a:close/>
                </a:path>
                <a:path w="1178560" h="228600">
                  <a:moveTo>
                    <a:pt x="978987" y="0"/>
                  </a:moveTo>
                  <a:lnTo>
                    <a:pt x="969263" y="648"/>
                  </a:lnTo>
                  <a:lnTo>
                    <a:pt x="960493" y="4893"/>
                  </a:lnTo>
                  <a:lnTo>
                    <a:pt x="953769" y="12412"/>
                  </a:lnTo>
                  <a:lnTo>
                    <a:pt x="950501" y="21992"/>
                  </a:lnTo>
                  <a:lnTo>
                    <a:pt x="951150" y="31716"/>
                  </a:lnTo>
                  <a:lnTo>
                    <a:pt x="955395" y="40487"/>
                  </a:lnTo>
                  <a:lnTo>
                    <a:pt x="962913" y="47210"/>
                  </a:lnTo>
                  <a:lnTo>
                    <a:pt x="1077649" y="114139"/>
                  </a:lnTo>
                  <a:lnTo>
                    <a:pt x="1115314" y="92168"/>
                  </a:lnTo>
                  <a:lnTo>
                    <a:pt x="1128140" y="92168"/>
                  </a:lnTo>
                  <a:lnTo>
                    <a:pt x="1128140" y="88739"/>
                  </a:lnTo>
                  <a:lnTo>
                    <a:pt x="1135033" y="88739"/>
                  </a:lnTo>
                  <a:lnTo>
                    <a:pt x="988567" y="3268"/>
                  </a:lnTo>
                  <a:lnTo>
                    <a:pt x="978987" y="0"/>
                  </a:lnTo>
                  <a:close/>
                </a:path>
              </a:pathLst>
            </a:custGeom>
            <a:solidFill>
              <a:srgbClr val="75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5384" y="420624"/>
              <a:ext cx="7885176" cy="9326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3631" y="420624"/>
              <a:ext cx="1039368" cy="93268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75233" y="519506"/>
            <a:ext cx="781939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Everywhere</a:t>
            </a:r>
            <a:r>
              <a:rPr sz="3200" spc="-100" dirty="0"/>
              <a:t> </a:t>
            </a:r>
            <a:r>
              <a:rPr sz="3200" dirty="0"/>
              <a:t>is</a:t>
            </a:r>
            <a:r>
              <a:rPr sz="3200" spc="-105" dirty="0"/>
              <a:t> </a:t>
            </a:r>
            <a:r>
              <a:rPr sz="3200" dirty="0"/>
              <a:t>polymorphism</a:t>
            </a:r>
            <a:r>
              <a:rPr sz="3200" spc="-80" dirty="0"/>
              <a:t> </a:t>
            </a:r>
            <a:r>
              <a:rPr sz="3200" dirty="0"/>
              <a:t>in</a:t>
            </a:r>
            <a:r>
              <a:rPr sz="3200" spc="-105" dirty="0"/>
              <a:t> </a:t>
            </a:r>
            <a:r>
              <a:rPr sz="3200" dirty="0"/>
              <a:t>Python</a:t>
            </a:r>
            <a:r>
              <a:rPr sz="3200" spc="-25" dirty="0"/>
              <a:t> (2)</a:t>
            </a:r>
            <a:endParaRPr sz="3200"/>
          </a:p>
        </p:txBody>
      </p:sp>
      <p:sp>
        <p:nvSpPr>
          <p:cNvPr id="9" name="object 9"/>
          <p:cNvSpPr txBox="1"/>
          <p:nvPr/>
        </p:nvSpPr>
        <p:spPr>
          <a:xfrm>
            <a:off x="536244" y="1316482"/>
            <a:ext cx="7275195" cy="7213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6870" marR="5080" indent="-34480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So,</a:t>
            </a:r>
            <a:r>
              <a:rPr sz="2400" spc="-7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Python,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many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operators</a:t>
            </a:r>
            <a:r>
              <a:rPr sz="2400" spc="-10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have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the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property</a:t>
            </a:r>
            <a:r>
              <a:rPr sz="2400" spc="-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of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polymorphism.</a:t>
            </a:r>
            <a:r>
              <a:rPr sz="24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Like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the</a:t>
            </a:r>
            <a:r>
              <a:rPr sz="2400" spc="-8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following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example:</a:t>
            </a:r>
            <a:endParaRPr sz="24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6244" y="4463237"/>
            <a:ext cx="7665084" cy="137985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6870" marR="5080" indent="-344805">
              <a:lnSpc>
                <a:spcPct val="90000"/>
              </a:lnSpc>
              <a:spcBef>
                <a:spcPts val="39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Looks</a:t>
            </a:r>
            <a:r>
              <a:rPr sz="2400" spc="-8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stupid,</a:t>
            </a:r>
            <a:r>
              <a:rPr sz="2400" spc="-1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but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the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key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is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that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variables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can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support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any</a:t>
            </a:r>
            <a:r>
              <a:rPr sz="2400" spc="-8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objects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which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support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‘add’</a:t>
            </a:r>
            <a:r>
              <a:rPr sz="2400" spc="-1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operation.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Not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only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integer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but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also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string,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list,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tuple</a:t>
            </a:r>
            <a:r>
              <a:rPr sz="2400" spc="-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and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dictionary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can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realize</a:t>
            </a:r>
            <a:r>
              <a:rPr sz="2400" spc="-12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their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relative</a:t>
            </a:r>
            <a:r>
              <a:rPr sz="2400" spc="-8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‘add’</a:t>
            </a:r>
            <a:r>
              <a:rPr sz="2400" spc="-19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operation.</a:t>
            </a:r>
            <a:endParaRPr sz="2400">
              <a:latin typeface="Palatino Linotype"/>
              <a:cs typeface="Palatino Linotyp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84272" y="2132838"/>
            <a:ext cx="3485007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231" y="347472"/>
              <a:ext cx="7885176" cy="9326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50480" y="347472"/>
              <a:ext cx="1039368" cy="93268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02995" y="447497"/>
            <a:ext cx="782002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Everywhere</a:t>
            </a:r>
            <a:r>
              <a:rPr sz="3200" spc="-90" dirty="0"/>
              <a:t> </a:t>
            </a:r>
            <a:r>
              <a:rPr sz="3200" dirty="0"/>
              <a:t>is</a:t>
            </a:r>
            <a:r>
              <a:rPr sz="3200" spc="-95" dirty="0"/>
              <a:t> </a:t>
            </a:r>
            <a:r>
              <a:rPr sz="3200" dirty="0"/>
              <a:t>polymorphism</a:t>
            </a:r>
            <a:r>
              <a:rPr sz="3200" spc="-70" dirty="0"/>
              <a:t> </a:t>
            </a:r>
            <a:r>
              <a:rPr sz="3200" dirty="0"/>
              <a:t>in</a:t>
            </a:r>
            <a:r>
              <a:rPr sz="3200" spc="-95" dirty="0"/>
              <a:t> </a:t>
            </a:r>
            <a:r>
              <a:rPr sz="3200" dirty="0"/>
              <a:t>Python</a:t>
            </a:r>
            <a:r>
              <a:rPr sz="3200" spc="-70" dirty="0"/>
              <a:t> </a:t>
            </a:r>
            <a:r>
              <a:rPr sz="3200" spc="-25" dirty="0"/>
              <a:t>(3)</a:t>
            </a:r>
            <a:endParaRPr sz="3200"/>
          </a:p>
        </p:txBody>
      </p:sp>
      <p:sp>
        <p:nvSpPr>
          <p:cNvPr id="9" name="object 9"/>
          <p:cNvSpPr txBox="1"/>
          <p:nvPr/>
        </p:nvSpPr>
        <p:spPr>
          <a:xfrm>
            <a:off x="546608" y="1316482"/>
            <a:ext cx="7174230" cy="7213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6870" marR="5080" indent="-34480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Some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methods</a:t>
            </a:r>
            <a:r>
              <a:rPr sz="2400" spc="-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r>
              <a:rPr sz="2400" spc="-1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Python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also</a:t>
            </a:r>
            <a:r>
              <a:rPr sz="24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have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polymorphism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character</a:t>
            </a:r>
            <a:r>
              <a:rPr sz="2400" spc="1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like</a:t>
            </a:r>
            <a:r>
              <a:rPr sz="2400" spc="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‘repr’</a:t>
            </a:r>
            <a:r>
              <a:rPr sz="2400" spc="-21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function.</a:t>
            </a:r>
            <a:endParaRPr sz="24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608" y="4060952"/>
            <a:ext cx="7987665" cy="137985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6870" marR="5080" indent="-344805">
              <a:lnSpc>
                <a:spcPct val="90100"/>
              </a:lnSpc>
              <a:spcBef>
                <a:spcPts val="38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For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‘repr’</a:t>
            </a:r>
            <a:r>
              <a:rPr sz="2400" spc="-1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method,</a:t>
            </a:r>
            <a:r>
              <a:rPr sz="24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it can</a:t>
            </a:r>
            <a:r>
              <a:rPr sz="2400" spc="-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transfer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any</a:t>
            </a:r>
            <a:r>
              <a:rPr sz="24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kinds</a:t>
            </a:r>
            <a:r>
              <a:rPr sz="2400" spc="1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of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data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to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string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type.</a:t>
            </a:r>
            <a:r>
              <a:rPr sz="2400" spc="-8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the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above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example,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it</a:t>
            </a:r>
            <a:r>
              <a:rPr sz="24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converts</a:t>
            </a:r>
            <a:r>
              <a:rPr sz="2400" spc="-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integer</a:t>
            </a:r>
            <a:r>
              <a:rPr sz="24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123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to</a:t>
            </a:r>
            <a:r>
              <a:rPr sz="24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string</a:t>
            </a:r>
            <a:r>
              <a:rPr sz="24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‘123’</a:t>
            </a:r>
            <a:r>
              <a:rPr sz="2400" spc="-1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and</a:t>
            </a:r>
            <a:r>
              <a:rPr sz="24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it</a:t>
            </a:r>
            <a:r>
              <a:rPr sz="2400" spc="-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can</a:t>
            </a:r>
            <a:r>
              <a:rPr sz="2400" spc="-1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even</a:t>
            </a:r>
            <a:r>
              <a:rPr sz="24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added</a:t>
            </a:r>
            <a:r>
              <a:rPr sz="24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to</a:t>
            </a:r>
            <a:r>
              <a:rPr sz="24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string</a:t>
            </a:r>
            <a:r>
              <a:rPr sz="2400" spc="-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c</a:t>
            </a:r>
            <a:r>
              <a:rPr sz="24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‘string’</a:t>
            </a:r>
            <a:r>
              <a:rPr sz="2400" spc="-1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to </a:t>
            </a:r>
            <a:r>
              <a:rPr sz="2400" dirty="0">
                <a:solidFill>
                  <a:srgbClr val="404040"/>
                </a:solidFill>
                <a:latin typeface="Palatino Linotype"/>
                <a:cs typeface="Palatino Linotype"/>
              </a:rPr>
              <a:t>get</a:t>
            </a:r>
            <a:r>
              <a:rPr sz="24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‘123string’.</a:t>
            </a:r>
            <a:endParaRPr sz="2400">
              <a:latin typeface="Palatino Linotype"/>
              <a:cs typeface="Palatino Linotyp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91865" y="2204973"/>
            <a:ext cx="2041143" cy="181825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6719" y="362711"/>
              <a:ext cx="8314944" cy="115823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3625" y="491185"/>
            <a:ext cx="764095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5" dirty="0"/>
              <a:t>Avoid</a:t>
            </a:r>
            <a:r>
              <a:rPr spc="-155" dirty="0"/>
              <a:t> </a:t>
            </a:r>
            <a:r>
              <a:rPr dirty="0"/>
              <a:t>Destroying</a:t>
            </a:r>
            <a:r>
              <a:rPr spc="-165" dirty="0"/>
              <a:t> </a:t>
            </a:r>
            <a:r>
              <a:rPr spc="-10" dirty="0"/>
              <a:t>Polymorphism!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6244" y="1615516"/>
            <a:ext cx="8045450" cy="38112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marR="105410" indent="-34480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Many</a:t>
            </a:r>
            <a:r>
              <a:rPr sz="2200" spc="-6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operators</a:t>
            </a:r>
            <a:r>
              <a:rPr sz="2200" spc="-6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and</a:t>
            </a:r>
            <a:r>
              <a:rPr sz="2200" spc="-4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functions</a:t>
            </a:r>
            <a:r>
              <a:rPr sz="2200" spc="-8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in</a:t>
            </a:r>
            <a:r>
              <a:rPr sz="2200" spc="-3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Python</a:t>
            </a:r>
            <a:r>
              <a:rPr sz="2200" spc="-8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are</a:t>
            </a:r>
            <a:r>
              <a:rPr sz="2200" spc="-4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polymorphic.</a:t>
            </a:r>
            <a:r>
              <a:rPr sz="2200" spc="-3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spc="-25" dirty="0">
                <a:solidFill>
                  <a:srgbClr val="585858"/>
                </a:solidFill>
                <a:latin typeface="Palatino Linotype"/>
                <a:cs typeface="Palatino Linotype"/>
              </a:rPr>
              <a:t>So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as</a:t>
            </a:r>
            <a:r>
              <a:rPr sz="2200" spc="-1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long</a:t>
            </a:r>
            <a:r>
              <a:rPr sz="2200" spc="-6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as</a:t>
            </a:r>
            <a:r>
              <a:rPr sz="2200" spc="-1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you</a:t>
            </a:r>
            <a:r>
              <a:rPr sz="2200" spc="-1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use</a:t>
            </a:r>
            <a:r>
              <a:rPr sz="2200" spc="-1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the</a:t>
            </a:r>
            <a:r>
              <a:rPr sz="2200" spc="-7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polymorphic</a:t>
            </a:r>
            <a:r>
              <a:rPr sz="2200" spc="-5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operators</a:t>
            </a:r>
            <a:r>
              <a:rPr sz="2200" spc="-8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and</a:t>
            </a:r>
            <a:r>
              <a:rPr sz="2200" spc="-4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Palatino Linotype"/>
                <a:cs typeface="Palatino Linotype"/>
              </a:rPr>
              <a:t>functions,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polymorphism</a:t>
            </a:r>
            <a:r>
              <a:rPr sz="2200" spc="-7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will</a:t>
            </a:r>
            <a:r>
              <a:rPr sz="2200" spc="-6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exist</a:t>
            </a:r>
            <a:r>
              <a:rPr sz="2200" spc="-7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even</a:t>
            </a:r>
            <a:r>
              <a:rPr sz="2200" spc="-8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if</a:t>
            </a:r>
            <a:r>
              <a:rPr sz="2200" spc="-4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you</a:t>
            </a:r>
            <a:r>
              <a:rPr sz="2200" spc="-1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spc="-20" dirty="0">
                <a:solidFill>
                  <a:srgbClr val="585858"/>
                </a:solidFill>
                <a:latin typeface="Palatino Linotype"/>
                <a:cs typeface="Palatino Linotype"/>
              </a:rPr>
              <a:t>don’t</a:t>
            </a:r>
            <a:r>
              <a:rPr sz="2200" spc="-7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have</a:t>
            </a:r>
            <a:r>
              <a:rPr sz="2200" spc="-7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this</a:t>
            </a:r>
            <a:r>
              <a:rPr sz="2200" spc="-4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Palatino Linotype"/>
                <a:cs typeface="Palatino Linotype"/>
              </a:rPr>
              <a:t>purpose.</a:t>
            </a:r>
            <a:endParaRPr sz="2200">
              <a:latin typeface="Palatino Linotype"/>
              <a:cs typeface="Palatino Linotype"/>
            </a:endParaRPr>
          </a:p>
          <a:p>
            <a:pPr marL="356870" marR="521970" indent="-344805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The</a:t>
            </a:r>
            <a:r>
              <a:rPr sz="2200" spc="-4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only</a:t>
            </a:r>
            <a:r>
              <a:rPr sz="2200" spc="-3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way</a:t>
            </a:r>
            <a:r>
              <a:rPr sz="2200" spc="-3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to</a:t>
            </a:r>
            <a:r>
              <a:rPr sz="2200" spc="-3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destroy</a:t>
            </a:r>
            <a:r>
              <a:rPr sz="2200" spc="-6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polymorphism</a:t>
            </a:r>
            <a:r>
              <a:rPr sz="2200" spc="-5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is</a:t>
            </a:r>
            <a:r>
              <a:rPr sz="2200" spc="-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check</a:t>
            </a:r>
            <a:r>
              <a:rPr sz="2200" spc="-8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types</a:t>
            </a:r>
            <a:r>
              <a:rPr sz="2200" spc="-5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spc="-25" dirty="0">
                <a:solidFill>
                  <a:srgbClr val="585858"/>
                </a:solidFill>
                <a:latin typeface="Palatino Linotype"/>
                <a:cs typeface="Palatino Linotype"/>
              </a:rPr>
              <a:t>by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using</a:t>
            </a:r>
            <a:r>
              <a:rPr sz="2200" spc="-3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functions</a:t>
            </a:r>
            <a:r>
              <a:rPr sz="2200" spc="-6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like</a:t>
            </a:r>
            <a:r>
              <a:rPr sz="2200" spc="-3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‘type’,</a:t>
            </a:r>
            <a:r>
              <a:rPr sz="2200" spc="-7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‘isinstance’</a:t>
            </a:r>
            <a:r>
              <a:rPr sz="2200" spc="-229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and ‘issubclass’</a:t>
            </a:r>
            <a:r>
              <a:rPr sz="2200" spc="-21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spc="-20" dirty="0">
                <a:solidFill>
                  <a:srgbClr val="585858"/>
                </a:solidFill>
                <a:latin typeface="Palatino Linotype"/>
                <a:cs typeface="Palatino Linotype"/>
              </a:rPr>
              <a:t>etc.</a:t>
            </a:r>
            <a:endParaRPr sz="2200">
              <a:latin typeface="Palatino Linotype"/>
              <a:cs typeface="Palatino Linotype"/>
            </a:endParaRPr>
          </a:p>
          <a:p>
            <a:pPr marL="356870" marR="9525" indent="-344805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So</a:t>
            </a:r>
            <a:r>
              <a:rPr sz="2200" spc="-2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in</a:t>
            </a:r>
            <a:r>
              <a:rPr sz="2200" spc="-6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the</a:t>
            </a:r>
            <a:r>
              <a:rPr sz="2200" spc="-5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programming,</a:t>
            </a:r>
            <a:r>
              <a:rPr sz="2200" spc="-9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we</a:t>
            </a:r>
            <a:r>
              <a:rPr sz="2200" spc="-2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should</a:t>
            </a:r>
            <a:r>
              <a:rPr sz="2200" spc="-4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avoid</a:t>
            </a:r>
            <a:r>
              <a:rPr sz="2200" spc="-5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using</a:t>
            </a:r>
            <a:r>
              <a:rPr sz="2200" spc="-4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these</a:t>
            </a:r>
            <a:r>
              <a:rPr sz="2200" spc="-7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Palatino Linotype"/>
                <a:cs typeface="Palatino Linotype"/>
              </a:rPr>
              <a:t>methods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which</a:t>
            </a:r>
            <a:r>
              <a:rPr sz="2200" spc="-6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might</a:t>
            </a:r>
            <a:r>
              <a:rPr sz="2200" spc="-4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destroy</a:t>
            </a:r>
            <a:r>
              <a:rPr sz="2200" spc="-5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polymorphism</a:t>
            </a:r>
            <a:r>
              <a:rPr sz="2200" spc="-5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except</a:t>
            </a:r>
            <a:r>
              <a:rPr sz="2200" spc="-7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for</a:t>
            </a:r>
            <a:r>
              <a:rPr sz="2200" spc="-10" dirty="0">
                <a:solidFill>
                  <a:srgbClr val="585858"/>
                </a:solidFill>
                <a:latin typeface="Palatino Linotype"/>
                <a:cs typeface="Palatino Linotype"/>
              </a:rPr>
              <a:t> compiler design.</a:t>
            </a:r>
            <a:endParaRPr sz="2200">
              <a:latin typeface="Palatino Linotype"/>
              <a:cs typeface="Palatino Linotype"/>
            </a:endParaRPr>
          </a:p>
          <a:p>
            <a:pPr marL="356870" indent="-344170">
              <a:lnSpc>
                <a:spcPct val="100000"/>
              </a:lnSpc>
              <a:spcBef>
                <a:spcPts val="1135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The</a:t>
            </a:r>
            <a:r>
              <a:rPr sz="2200" spc="-3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most</a:t>
            </a:r>
            <a:r>
              <a:rPr sz="2200" spc="-2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important</a:t>
            </a:r>
            <a:r>
              <a:rPr sz="2200" spc="-5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thing</a:t>
            </a:r>
            <a:r>
              <a:rPr sz="2200" spc="-7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is</a:t>
            </a:r>
            <a:r>
              <a:rPr sz="2200" spc="-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to</a:t>
            </a:r>
            <a:r>
              <a:rPr sz="2200" spc="-2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let</a:t>
            </a:r>
            <a:r>
              <a:rPr sz="2200" spc="-5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objects</a:t>
            </a:r>
            <a:r>
              <a:rPr sz="2200" spc="-7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to</a:t>
            </a:r>
            <a:r>
              <a:rPr sz="2200" spc="-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work</a:t>
            </a:r>
            <a:r>
              <a:rPr sz="2200" spc="-3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according</a:t>
            </a:r>
            <a:r>
              <a:rPr sz="2200" spc="-5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spc="-25" dirty="0">
                <a:solidFill>
                  <a:srgbClr val="585858"/>
                </a:solidFill>
                <a:latin typeface="Palatino Linotype"/>
                <a:cs typeface="Palatino Linotype"/>
              </a:rPr>
              <a:t>to</a:t>
            </a:r>
            <a:endParaRPr sz="2200">
              <a:latin typeface="Palatino Linotype"/>
              <a:cs typeface="Palatino Linotype"/>
            </a:endParaRPr>
          </a:p>
          <a:p>
            <a:pPr marL="356870">
              <a:lnSpc>
                <a:spcPct val="100000"/>
              </a:lnSpc>
            </a:pP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your</a:t>
            </a:r>
            <a:r>
              <a:rPr sz="2200" spc="-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requirements</a:t>
            </a:r>
            <a:r>
              <a:rPr sz="2200" spc="-8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rather</a:t>
            </a:r>
            <a:r>
              <a:rPr sz="2200" spc="-9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than</a:t>
            </a:r>
            <a:r>
              <a:rPr sz="2200" spc="-5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mind</a:t>
            </a:r>
            <a:r>
              <a:rPr sz="2200" spc="-4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if</a:t>
            </a:r>
            <a:r>
              <a:rPr sz="2200" spc="-3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they</a:t>
            </a:r>
            <a:r>
              <a:rPr sz="2200" spc="-90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have</a:t>
            </a:r>
            <a:r>
              <a:rPr sz="2200" spc="-4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585858"/>
                </a:solidFill>
                <a:latin typeface="Palatino Linotype"/>
                <a:cs typeface="Palatino Linotype"/>
              </a:rPr>
              <a:t>right</a:t>
            </a:r>
            <a:r>
              <a:rPr sz="2200" spc="-65" dirty="0">
                <a:solidFill>
                  <a:srgbClr val="585858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Palatino Linotype"/>
                <a:cs typeface="Palatino Linotype"/>
              </a:rPr>
              <a:t>types</a:t>
            </a:r>
            <a:endParaRPr sz="2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736" y="277367"/>
              <a:ext cx="8799576" cy="13837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78002" y="432003"/>
            <a:ext cx="79927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How</a:t>
            </a:r>
            <a:r>
              <a:rPr sz="4800" spc="-60" dirty="0"/>
              <a:t> </a:t>
            </a:r>
            <a:r>
              <a:rPr sz="4800" dirty="0"/>
              <a:t>to</a:t>
            </a:r>
            <a:r>
              <a:rPr sz="4800" spc="-235" dirty="0"/>
              <a:t> </a:t>
            </a:r>
            <a:r>
              <a:rPr sz="4800" dirty="0"/>
              <a:t>Affect</a:t>
            </a:r>
            <a:r>
              <a:rPr sz="4800" spc="-85" dirty="0"/>
              <a:t> </a:t>
            </a:r>
            <a:r>
              <a:rPr sz="4800" spc="-10" dirty="0"/>
              <a:t>Polymorphism</a:t>
            </a:r>
            <a:endParaRPr sz="4800"/>
          </a:p>
        </p:txBody>
      </p:sp>
      <p:sp>
        <p:nvSpPr>
          <p:cNvPr id="8" name="object 8"/>
          <p:cNvSpPr/>
          <p:nvPr/>
        </p:nvSpPr>
        <p:spPr>
          <a:xfrm>
            <a:off x="1172552" y="2132838"/>
            <a:ext cx="2448560" cy="1080135"/>
          </a:xfrm>
          <a:custGeom>
            <a:avLst/>
            <a:gdLst/>
            <a:ahLst/>
            <a:cxnLst/>
            <a:rect l="l" t="t" r="r" b="b"/>
            <a:pathLst>
              <a:path w="2448560" h="1080135">
                <a:moveTo>
                  <a:pt x="1224191" y="0"/>
                </a:moveTo>
                <a:lnTo>
                  <a:pt x="1159171" y="748"/>
                </a:lnTo>
                <a:lnTo>
                  <a:pt x="1095036" y="2969"/>
                </a:lnTo>
                <a:lnTo>
                  <a:pt x="1031869" y="6625"/>
                </a:lnTo>
                <a:lnTo>
                  <a:pt x="969757" y="11679"/>
                </a:lnTo>
                <a:lnTo>
                  <a:pt x="908782" y="18094"/>
                </a:lnTo>
                <a:lnTo>
                  <a:pt x="849030" y="25831"/>
                </a:lnTo>
                <a:lnTo>
                  <a:pt x="790585" y="34854"/>
                </a:lnTo>
                <a:lnTo>
                  <a:pt x="733533" y="45126"/>
                </a:lnTo>
                <a:lnTo>
                  <a:pt x="677956" y="56609"/>
                </a:lnTo>
                <a:lnTo>
                  <a:pt x="623941" y="69266"/>
                </a:lnTo>
                <a:lnTo>
                  <a:pt x="571571" y="83059"/>
                </a:lnTo>
                <a:lnTo>
                  <a:pt x="520932" y="97952"/>
                </a:lnTo>
                <a:lnTo>
                  <a:pt x="472107" y="113907"/>
                </a:lnTo>
                <a:lnTo>
                  <a:pt x="425182" y="130886"/>
                </a:lnTo>
                <a:lnTo>
                  <a:pt x="380240" y="148852"/>
                </a:lnTo>
                <a:lnTo>
                  <a:pt x="337367" y="167768"/>
                </a:lnTo>
                <a:lnTo>
                  <a:pt x="296647" y="187597"/>
                </a:lnTo>
                <a:lnTo>
                  <a:pt x="258164" y="208302"/>
                </a:lnTo>
                <a:lnTo>
                  <a:pt x="222004" y="229844"/>
                </a:lnTo>
                <a:lnTo>
                  <a:pt x="188251" y="252187"/>
                </a:lnTo>
                <a:lnTo>
                  <a:pt x="156989" y="275293"/>
                </a:lnTo>
                <a:lnTo>
                  <a:pt x="102277" y="323647"/>
                </a:lnTo>
                <a:lnTo>
                  <a:pt x="58545" y="374605"/>
                </a:lnTo>
                <a:lnTo>
                  <a:pt x="26471" y="427872"/>
                </a:lnTo>
                <a:lnTo>
                  <a:pt x="6730" y="483146"/>
                </a:lnTo>
                <a:lnTo>
                  <a:pt x="0" y="540131"/>
                </a:lnTo>
                <a:lnTo>
                  <a:pt x="1696" y="568806"/>
                </a:lnTo>
                <a:lnTo>
                  <a:pt x="15017" y="624951"/>
                </a:lnTo>
                <a:lnTo>
                  <a:pt x="41009" y="679240"/>
                </a:lnTo>
                <a:lnTo>
                  <a:pt x="78996" y="731374"/>
                </a:lnTo>
                <a:lnTo>
                  <a:pt x="128302" y="781054"/>
                </a:lnTo>
                <a:lnTo>
                  <a:pt x="188251" y="827981"/>
                </a:lnTo>
                <a:lnTo>
                  <a:pt x="222004" y="850319"/>
                </a:lnTo>
                <a:lnTo>
                  <a:pt x="258164" y="871857"/>
                </a:lnTo>
                <a:lnTo>
                  <a:pt x="296647" y="892558"/>
                </a:lnTo>
                <a:lnTo>
                  <a:pt x="337367" y="912383"/>
                </a:lnTo>
                <a:lnTo>
                  <a:pt x="380240" y="931296"/>
                </a:lnTo>
                <a:lnTo>
                  <a:pt x="425182" y="949260"/>
                </a:lnTo>
                <a:lnTo>
                  <a:pt x="472107" y="966237"/>
                </a:lnTo>
                <a:lnTo>
                  <a:pt x="520932" y="982189"/>
                </a:lnTo>
                <a:lnTo>
                  <a:pt x="571571" y="997080"/>
                </a:lnTo>
                <a:lnTo>
                  <a:pt x="623941" y="1010872"/>
                </a:lnTo>
                <a:lnTo>
                  <a:pt x="677956" y="1023528"/>
                </a:lnTo>
                <a:lnTo>
                  <a:pt x="733533" y="1035010"/>
                </a:lnTo>
                <a:lnTo>
                  <a:pt x="790585" y="1045281"/>
                </a:lnTo>
                <a:lnTo>
                  <a:pt x="849030" y="1054304"/>
                </a:lnTo>
                <a:lnTo>
                  <a:pt x="908782" y="1062041"/>
                </a:lnTo>
                <a:lnTo>
                  <a:pt x="969757" y="1068455"/>
                </a:lnTo>
                <a:lnTo>
                  <a:pt x="1031869" y="1073509"/>
                </a:lnTo>
                <a:lnTo>
                  <a:pt x="1095036" y="1077165"/>
                </a:lnTo>
                <a:lnTo>
                  <a:pt x="1159171" y="1079386"/>
                </a:lnTo>
                <a:lnTo>
                  <a:pt x="1224191" y="1080135"/>
                </a:lnTo>
                <a:lnTo>
                  <a:pt x="1289198" y="1079386"/>
                </a:lnTo>
                <a:lnTo>
                  <a:pt x="1353322" y="1077165"/>
                </a:lnTo>
                <a:lnTo>
                  <a:pt x="1416477" y="1073509"/>
                </a:lnTo>
                <a:lnTo>
                  <a:pt x="1478580" y="1068455"/>
                </a:lnTo>
                <a:lnTo>
                  <a:pt x="1539544" y="1062041"/>
                </a:lnTo>
                <a:lnTo>
                  <a:pt x="1599287" y="1054304"/>
                </a:lnTo>
                <a:lnTo>
                  <a:pt x="1657723" y="1045281"/>
                </a:lnTo>
                <a:lnTo>
                  <a:pt x="1714767" y="1035010"/>
                </a:lnTo>
                <a:lnTo>
                  <a:pt x="1770335" y="1023528"/>
                </a:lnTo>
                <a:lnTo>
                  <a:pt x="1824343" y="1010872"/>
                </a:lnTo>
                <a:lnTo>
                  <a:pt x="1876706" y="997080"/>
                </a:lnTo>
                <a:lnTo>
                  <a:pt x="1927339" y="982189"/>
                </a:lnTo>
                <a:lnTo>
                  <a:pt x="1976158" y="966237"/>
                </a:lnTo>
                <a:lnTo>
                  <a:pt x="2023077" y="949260"/>
                </a:lnTo>
                <a:lnTo>
                  <a:pt x="2068014" y="931296"/>
                </a:lnTo>
                <a:lnTo>
                  <a:pt x="2110882" y="912383"/>
                </a:lnTo>
                <a:lnTo>
                  <a:pt x="2151597" y="892558"/>
                </a:lnTo>
                <a:lnTo>
                  <a:pt x="2190076" y="871857"/>
                </a:lnTo>
                <a:lnTo>
                  <a:pt x="2226232" y="850319"/>
                </a:lnTo>
                <a:lnTo>
                  <a:pt x="2259982" y="827981"/>
                </a:lnTo>
                <a:lnTo>
                  <a:pt x="2291241" y="804880"/>
                </a:lnTo>
                <a:lnTo>
                  <a:pt x="2345948" y="756539"/>
                </a:lnTo>
                <a:lnTo>
                  <a:pt x="2389675" y="705595"/>
                </a:lnTo>
                <a:lnTo>
                  <a:pt x="2421747" y="652346"/>
                </a:lnTo>
                <a:lnTo>
                  <a:pt x="2441486" y="597092"/>
                </a:lnTo>
                <a:lnTo>
                  <a:pt x="2448217" y="540131"/>
                </a:lnTo>
                <a:lnTo>
                  <a:pt x="2446520" y="511443"/>
                </a:lnTo>
                <a:lnTo>
                  <a:pt x="2433201" y="455276"/>
                </a:lnTo>
                <a:lnTo>
                  <a:pt x="2407210" y="400969"/>
                </a:lnTo>
                <a:lnTo>
                  <a:pt x="2369226" y="348819"/>
                </a:lnTo>
                <a:lnTo>
                  <a:pt x="2319925" y="299125"/>
                </a:lnTo>
                <a:lnTo>
                  <a:pt x="2259982" y="252187"/>
                </a:lnTo>
                <a:lnTo>
                  <a:pt x="2226232" y="229844"/>
                </a:lnTo>
                <a:lnTo>
                  <a:pt x="2190076" y="208302"/>
                </a:lnTo>
                <a:lnTo>
                  <a:pt x="2151597" y="187597"/>
                </a:lnTo>
                <a:lnTo>
                  <a:pt x="2110882" y="167768"/>
                </a:lnTo>
                <a:lnTo>
                  <a:pt x="2068014" y="148852"/>
                </a:lnTo>
                <a:lnTo>
                  <a:pt x="2023077" y="130886"/>
                </a:lnTo>
                <a:lnTo>
                  <a:pt x="1976158" y="113907"/>
                </a:lnTo>
                <a:lnTo>
                  <a:pt x="1927339" y="97952"/>
                </a:lnTo>
                <a:lnTo>
                  <a:pt x="1876706" y="83059"/>
                </a:lnTo>
                <a:lnTo>
                  <a:pt x="1824343" y="69266"/>
                </a:lnTo>
                <a:lnTo>
                  <a:pt x="1770335" y="56609"/>
                </a:lnTo>
                <a:lnTo>
                  <a:pt x="1714767" y="45126"/>
                </a:lnTo>
                <a:lnTo>
                  <a:pt x="1657723" y="34854"/>
                </a:lnTo>
                <a:lnTo>
                  <a:pt x="1599287" y="25831"/>
                </a:lnTo>
                <a:lnTo>
                  <a:pt x="1539544" y="18094"/>
                </a:lnTo>
                <a:lnTo>
                  <a:pt x="1478580" y="11679"/>
                </a:lnTo>
                <a:lnTo>
                  <a:pt x="1416477" y="6625"/>
                </a:lnTo>
                <a:lnTo>
                  <a:pt x="1353322" y="2969"/>
                </a:lnTo>
                <a:lnTo>
                  <a:pt x="1289198" y="748"/>
                </a:lnTo>
                <a:lnTo>
                  <a:pt x="1224191" y="0"/>
                </a:lnTo>
                <a:close/>
              </a:path>
            </a:pathLst>
          </a:custGeom>
          <a:solidFill>
            <a:srgbClr val="5F76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72552" y="2132838"/>
            <a:ext cx="2448560" cy="1080135"/>
          </a:xfrm>
          <a:custGeom>
            <a:avLst/>
            <a:gdLst/>
            <a:ahLst/>
            <a:cxnLst/>
            <a:rect l="l" t="t" r="r" b="b"/>
            <a:pathLst>
              <a:path w="2448560" h="1080135">
                <a:moveTo>
                  <a:pt x="0" y="540131"/>
                </a:moveTo>
                <a:lnTo>
                  <a:pt x="6730" y="483146"/>
                </a:lnTo>
                <a:lnTo>
                  <a:pt x="26471" y="427872"/>
                </a:lnTo>
                <a:lnTo>
                  <a:pt x="58545" y="374605"/>
                </a:lnTo>
                <a:lnTo>
                  <a:pt x="102277" y="323647"/>
                </a:lnTo>
                <a:lnTo>
                  <a:pt x="156989" y="275293"/>
                </a:lnTo>
                <a:lnTo>
                  <a:pt x="188251" y="252187"/>
                </a:lnTo>
                <a:lnTo>
                  <a:pt x="222004" y="229844"/>
                </a:lnTo>
                <a:lnTo>
                  <a:pt x="258164" y="208302"/>
                </a:lnTo>
                <a:lnTo>
                  <a:pt x="296647" y="187597"/>
                </a:lnTo>
                <a:lnTo>
                  <a:pt x="337367" y="167768"/>
                </a:lnTo>
                <a:lnTo>
                  <a:pt x="380240" y="148852"/>
                </a:lnTo>
                <a:lnTo>
                  <a:pt x="425182" y="130886"/>
                </a:lnTo>
                <a:lnTo>
                  <a:pt x="472107" y="113907"/>
                </a:lnTo>
                <a:lnTo>
                  <a:pt x="520932" y="97952"/>
                </a:lnTo>
                <a:lnTo>
                  <a:pt x="571571" y="83059"/>
                </a:lnTo>
                <a:lnTo>
                  <a:pt x="623941" y="69266"/>
                </a:lnTo>
                <a:lnTo>
                  <a:pt x="677956" y="56609"/>
                </a:lnTo>
                <a:lnTo>
                  <a:pt x="733533" y="45126"/>
                </a:lnTo>
                <a:lnTo>
                  <a:pt x="790585" y="34854"/>
                </a:lnTo>
                <a:lnTo>
                  <a:pt x="849030" y="25831"/>
                </a:lnTo>
                <a:lnTo>
                  <a:pt x="908782" y="18094"/>
                </a:lnTo>
                <a:lnTo>
                  <a:pt x="969757" y="11679"/>
                </a:lnTo>
                <a:lnTo>
                  <a:pt x="1031869" y="6625"/>
                </a:lnTo>
                <a:lnTo>
                  <a:pt x="1095036" y="2969"/>
                </a:lnTo>
                <a:lnTo>
                  <a:pt x="1159171" y="748"/>
                </a:lnTo>
                <a:lnTo>
                  <a:pt x="1224191" y="0"/>
                </a:lnTo>
                <a:lnTo>
                  <a:pt x="1289198" y="748"/>
                </a:lnTo>
                <a:lnTo>
                  <a:pt x="1353322" y="2969"/>
                </a:lnTo>
                <a:lnTo>
                  <a:pt x="1416477" y="6625"/>
                </a:lnTo>
                <a:lnTo>
                  <a:pt x="1478580" y="11679"/>
                </a:lnTo>
                <a:lnTo>
                  <a:pt x="1539544" y="18094"/>
                </a:lnTo>
                <a:lnTo>
                  <a:pt x="1599287" y="25831"/>
                </a:lnTo>
                <a:lnTo>
                  <a:pt x="1657723" y="34854"/>
                </a:lnTo>
                <a:lnTo>
                  <a:pt x="1714767" y="45126"/>
                </a:lnTo>
                <a:lnTo>
                  <a:pt x="1770335" y="56609"/>
                </a:lnTo>
                <a:lnTo>
                  <a:pt x="1824343" y="69266"/>
                </a:lnTo>
                <a:lnTo>
                  <a:pt x="1876706" y="83059"/>
                </a:lnTo>
                <a:lnTo>
                  <a:pt x="1927339" y="97952"/>
                </a:lnTo>
                <a:lnTo>
                  <a:pt x="1976158" y="113907"/>
                </a:lnTo>
                <a:lnTo>
                  <a:pt x="2023077" y="130886"/>
                </a:lnTo>
                <a:lnTo>
                  <a:pt x="2068014" y="148852"/>
                </a:lnTo>
                <a:lnTo>
                  <a:pt x="2110882" y="167768"/>
                </a:lnTo>
                <a:lnTo>
                  <a:pt x="2151597" y="187597"/>
                </a:lnTo>
                <a:lnTo>
                  <a:pt x="2190076" y="208302"/>
                </a:lnTo>
                <a:lnTo>
                  <a:pt x="2226232" y="229844"/>
                </a:lnTo>
                <a:lnTo>
                  <a:pt x="2259982" y="252187"/>
                </a:lnTo>
                <a:lnTo>
                  <a:pt x="2291241" y="275293"/>
                </a:lnTo>
                <a:lnTo>
                  <a:pt x="2345948" y="323647"/>
                </a:lnTo>
                <a:lnTo>
                  <a:pt x="2389675" y="374605"/>
                </a:lnTo>
                <a:lnTo>
                  <a:pt x="2421747" y="427872"/>
                </a:lnTo>
                <a:lnTo>
                  <a:pt x="2441486" y="483146"/>
                </a:lnTo>
                <a:lnTo>
                  <a:pt x="2448217" y="540131"/>
                </a:lnTo>
                <a:lnTo>
                  <a:pt x="2446520" y="568806"/>
                </a:lnTo>
                <a:lnTo>
                  <a:pt x="2433201" y="624951"/>
                </a:lnTo>
                <a:lnTo>
                  <a:pt x="2407210" y="679240"/>
                </a:lnTo>
                <a:lnTo>
                  <a:pt x="2369226" y="731374"/>
                </a:lnTo>
                <a:lnTo>
                  <a:pt x="2319925" y="781054"/>
                </a:lnTo>
                <a:lnTo>
                  <a:pt x="2259982" y="827981"/>
                </a:lnTo>
                <a:lnTo>
                  <a:pt x="2226232" y="850319"/>
                </a:lnTo>
                <a:lnTo>
                  <a:pt x="2190076" y="871857"/>
                </a:lnTo>
                <a:lnTo>
                  <a:pt x="2151597" y="892558"/>
                </a:lnTo>
                <a:lnTo>
                  <a:pt x="2110882" y="912383"/>
                </a:lnTo>
                <a:lnTo>
                  <a:pt x="2068014" y="931296"/>
                </a:lnTo>
                <a:lnTo>
                  <a:pt x="2023077" y="949260"/>
                </a:lnTo>
                <a:lnTo>
                  <a:pt x="1976158" y="966237"/>
                </a:lnTo>
                <a:lnTo>
                  <a:pt x="1927339" y="982189"/>
                </a:lnTo>
                <a:lnTo>
                  <a:pt x="1876706" y="997080"/>
                </a:lnTo>
                <a:lnTo>
                  <a:pt x="1824343" y="1010872"/>
                </a:lnTo>
                <a:lnTo>
                  <a:pt x="1770335" y="1023528"/>
                </a:lnTo>
                <a:lnTo>
                  <a:pt x="1714767" y="1035010"/>
                </a:lnTo>
                <a:lnTo>
                  <a:pt x="1657723" y="1045281"/>
                </a:lnTo>
                <a:lnTo>
                  <a:pt x="1599287" y="1054304"/>
                </a:lnTo>
                <a:lnTo>
                  <a:pt x="1539544" y="1062041"/>
                </a:lnTo>
                <a:lnTo>
                  <a:pt x="1478580" y="1068455"/>
                </a:lnTo>
                <a:lnTo>
                  <a:pt x="1416477" y="1073509"/>
                </a:lnTo>
                <a:lnTo>
                  <a:pt x="1353322" y="1077165"/>
                </a:lnTo>
                <a:lnTo>
                  <a:pt x="1289198" y="1079386"/>
                </a:lnTo>
                <a:lnTo>
                  <a:pt x="1224191" y="1080135"/>
                </a:lnTo>
                <a:lnTo>
                  <a:pt x="1159171" y="1079386"/>
                </a:lnTo>
                <a:lnTo>
                  <a:pt x="1095036" y="1077165"/>
                </a:lnTo>
                <a:lnTo>
                  <a:pt x="1031869" y="1073509"/>
                </a:lnTo>
                <a:lnTo>
                  <a:pt x="969757" y="1068455"/>
                </a:lnTo>
                <a:lnTo>
                  <a:pt x="908782" y="1062041"/>
                </a:lnTo>
                <a:lnTo>
                  <a:pt x="849030" y="1054304"/>
                </a:lnTo>
                <a:lnTo>
                  <a:pt x="790585" y="1045281"/>
                </a:lnTo>
                <a:lnTo>
                  <a:pt x="733533" y="1035010"/>
                </a:lnTo>
                <a:lnTo>
                  <a:pt x="677956" y="1023528"/>
                </a:lnTo>
                <a:lnTo>
                  <a:pt x="623941" y="1010872"/>
                </a:lnTo>
                <a:lnTo>
                  <a:pt x="571571" y="997080"/>
                </a:lnTo>
                <a:lnTo>
                  <a:pt x="520932" y="982189"/>
                </a:lnTo>
                <a:lnTo>
                  <a:pt x="472107" y="966237"/>
                </a:lnTo>
                <a:lnTo>
                  <a:pt x="425182" y="949260"/>
                </a:lnTo>
                <a:lnTo>
                  <a:pt x="380240" y="931296"/>
                </a:lnTo>
                <a:lnTo>
                  <a:pt x="337367" y="912383"/>
                </a:lnTo>
                <a:lnTo>
                  <a:pt x="296647" y="892558"/>
                </a:lnTo>
                <a:lnTo>
                  <a:pt x="258164" y="871857"/>
                </a:lnTo>
                <a:lnTo>
                  <a:pt x="222004" y="850319"/>
                </a:lnTo>
                <a:lnTo>
                  <a:pt x="188251" y="827981"/>
                </a:lnTo>
                <a:lnTo>
                  <a:pt x="156989" y="804880"/>
                </a:lnTo>
                <a:lnTo>
                  <a:pt x="102277" y="756539"/>
                </a:lnTo>
                <a:lnTo>
                  <a:pt x="58545" y="705595"/>
                </a:lnTo>
                <a:lnTo>
                  <a:pt x="26471" y="652346"/>
                </a:lnTo>
                <a:lnTo>
                  <a:pt x="6730" y="597092"/>
                </a:lnTo>
                <a:lnTo>
                  <a:pt x="0" y="540131"/>
                </a:lnTo>
                <a:close/>
              </a:path>
            </a:pathLst>
          </a:custGeom>
          <a:ln w="28575">
            <a:solidFill>
              <a:srgbClr val="4454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31695" y="2234565"/>
            <a:ext cx="15341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4445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Palatino Linotype"/>
                <a:cs typeface="Palatino Linotype"/>
              </a:rPr>
              <a:t>Traditional polymorphism design</a:t>
            </a:r>
            <a:endParaRPr sz="1800">
              <a:latin typeface="Palatino Linotype"/>
              <a:cs typeface="Palatino Linotyp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61072" y="3414712"/>
            <a:ext cx="2477135" cy="1108710"/>
            <a:chOff x="1161072" y="3414712"/>
            <a:chExt cx="2477135" cy="1108710"/>
          </a:xfrm>
        </p:grpSpPr>
        <p:sp>
          <p:nvSpPr>
            <p:cNvPr id="12" name="object 12"/>
            <p:cNvSpPr/>
            <p:nvPr/>
          </p:nvSpPr>
          <p:spPr>
            <a:xfrm>
              <a:off x="1175359" y="3429000"/>
              <a:ext cx="2448560" cy="1080135"/>
            </a:xfrm>
            <a:custGeom>
              <a:avLst/>
              <a:gdLst/>
              <a:ahLst/>
              <a:cxnLst/>
              <a:rect l="l" t="t" r="r" b="b"/>
              <a:pathLst>
                <a:path w="2448560" h="1080135">
                  <a:moveTo>
                    <a:pt x="1224178" y="0"/>
                  </a:moveTo>
                  <a:lnTo>
                    <a:pt x="1159158" y="748"/>
                  </a:lnTo>
                  <a:lnTo>
                    <a:pt x="1095023" y="2969"/>
                  </a:lnTo>
                  <a:lnTo>
                    <a:pt x="1031857" y="6625"/>
                  </a:lnTo>
                  <a:lnTo>
                    <a:pt x="969745" y="11679"/>
                  </a:lnTo>
                  <a:lnTo>
                    <a:pt x="908770" y="18093"/>
                  </a:lnTo>
                  <a:lnTo>
                    <a:pt x="849019" y="25830"/>
                  </a:lnTo>
                  <a:lnTo>
                    <a:pt x="790574" y="34853"/>
                  </a:lnTo>
                  <a:lnTo>
                    <a:pt x="733522" y="45124"/>
                  </a:lnTo>
                  <a:lnTo>
                    <a:pt x="677946" y="56606"/>
                  </a:lnTo>
                  <a:lnTo>
                    <a:pt x="623932" y="69262"/>
                  </a:lnTo>
                  <a:lnTo>
                    <a:pt x="571562" y="83054"/>
                  </a:lnTo>
                  <a:lnTo>
                    <a:pt x="520923" y="97945"/>
                  </a:lnTo>
                  <a:lnTo>
                    <a:pt x="472099" y="113897"/>
                  </a:lnTo>
                  <a:lnTo>
                    <a:pt x="425174" y="130874"/>
                  </a:lnTo>
                  <a:lnTo>
                    <a:pt x="380233" y="148838"/>
                  </a:lnTo>
                  <a:lnTo>
                    <a:pt x="337361" y="167751"/>
                  </a:lnTo>
                  <a:lnTo>
                    <a:pt x="296641" y="187576"/>
                  </a:lnTo>
                  <a:lnTo>
                    <a:pt x="258160" y="208277"/>
                  </a:lnTo>
                  <a:lnTo>
                    <a:pt x="222000" y="229815"/>
                  </a:lnTo>
                  <a:lnTo>
                    <a:pt x="188247" y="252153"/>
                  </a:lnTo>
                  <a:lnTo>
                    <a:pt x="156985" y="275254"/>
                  </a:lnTo>
                  <a:lnTo>
                    <a:pt x="102275" y="323595"/>
                  </a:lnTo>
                  <a:lnTo>
                    <a:pt x="58544" y="374539"/>
                  </a:lnTo>
                  <a:lnTo>
                    <a:pt x="26470" y="427788"/>
                  </a:lnTo>
                  <a:lnTo>
                    <a:pt x="6730" y="483042"/>
                  </a:lnTo>
                  <a:lnTo>
                    <a:pt x="0" y="540004"/>
                  </a:lnTo>
                  <a:lnTo>
                    <a:pt x="1696" y="568691"/>
                  </a:lnTo>
                  <a:lnTo>
                    <a:pt x="15016" y="624858"/>
                  </a:lnTo>
                  <a:lnTo>
                    <a:pt x="41008" y="679165"/>
                  </a:lnTo>
                  <a:lnTo>
                    <a:pt x="78995" y="731315"/>
                  </a:lnTo>
                  <a:lnTo>
                    <a:pt x="128300" y="781009"/>
                  </a:lnTo>
                  <a:lnTo>
                    <a:pt x="188247" y="827947"/>
                  </a:lnTo>
                  <a:lnTo>
                    <a:pt x="222000" y="850290"/>
                  </a:lnTo>
                  <a:lnTo>
                    <a:pt x="258160" y="871832"/>
                  </a:lnTo>
                  <a:lnTo>
                    <a:pt x="296641" y="892537"/>
                  </a:lnTo>
                  <a:lnTo>
                    <a:pt x="337361" y="912366"/>
                  </a:lnTo>
                  <a:lnTo>
                    <a:pt x="380233" y="931282"/>
                  </a:lnTo>
                  <a:lnTo>
                    <a:pt x="425174" y="949248"/>
                  </a:lnTo>
                  <a:lnTo>
                    <a:pt x="472099" y="966227"/>
                  </a:lnTo>
                  <a:lnTo>
                    <a:pt x="520923" y="982182"/>
                  </a:lnTo>
                  <a:lnTo>
                    <a:pt x="571562" y="997075"/>
                  </a:lnTo>
                  <a:lnTo>
                    <a:pt x="623932" y="1010868"/>
                  </a:lnTo>
                  <a:lnTo>
                    <a:pt x="677946" y="1023525"/>
                  </a:lnTo>
                  <a:lnTo>
                    <a:pt x="733522" y="1035008"/>
                  </a:lnTo>
                  <a:lnTo>
                    <a:pt x="790574" y="1045280"/>
                  </a:lnTo>
                  <a:lnTo>
                    <a:pt x="849019" y="1054303"/>
                  </a:lnTo>
                  <a:lnTo>
                    <a:pt x="908770" y="1062040"/>
                  </a:lnTo>
                  <a:lnTo>
                    <a:pt x="969745" y="1068455"/>
                  </a:lnTo>
                  <a:lnTo>
                    <a:pt x="1031857" y="1073509"/>
                  </a:lnTo>
                  <a:lnTo>
                    <a:pt x="1095023" y="1077165"/>
                  </a:lnTo>
                  <a:lnTo>
                    <a:pt x="1159158" y="1079386"/>
                  </a:lnTo>
                  <a:lnTo>
                    <a:pt x="1224178" y="1080135"/>
                  </a:lnTo>
                  <a:lnTo>
                    <a:pt x="1289186" y="1079386"/>
                  </a:lnTo>
                  <a:lnTo>
                    <a:pt x="1353311" y="1077165"/>
                  </a:lnTo>
                  <a:lnTo>
                    <a:pt x="1416468" y="1073509"/>
                  </a:lnTo>
                  <a:lnTo>
                    <a:pt x="1478573" y="1068455"/>
                  </a:lnTo>
                  <a:lnTo>
                    <a:pt x="1539541" y="1062040"/>
                  </a:lnTo>
                  <a:lnTo>
                    <a:pt x="1599287" y="1054303"/>
                  </a:lnTo>
                  <a:lnTo>
                    <a:pt x="1657726" y="1045280"/>
                  </a:lnTo>
                  <a:lnTo>
                    <a:pt x="1714775" y="1035008"/>
                  </a:lnTo>
                  <a:lnTo>
                    <a:pt x="1770349" y="1023525"/>
                  </a:lnTo>
                  <a:lnTo>
                    <a:pt x="1824362" y="1010868"/>
                  </a:lnTo>
                  <a:lnTo>
                    <a:pt x="1876730" y="997075"/>
                  </a:lnTo>
                  <a:lnTo>
                    <a:pt x="1927369" y="982182"/>
                  </a:lnTo>
                  <a:lnTo>
                    <a:pt x="1976193" y="966227"/>
                  </a:lnTo>
                  <a:lnTo>
                    <a:pt x="2023119" y="949248"/>
                  </a:lnTo>
                  <a:lnTo>
                    <a:pt x="2068061" y="931282"/>
                  </a:lnTo>
                  <a:lnTo>
                    <a:pt x="2110936" y="912366"/>
                  </a:lnTo>
                  <a:lnTo>
                    <a:pt x="2151657" y="892537"/>
                  </a:lnTo>
                  <a:lnTo>
                    <a:pt x="2190142" y="871832"/>
                  </a:lnTo>
                  <a:lnTo>
                    <a:pt x="2226304" y="850290"/>
                  </a:lnTo>
                  <a:lnTo>
                    <a:pt x="2260060" y="827947"/>
                  </a:lnTo>
                  <a:lnTo>
                    <a:pt x="2291324" y="804841"/>
                  </a:lnTo>
                  <a:lnTo>
                    <a:pt x="2346041" y="756487"/>
                  </a:lnTo>
                  <a:lnTo>
                    <a:pt x="2389777" y="705529"/>
                  </a:lnTo>
                  <a:lnTo>
                    <a:pt x="2421856" y="652262"/>
                  </a:lnTo>
                  <a:lnTo>
                    <a:pt x="2441599" y="596988"/>
                  </a:lnTo>
                  <a:lnTo>
                    <a:pt x="2448331" y="540004"/>
                  </a:lnTo>
                  <a:lnTo>
                    <a:pt x="2446634" y="511328"/>
                  </a:lnTo>
                  <a:lnTo>
                    <a:pt x="2433312" y="455183"/>
                  </a:lnTo>
                  <a:lnTo>
                    <a:pt x="2407316" y="400894"/>
                  </a:lnTo>
                  <a:lnTo>
                    <a:pt x="2369324" y="348760"/>
                  </a:lnTo>
                  <a:lnTo>
                    <a:pt x="2320013" y="299080"/>
                  </a:lnTo>
                  <a:lnTo>
                    <a:pt x="2260060" y="252153"/>
                  </a:lnTo>
                  <a:lnTo>
                    <a:pt x="2226304" y="229815"/>
                  </a:lnTo>
                  <a:lnTo>
                    <a:pt x="2190142" y="208277"/>
                  </a:lnTo>
                  <a:lnTo>
                    <a:pt x="2151657" y="187576"/>
                  </a:lnTo>
                  <a:lnTo>
                    <a:pt x="2110936" y="167751"/>
                  </a:lnTo>
                  <a:lnTo>
                    <a:pt x="2068061" y="148838"/>
                  </a:lnTo>
                  <a:lnTo>
                    <a:pt x="2023119" y="130874"/>
                  </a:lnTo>
                  <a:lnTo>
                    <a:pt x="1976193" y="113897"/>
                  </a:lnTo>
                  <a:lnTo>
                    <a:pt x="1927369" y="97945"/>
                  </a:lnTo>
                  <a:lnTo>
                    <a:pt x="1876730" y="83054"/>
                  </a:lnTo>
                  <a:lnTo>
                    <a:pt x="1824362" y="69262"/>
                  </a:lnTo>
                  <a:lnTo>
                    <a:pt x="1770349" y="56606"/>
                  </a:lnTo>
                  <a:lnTo>
                    <a:pt x="1714775" y="45124"/>
                  </a:lnTo>
                  <a:lnTo>
                    <a:pt x="1657726" y="34853"/>
                  </a:lnTo>
                  <a:lnTo>
                    <a:pt x="1599287" y="25830"/>
                  </a:lnTo>
                  <a:lnTo>
                    <a:pt x="1539541" y="18093"/>
                  </a:lnTo>
                  <a:lnTo>
                    <a:pt x="1478573" y="11679"/>
                  </a:lnTo>
                  <a:lnTo>
                    <a:pt x="1416468" y="6625"/>
                  </a:lnTo>
                  <a:lnTo>
                    <a:pt x="1353311" y="2969"/>
                  </a:lnTo>
                  <a:lnTo>
                    <a:pt x="1289186" y="748"/>
                  </a:lnTo>
                  <a:lnTo>
                    <a:pt x="1224178" y="0"/>
                  </a:lnTo>
                  <a:close/>
                </a:path>
              </a:pathLst>
            </a:custGeom>
            <a:solidFill>
              <a:srgbClr val="5F76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75359" y="3429000"/>
              <a:ext cx="2448560" cy="1080135"/>
            </a:xfrm>
            <a:custGeom>
              <a:avLst/>
              <a:gdLst/>
              <a:ahLst/>
              <a:cxnLst/>
              <a:rect l="l" t="t" r="r" b="b"/>
              <a:pathLst>
                <a:path w="2448560" h="1080135">
                  <a:moveTo>
                    <a:pt x="0" y="540004"/>
                  </a:moveTo>
                  <a:lnTo>
                    <a:pt x="6730" y="483042"/>
                  </a:lnTo>
                  <a:lnTo>
                    <a:pt x="26470" y="427788"/>
                  </a:lnTo>
                  <a:lnTo>
                    <a:pt x="58544" y="374539"/>
                  </a:lnTo>
                  <a:lnTo>
                    <a:pt x="102275" y="323595"/>
                  </a:lnTo>
                  <a:lnTo>
                    <a:pt x="156985" y="275254"/>
                  </a:lnTo>
                  <a:lnTo>
                    <a:pt x="188247" y="252153"/>
                  </a:lnTo>
                  <a:lnTo>
                    <a:pt x="222000" y="229815"/>
                  </a:lnTo>
                  <a:lnTo>
                    <a:pt x="258160" y="208277"/>
                  </a:lnTo>
                  <a:lnTo>
                    <a:pt x="296641" y="187576"/>
                  </a:lnTo>
                  <a:lnTo>
                    <a:pt x="337361" y="167751"/>
                  </a:lnTo>
                  <a:lnTo>
                    <a:pt x="380233" y="148838"/>
                  </a:lnTo>
                  <a:lnTo>
                    <a:pt x="425174" y="130874"/>
                  </a:lnTo>
                  <a:lnTo>
                    <a:pt x="472099" y="113897"/>
                  </a:lnTo>
                  <a:lnTo>
                    <a:pt x="520923" y="97945"/>
                  </a:lnTo>
                  <a:lnTo>
                    <a:pt x="571562" y="83054"/>
                  </a:lnTo>
                  <a:lnTo>
                    <a:pt x="623932" y="69262"/>
                  </a:lnTo>
                  <a:lnTo>
                    <a:pt x="677946" y="56606"/>
                  </a:lnTo>
                  <a:lnTo>
                    <a:pt x="733522" y="45124"/>
                  </a:lnTo>
                  <a:lnTo>
                    <a:pt x="790574" y="34853"/>
                  </a:lnTo>
                  <a:lnTo>
                    <a:pt x="849019" y="25830"/>
                  </a:lnTo>
                  <a:lnTo>
                    <a:pt x="908770" y="18093"/>
                  </a:lnTo>
                  <a:lnTo>
                    <a:pt x="969745" y="11679"/>
                  </a:lnTo>
                  <a:lnTo>
                    <a:pt x="1031857" y="6625"/>
                  </a:lnTo>
                  <a:lnTo>
                    <a:pt x="1095023" y="2969"/>
                  </a:lnTo>
                  <a:lnTo>
                    <a:pt x="1159158" y="748"/>
                  </a:lnTo>
                  <a:lnTo>
                    <a:pt x="1224178" y="0"/>
                  </a:lnTo>
                  <a:lnTo>
                    <a:pt x="1289186" y="748"/>
                  </a:lnTo>
                  <a:lnTo>
                    <a:pt x="1353311" y="2969"/>
                  </a:lnTo>
                  <a:lnTo>
                    <a:pt x="1416468" y="6625"/>
                  </a:lnTo>
                  <a:lnTo>
                    <a:pt x="1478573" y="11679"/>
                  </a:lnTo>
                  <a:lnTo>
                    <a:pt x="1539541" y="18093"/>
                  </a:lnTo>
                  <a:lnTo>
                    <a:pt x="1599287" y="25830"/>
                  </a:lnTo>
                  <a:lnTo>
                    <a:pt x="1657726" y="34853"/>
                  </a:lnTo>
                  <a:lnTo>
                    <a:pt x="1714775" y="45124"/>
                  </a:lnTo>
                  <a:lnTo>
                    <a:pt x="1770349" y="56606"/>
                  </a:lnTo>
                  <a:lnTo>
                    <a:pt x="1824362" y="69262"/>
                  </a:lnTo>
                  <a:lnTo>
                    <a:pt x="1876730" y="83054"/>
                  </a:lnTo>
                  <a:lnTo>
                    <a:pt x="1927369" y="97945"/>
                  </a:lnTo>
                  <a:lnTo>
                    <a:pt x="1976193" y="113897"/>
                  </a:lnTo>
                  <a:lnTo>
                    <a:pt x="2023119" y="130874"/>
                  </a:lnTo>
                  <a:lnTo>
                    <a:pt x="2068061" y="148838"/>
                  </a:lnTo>
                  <a:lnTo>
                    <a:pt x="2110936" y="167751"/>
                  </a:lnTo>
                  <a:lnTo>
                    <a:pt x="2151657" y="187576"/>
                  </a:lnTo>
                  <a:lnTo>
                    <a:pt x="2190142" y="208277"/>
                  </a:lnTo>
                  <a:lnTo>
                    <a:pt x="2226304" y="229815"/>
                  </a:lnTo>
                  <a:lnTo>
                    <a:pt x="2260060" y="252153"/>
                  </a:lnTo>
                  <a:lnTo>
                    <a:pt x="2291324" y="275254"/>
                  </a:lnTo>
                  <a:lnTo>
                    <a:pt x="2346041" y="323595"/>
                  </a:lnTo>
                  <a:lnTo>
                    <a:pt x="2389777" y="374539"/>
                  </a:lnTo>
                  <a:lnTo>
                    <a:pt x="2421856" y="427788"/>
                  </a:lnTo>
                  <a:lnTo>
                    <a:pt x="2441599" y="483042"/>
                  </a:lnTo>
                  <a:lnTo>
                    <a:pt x="2448331" y="540004"/>
                  </a:lnTo>
                  <a:lnTo>
                    <a:pt x="2446634" y="568691"/>
                  </a:lnTo>
                  <a:lnTo>
                    <a:pt x="2433312" y="624858"/>
                  </a:lnTo>
                  <a:lnTo>
                    <a:pt x="2407316" y="679165"/>
                  </a:lnTo>
                  <a:lnTo>
                    <a:pt x="2369324" y="731315"/>
                  </a:lnTo>
                  <a:lnTo>
                    <a:pt x="2320013" y="781009"/>
                  </a:lnTo>
                  <a:lnTo>
                    <a:pt x="2260060" y="827947"/>
                  </a:lnTo>
                  <a:lnTo>
                    <a:pt x="2226304" y="850290"/>
                  </a:lnTo>
                  <a:lnTo>
                    <a:pt x="2190142" y="871832"/>
                  </a:lnTo>
                  <a:lnTo>
                    <a:pt x="2151657" y="892537"/>
                  </a:lnTo>
                  <a:lnTo>
                    <a:pt x="2110936" y="912366"/>
                  </a:lnTo>
                  <a:lnTo>
                    <a:pt x="2068061" y="931282"/>
                  </a:lnTo>
                  <a:lnTo>
                    <a:pt x="2023119" y="949248"/>
                  </a:lnTo>
                  <a:lnTo>
                    <a:pt x="1976193" y="966227"/>
                  </a:lnTo>
                  <a:lnTo>
                    <a:pt x="1927369" y="982182"/>
                  </a:lnTo>
                  <a:lnTo>
                    <a:pt x="1876730" y="997075"/>
                  </a:lnTo>
                  <a:lnTo>
                    <a:pt x="1824362" y="1010868"/>
                  </a:lnTo>
                  <a:lnTo>
                    <a:pt x="1770349" y="1023525"/>
                  </a:lnTo>
                  <a:lnTo>
                    <a:pt x="1714775" y="1035008"/>
                  </a:lnTo>
                  <a:lnTo>
                    <a:pt x="1657726" y="1045280"/>
                  </a:lnTo>
                  <a:lnTo>
                    <a:pt x="1599287" y="1054303"/>
                  </a:lnTo>
                  <a:lnTo>
                    <a:pt x="1539541" y="1062040"/>
                  </a:lnTo>
                  <a:lnTo>
                    <a:pt x="1478573" y="1068455"/>
                  </a:lnTo>
                  <a:lnTo>
                    <a:pt x="1416468" y="1073509"/>
                  </a:lnTo>
                  <a:lnTo>
                    <a:pt x="1353311" y="1077165"/>
                  </a:lnTo>
                  <a:lnTo>
                    <a:pt x="1289186" y="1079386"/>
                  </a:lnTo>
                  <a:lnTo>
                    <a:pt x="1224178" y="1080135"/>
                  </a:lnTo>
                  <a:lnTo>
                    <a:pt x="1159158" y="1079386"/>
                  </a:lnTo>
                  <a:lnTo>
                    <a:pt x="1095023" y="1077165"/>
                  </a:lnTo>
                  <a:lnTo>
                    <a:pt x="1031857" y="1073509"/>
                  </a:lnTo>
                  <a:lnTo>
                    <a:pt x="969745" y="1068455"/>
                  </a:lnTo>
                  <a:lnTo>
                    <a:pt x="908770" y="1062040"/>
                  </a:lnTo>
                  <a:lnTo>
                    <a:pt x="849019" y="1054303"/>
                  </a:lnTo>
                  <a:lnTo>
                    <a:pt x="790574" y="1045280"/>
                  </a:lnTo>
                  <a:lnTo>
                    <a:pt x="733522" y="1035008"/>
                  </a:lnTo>
                  <a:lnTo>
                    <a:pt x="677946" y="1023525"/>
                  </a:lnTo>
                  <a:lnTo>
                    <a:pt x="623932" y="1010868"/>
                  </a:lnTo>
                  <a:lnTo>
                    <a:pt x="571562" y="997075"/>
                  </a:lnTo>
                  <a:lnTo>
                    <a:pt x="520923" y="982182"/>
                  </a:lnTo>
                  <a:lnTo>
                    <a:pt x="472099" y="966227"/>
                  </a:lnTo>
                  <a:lnTo>
                    <a:pt x="425174" y="949248"/>
                  </a:lnTo>
                  <a:lnTo>
                    <a:pt x="380233" y="931282"/>
                  </a:lnTo>
                  <a:lnTo>
                    <a:pt x="337361" y="912366"/>
                  </a:lnTo>
                  <a:lnTo>
                    <a:pt x="296641" y="892537"/>
                  </a:lnTo>
                  <a:lnTo>
                    <a:pt x="258160" y="871832"/>
                  </a:lnTo>
                  <a:lnTo>
                    <a:pt x="222000" y="850290"/>
                  </a:lnTo>
                  <a:lnTo>
                    <a:pt x="188247" y="827947"/>
                  </a:lnTo>
                  <a:lnTo>
                    <a:pt x="156985" y="804841"/>
                  </a:lnTo>
                  <a:lnTo>
                    <a:pt x="102275" y="756487"/>
                  </a:lnTo>
                  <a:lnTo>
                    <a:pt x="58544" y="705529"/>
                  </a:lnTo>
                  <a:lnTo>
                    <a:pt x="26470" y="652262"/>
                  </a:lnTo>
                  <a:lnTo>
                    <a:pt x="6730" y="596988"/>
                  </a:lnTo>
                  <a:lnTo>
                    <a:pt x="0" y="540004"/>
                  </a:lnTo>
                  <a:close/>
                </a:path>
              </a:pathLst>
            </a:custGeom>
            <a:ln w="28575">
              <a:solidFill>
                <a:srgbClr val="4454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80464" y="3531234"/>
            <a:ext cx="14351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Palatino Linotype"/>
                <a:cs typeface="Palatino Linotype"/>
              </a:rPr>
              <a:t>Polymorphic </a:t>
            </a:r>
            <a:r>
              <a:rPr sz="1800" dirty="0">
                <a:solidFill>
                  <a:srgbClr val="FFFFFF"/>
                </a:solidFill>
                <a:latin typeface="Palatino Linotype"/>
                <a:cs typeface="Palatino Linotype"/>
              </a:rPr>
              <a:t>operators</a:t>
            </a:r>
            <a:r>
              <a:rPr sz="1800" spc="-8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Palatino Linotype"/>
                <a:cs typeface="Palatino Linotype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Palatino Linotype"/>
                <a:cs typeface="Palatino Linotype"/>
              </a:rPr>
              <a:t>methods</a:t>
            </a:r>
            <a:endParaRPr sz="1800">
              <a:latin typeface="Palatino Linotype"/>
              <a:cs typeface="Palatino Linotyp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58265" y="4710874"/>
            <a:ext cx="2477135" cy="1108710"/>
            <a:chOff x="1158265" y="4710874"/>
            <a:chExt cx="2477135" cy="1108710"/>
          </a:xfrm>
        </p:grpSpPr>
        <p:sp>
          <p:nvSpPr>
            <p:cNvPr id="16" name="object 16"/>
            <p:cNvSpPr/>
            <p:nvPr/>
          </p:nvSpPr>
          <p:spPr>
            <a:xfrm>
              <a:off x="1172552" y="4725161"/>
              <a:ext cx="2448560" cy="1080135"/>
            </a:xfrm>
            <a:custGeom>
              <a:avLst/>
              <a:gdLst/>
              <a:ahLst/>
              <a:cxnLst/>
              <a:rect l="l" t="t" r="r" b="b"/>
              <a:pathLst>
                <a:path w="2448560" h="1080135">
                  <a:moveTo>
                    <a:pt x="1224191" y="0"/>
                  </a:moveTo>
                  <a:lnTo>
                    <a:pt x="1159171" y="748"/>
                  </a:lnTo>
                  <a:lnTo>
                    <a:pt x="1095036" y="2969"/>
                  </a:lnTo>
                  <a:lnTo>
                    <a:pt x="1031869" y="6625"/>
                  </a:lnTo>
                  <a:lnTo>
                    <a:pt x="969757" y="11679"/>
                  </a:lnTo>
                  <a:lnTo>
                    <a:pt x="908782" y="18093"/>
                  </a:lnTo>
                  <a:lnTo>
                    <a:pt x="849030" y="25830"/>
                  </a:lnTo>
                  <a:lnTo>
                    <a:pt x="790585" y="34853"/>
                  </a:lnTo>
                  <a:lnTo>
                    <a:pt x="733533" y="45124"/>
                  </a:lnTo>
                  <a:lnTo>
                    <a:pt x="677956" y="56606"/>
                  </a:lnTo>
                  <a:lnTo>
                    <a:pt x="623941" y="69262"/>
                  </a:lnTo>
                  <a:lnTo>
                    <a:pt x="571571" y="83054"/>
                  </a:lnTo>
                  <a:lnTo>
                    <a:pt x="520932" y="97945"/>
                  </a:lnTo>
                  <a:lnTo>
                    <a:pt x="472107" y="113897"/>
                  </a:lnTo>
                  <a:lnTo>
                    <a:pt x="425182" y="130874"/>
                  </a:lnTo>
                  <a:lnTo>
                    <a:pt x="380240" y="148838"/>
                  </a:lnTo>
                  <a:lnTo>
                    <a:pt x="337367" y="167751"/>
                  </a:lnTo>
                  <a:lnTo>
                    <a:pt x="296647" y="187576"/>
                  </a:lnTo>
                  <a:lnTo>
                    <a:pt x="258164" y="208277"/>
                  </a:lnTo>
                  <a:lnTo>
                    <a:pt x="222004" y="229815"/>
                  </a:lnTo>
                  <a:lnTo>
                    <a:pt x="188251" y="252153"/>
                  </a:lnTo>
                  <a:lnTo>
                    <a:pt x="156989" y="275254"/>
                  </a:lnTo>
                  <a:lnTo>
                    <a:pt x="102277" y="323595"/>
                  </a:lnTo>
                  <a:lnTo>
                    <a:pt x="58545" y="374539"/>
                  </a:lnTo>
                  <a:lnTo>
                    <a:pt x="26471" y="427788"/>
                  </a:lnTo>
                  <a:lnTo>
                    <a:pt x="6730" y="483042"/>
                  </a:lnTo>
                  <a:lnTo>
                    <a:pt x="0" y="540004"/>
                  </a:lnTo>
                  <a:lnTo>
                    <a:pt x="1696" y="568691"/>
                  </a:lnTo>
                  <a:lnTo>
                    <a:pt x="15017" y="624857"/>
                  </a:lnTo>
                  <a:lnTo>
                    <a:pt x="41009" y="679163"/>
                  </a:lnTo>
                  <a:lnTo>
                    <a:pt x="78996" y="731310"/>
                  </a:lnTo>
                  <a:lnTo>
                    <a:pt x="128302" y="781001"/>
                  </a:lnTo>
                  <a:lnTo>
                    <a:pt x="188251" y="827936"/>
                  </a:lnTo>
                  <a:lnTo>
                    <a:pt x="222004" y="850277"/>
                  </a:lnTo>
                  <a:lnTo>
                    <a:pt x="258164" y="871818"/>
                  </a:lnTo>
                  <a:lnTo>
                    <a:pt x="296647" y="892520"/>
                  </a:lnTo>
                  <a:lnTo>
                    <a:pt x="337367" y="912347"/>
                  </a:lnTo>
                  <a:lnTo>
                    <a:pt x="380240" y="931262"/>
                  </a:lnTo>
                  <a:lnTo>
                    <a:pt x="425182" y="949226"/>
                  </a:lnTo>
                  <a:lnTo>
                    <a:pt x="472107" y="966204"/>
                  </a:lnTo>
                  <a:lnTo>
                    <a:pt x="520932" y="982156"/>
                  </a:lnTo>
                  <a:lnTo>
                    <a:pt x="571571" y="997047"/>
                  </a:lnTo>
                  <a:lnTo>
                    <a:pt x="623941" y="1010839"/>
                  </a:lnTo>
                  <a:lnTo>
                    <a:pt x="677956" y="1023494"/>
                  </a:lnTo>
                  <a:lnTo>
                    <a:pt x="733533" y="1034976"/>
                  </a:lnTo>
                  <a:lnTo>
                    <a:pt x="790585" y="1045246"/>
                  </a:lnTo>
                  <a:lnTo>
                    <a:pt x="849030" y="1054269"/>
                  </a:lnTo>
                  <a:lnTo>
                    <a:pt x="908782" y="1062005"/>
                  </a:lnTo>
                  <a:lnTo>
                    <a:pt x="969757" y="1068418"/>
                  </a:lnTo>
                  <a:lnTo>
                    <a:pt x="1031869" y="1073472"/>
                  </a:lnTo>
                  <a:lnTo>
                    <a:pt x="1095036" y="1077127"/>
                  </a:lnTo>
                  <a:lnTo>
                    <a:pt x="1159171" y="1079348"/>
                  </a:lnTo>
                  <a:lnTo>
                    <a:pt x="1224191" y="1080096"/>
                  </a:lnTo>
                  <a:lnTo>
                    <a:pt x="1289198" y="1079348"/>
                  </a:lnTo>
                  <a:lnTo>
                    <a:pt x="1353322" y="1077127"/>
                  </a:lnTo>
                  <a:lnTo>
                    <a:pt x="1416477" y="1073472"/>
                  </a:lnTo>
                  <a:lnTo>
                    <a:pt x="1478580" y="1068418"/>
                  </a:lnTo>
                  <a:lnTo>
                    <a:pt x="1539544" y="1062005"/>
                  </a:lnTo>
                  <a:lnTo>
                    <a:pt x="1599287" y="1054269"/>
                  </a:lnTo>
                  <a:lnTo>
                    <a:pt x="1657723" y="1045246"/>
                  </a:lnTo>
                  <a:lnTo>
                    <a:pt x="1714767" y="1034976"/>
                  </a:lnTo>
                  <a:lnTo>
                    <a:pt x="1770335" y="1023494"/>
                  </a:lnTo>
                  <a:lnTo>
                    <a:pt x="1824343" y="1010839"/>
                  </a:lnTo>
                  <a:lnTo>
                    <a:pt x="1876706" y="997047"/>
                  </a:lnTo>
                  <a:lnTo>
                    <a:pt x="1927339" y="982156"/>
                  </a:lnTo>
                  <a:lnTo>
                    <a:pt x="1976158" y="966204"/>
                  </a:lnTo>
                  <a:lnTo>
                    <a:pt x="2023077" y="949226"/>
                  </a:lnTo>
                  <a:lnTo>
                    <a:pt x="2068014" y="931262"/>
                  </a:lnTo>
                  <a:lnTo>
                    <a:pt x="2110882" y="912347"/>
                  </a:lnTo>
                  <a:lnTo>
                    <a:pt x="2151597" y="892520"/>
                  </a:lnTo>
                  <a:lnTo>
                    <a:pt x="2190076" y="871818"/>
                  </a:lnTo>
                  <a:lnTo>
                    <a:pt x="2226232" y="850277"/>
                  </a:lnTo>
                  <a:lnTo>
                    <a:pt x="2259982" y="827936"/>
                  </a:lnTo>
                  <a:lnTo>
                    <a:pt x="2291241" y="804832"/>
                  </a:lnTo>
                  <a:lnTo>
                    <a:pt x="2345948" y="756481"/>
                  </a:lnTo>
                  <a:lnTo>
                    <a:pt x="2389675" y="705525"/>
                  </a:lnTo>
                  <a:lnTo>
                    <a:pt x="2421747" y="652261"/>
                  </a:lnTo>
                  <a:lnTo>
                    <a:pt x="2441486" y="596988"/>
                  </a:lnTo>
                  <a:lnTo>
                    <a:pt x="2448217" y="540004"/>
                  </a:lnTo>
                  <a:lnTo>
                    <a:pt x="2446520" y="511328"/>
                  </a:lnTo>
                  <a:lnTo>
                    <a:pt x="2433201" y="455183"/>
                  </a:lnTo>
                  <a:lnTo>
                    <a:pt x="2407210" y="400894"/>
                  </a:lnTo>
                  <a:lnTo>
                    <a:pt x="2369226" y="348760"/>
                  </a:lnTo>
                  <a:lnTo>
                    <a:pt x="2319925" y="299080"/>
                  </a:lnTo>
                  <a:lnTo>
                    <a:pt x="2259982" y="252153"/>
                  </a:lnTo>
                  <a:lnTo>
                    <a:pt x="2226232" y="229815"/>
                  </a:lnTo>
                  <a:lnTo>
                    <a:pt x="2190076" y="208277"/>
                  </a:lnTo>
                  <a:lnTo>
                    <a:pt x="2151597" y="187576"/>
                  </a:lnTo>
                  <a:lnTo>
                    <a:pt x="2110882" y="167751"/>
                  </a:lnTo>
                  <a:lnTo>
                    <a:pt x="2068014" y="148838"/>
                  </a:lnTo>
                  <a:lnTo>
                    <a:pt x="2023077" y="130874"/>
                  </a:lnTo>
                  <a:lnTo>
                    <a:pt x="1976158" y="113897"/>
                  </a:lnTo>
                  <a:lnTo>
                    <a:pt x="1927339" y="97945"/>
                  </a:lnTo>
                  <a:lnTo>
                    <a:pt x="1876706" y="83054"/>
                  </a:lnTo>
                  <a:lnTo>
                    <a:pt x="1824343" y="69262"/>
                  </a:lnTo>
                  <a:lnTo>
                    <a:pt x="1770335" y="56606"/>
                  </a:lnTo>
                  <a:lnTo>
                    <a:pt x="1714767" y="45124"/>
                  </a:lnTo>
                  <a:lnTo>
                    <a:pt x="1657723" y="34853"/>
                  </a:lnTo>
                  <a:lnTo>
                    <a:pt x="1599287" y="25830"/>
                  </a:lnTo>
                  <a:lnTo>
                    <a:pt x="1539544" y="18093"/>
                  </a:lnTo>
                  <a:lnTo>
                    <a:pt x="1478580" y="11679"/>
                  </a:lnTo>
                  <a:lnTo>
                    <a:pt x="1416477" y="6625"/>
                  </a:lnTo>
                  <a:lnTo>
                    <a:pt x="1353322" y="2969"/>
                  </a:lnTo>
                  <a:lnTo>
                    <a:pt x="1289198" y="748"/>
                  </a:lnTo>
                  <a:lnTo>
                    <a:pt x="1224191" y="0"/>
                  </a:lnTo>
                  <a:close/>
                </a:path>
              </a:pathLst>
            </a:custGeom>
            <a:solidFill>
              <a:srgbClr val="5F76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2552" y="4725161"/>
              <a:ext cx="2448560" cy="1080135"/>
            </a:xfrm>
            <a:custGeom>
              <a:avLst/>
              <a:gdLst/>
              <a:ahLst/>
              <a:cxnLst/>
              <a:rect l="l" t="t" r="r" b="b"/>
              <a:pathLst>
                <a:path w="2448560" h="1080135">
                  <a:moveTo>
                    <a:pt x="0" y="540004"/>
                  </a:moveTo>
                  <a:lnTo>
                    <a:pt x="6730" y="483042"/>
                  </a:lnTo>
                  <a:lnTo>
                    <a:pt x="26471" y="427788"/>
                  </a:lnTo>
                  <a:lnTo>
                    <a:pt x="58545" y="374539"/>
                  </a:lnTo>
                  <a:lnTo>
                    <a:pt x="102277" y="323595"/>
                  </a:lnTo>
                  <a:lnTo>
                    <a:pt x="156989" y="275254"/>
                  </a:lnTo>
                  <a:lnTo>
                    <a:pt x="188251" y="252153"/>
                  </a:lnTo>
                  <a:lnTo>
                    <a:pt x="222004" y="229815"/>
                  </a:lnTo>
                  <a:lnTo>
                    <a:pt x="258164" y="208277"/>
                  </a:lnTo>
                  <a:lnTo>
                    <a:pt x="296647" y="187576"/>
                  </a:lnTo>
                  <a:lnTo>
                    <a:pt x="337367" y="167751"/>
                  </a:lnTo>
                  <a:lnTo>
                    <a:pt x="380240" y="148838"/>
                  </a:lnTo>
                  <a:lnTo>
                    <a:pt x="425182" y="130874"/>
                  </a:lnTo>
                  <a:lnTo>
                    <a:pt x="472107" y="113897"/>
                  </a:lnTo>
                  <a:lnTo>
                    <a:pt x="520932" y="97945"/>
                  </a:lnTo>
                  <a:lnTo>
                    <a:pt x="571571" y="83054"/>
                  </a:lnTo>
                  <a:lnTo>
                    <a:pt x="623941" y="69262"/>
                  </a:lnTo>
                  <a:lnTo>
                    <a:pt x="677956" y="56606"/>
                  </a:lnTo>
                  <a:lnTo>
                    <a:pt x="733533" y="45124"/>
                  </a:lnTo>
                  <a:lnTo>
                    <a:pt x="790585" y="34853"/>
                  </a:lnTo>
                  <a:lnTo>
                    <a:pt x="849030" y="25830"/>
                  </a:lnTo>
                  <a:lnTo>
                    <a:pt x="908782" y="18093"/>
                  </a:lnTo>
                  <a:lnTo>
                    <a:pt x="969757" y="11679"/>
                  </a:lnTo>
                  <a:lnTo>
                    <a:pt x="1031869" y="6625"/>
                  </a:lnTo>
                  <a:lnTo>
                    <a:pt x="1095036" y="2969"/>
                  </a:lnTo>
                  <a:lnTo>
                    <a:pt x="1159171" y="748"/>
                  </a:lnTo>
                  <a:lnTo>
                    <a:pt x="1224191" y="0"/>
                  </a:lnTo>
                  <a:lnTo>
                    <a:pt x="1289198" y="748"/>
                  </a:lnTo>
                  <a:lnTo>
                    <a:pt x="1353322" y="2969"/>
                  </a:lnTo>
                  <a:lnTo>
                    <a:pt x="1416477" y="6625"/>
                  </a:lnTo>
                  <a:lnTo>
                    <a:pt x="1478580" y="11679"/>
                  </a:lnTo>
                  <a:lnTo>
                    <a:pt x="1539544" y="18093"/>
                  </a:lnTo>
                  <a:lnTo>
                    <a:pt x="1599287" y="25830"/>
                  </a:lnTo>
                  <a:lnTo>
                    <a:pt x="1657723" y="34853"/>
                  </a:lnTo>
                  <a:lnTo>
                    <a:pt x="1714767" y="45124"/>
                  </a:lnTo>
                  <a:lnTo>
                    <a:pt x="1770335" y="56606"/>
                  </a:lnTo>
                  <a:lnTo>
                    <a:pt x="1824343" y="69262"/>
                  </a:lnTo>
                  <a:lnTo>
                    <a:pt x="1876706" y="83054"/>
                  </a:lnTo>
                  <a:lnTo>
                    <a:pt x="1927339" y="97945"/>
                  </a:lnTo>
                  <a:lnTo>
                    <a:pt x="1976158" y="113897"/>
                  </a:lnTo>
                  <a:lnTo>
                    <a:pt x="2023077" y="130874"/>
                  </a:lnTo>
                  <a:lnTo>
                    <a:pt x="2068014" y="148838"/>
                  </a:lnTo>
                  <a:lnTo>
                    <a:pt x="2110882" y="167751"/>
                  </a:lnTo>
                  <a:lnTo>
                    <a:pt x="2151597" y="187576"/>
                  </a:lnTo>
                  <a:lnTo>
                    <a:pt x="2190076" y="208277"/>
                  </a:lnTo>
                  <a:lnTo>
                    <a:pt x="2226232" y="229815"/>
                  </a:lnTo>
                  <a:lnTo>
                    <a:pt x="2259982" y="252153"/>
                  </a:lnTo>
                  <a:lnTo>
                    <a:pt x="2291241" y="275254"/>
                  </a:lnTo>
                  <a:lnTo>
                    <a:pt x="2345948" y="323595"/>
                  </a:lnTo>
                  <a:lnTo>
                    <a:pt x="2389675" y="374539"/>
                  </a:lnTo>
                  <a:lnTo>
                    <a:pt x="2421747" y="427788"/>
                  </a:lnTo>
                  <a:lnTo>
                    <a:pt x="2441486" y="483042"/>
                  </a:lnTo>
                  <a:lnTo>
                    <a:pt x="2448217" y="540004"/>
                  </a:lnTo>
                  <a:lnTo>
                    <a:pt x="2446520" y="568691"/>
                  </a:lnTo>
                  <a:lnTo>
                    <a:pt x="2433201" y="624857"/>
                  </a:lnTo>
                  <a:lnTo>
                    <a:pt x="2407210" y="679163"/>
                  </a:lnTo>
                  <a:lnTo>
                    <a:pt x="2369226" y="731310"/>
                  </a:lnTo>
                  <a:lnTo>
                    <a:pt x="2319925" y="781001"/>
                  </a:lnTo>
                  <a:lnTo>
                    <a:pt x="2259982" y="827936"/>
                  </a:lnTo>
                  <a:lnTo>
                    <a:pt x="2226232" y="850277"/>
                  </a:lnTo>
                  <a:lnTo>
                    <a:pt x="2190076" y="871818"/>
                  </a:lnTo>
                  <a:lnTo>
                    <a:pt x="2151597" y="892520"/>
                  </a:lnTo>
                  <a:lnTo>
                    <a:pt x="2110882" y="912347"/>
                  </a:lnTo>
                  <a:lnTo>
                    <a:pt x="2068014" y="931262"/>
                  </a:lnTo>
                  <a:lnTo>
                    <a:pt x="2023077" y="949226"/>
                  </a:lnTo>
                  <a:lnTo>
                    <a:pt x="1976158" y="966204"/>
                  </a:lnTo>
                  <a:lnTo>
                    <a:pt x="1927339" y="982156"/>
                  </a:lnTo>
                  <a:lnTo>
                    <a:pt x="1876706" y="997047"/>
                  </a:lnTo>
                  <a:lnTo>
                    <a:pt x="1824343" y="1010839"/>
                  </a:lnTo>
                  <a:lnTo>
                    <a:pt x="1770335" y="1023494"/>
                  </a:lnTo>
                  <a:lnTo>
                    <a:pt x="1714767" y="1034976"/>
                  </a:lnTo>
                  <a:lnTo>
                    <a:pt x="1657723" y="1045246"/>
                  </a:lnTo>
                  <a:lnTo>
                    <a:pt x="1599287" y="1054269"/>
                  </a:lnTo>
                  <a:lnTo>
                    <a:pt x="1539544" y="1062005"/>
                  </a:lnTo>
                  <a:lnTo>
                    <a:pt x="1478580" y="1068418"/>
                  </a:lnTo>
                  <a:lnTo>
                    <a:pt x="1416477" y="1073472"/>
                  </a:lnTo>
                  <a:lnTo>
                    <a:pt x="1353322" y="1077127"/>
                  </a:lnTo>
                  <a:lnTo>
                    <a:pt x="1289198" y="1079348"/>
                  </a:lnTo>
                  <a:lnTo>
                    <a:pt x="1224191" y="1080096"/>
                  </a:lnTo>
                  <a:lnTo>
                    <a:pt x="1159171" y="1079348"/>
                  </a:lnTo>
                  <a:lnTo>
                    <a:pt x="1095036" y="1077127"/>
                  </a:lnTo>
                  <a:lnTo>
                    <a:pt x="1031869" y="1073472"/>
                  </a:lnTo>
                  <a:lnTo>
                    <a:pt x="969757" y="1068418"/>
                  </a:lnTo>
                  <a:lnTo>
                    <a:pt x="908782" y="1062005"/>
                  </a:lnTo>
                  <a:lnTo>
                    <a:pt x="849030" y="1054269"/>
                  </a:lnTo>
                  <a:lnTo>
                    <a:pt x="790585" y="1045246"/>
                  </a:lnTo>
                  <a:lnTo>
                    <a:pt x="733533" y="1034976"/>
                  </a:lnTo>
                  <a:lnTo>
                    <a:pt x="677956" y="1023494"/>
                  </a:lnTo>
                  <a:lnTo>
                    <a:pt x="623941" y="1010839"/>
                  </a:lnTo>
                  <a:lnTo>
                    <a:pt x="571571" y="997047"/>
                  </a:lnTo>
                  <a:lnTo>
                    <a:pt x="520932" y="982156"/>
                  </a:lnTo>
                  <a:lnTo>
                    <a:pt x="472107" y="966204"/>
                  </a:lnTo>
                  <a:lnTo>
                    <a:pt x="425182" y="949226"/>
                  </a:lnTo>
                  <a:lnTo>
                    <a:pt x="380240" y="931262"/>
                  </a:lnTo>
                  <a:lnTo>
                    <a:pt x="337367" y="912347"/>
                  </a:lnTo>
                  <a:lnTo>
                    <a:pt x="296647" y="892520"/>
                  </a:lnTo>
                  <a:lnTo>
                    <a:pt x="258164" y="871818"/>
                  </a:lnTo>
                  <a:lnTo>
                    <a:pt x="222004" y="850277"/>
                  </a:lnTo>
                  <a:lnTo>
                    <a:pt x="188251" y="827936"/>
                  </a:lnTo>
                  <a:lnTo>
                    <a:pt x="156989" y="804832"/>
                  </a:lnTo>
                  <a:lnTo>
                    <a:pt x="102277" y="756481"/>
                  </a:lnTo>
                  <a:lnTo>
                    <a:pt x="58545" y="705525"/>
                  </a:lnTo>
                  <a:lnTo>
                    <a:pt x="26471" y="652261"/>
                  </a:lnTo>
                  <a:lnTo>
                    <a:pt x="6730" y="596988"/>
                  </a:lnTo>
                  <a:lnTo>
                    <a:pt x="0" y="540004"/>
                  </a:lnTo>
                  <a:close/>
                </a:path>
              </a:pathLst>
            </a:custGeom>
            <a:ln w="28575">
              <a:solidFill>
                <a:srgbClr val="4454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656333" y="4690617"/>
            <a:ext cx="14808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Palatino Linotype"/>
                <a:cs typeface="Palatino Linotype"/>
              </a:rPr>
              <a:t>Functions</a:t>
            </a:r>
            <a:r>
              <a:rPr sz="1800" spc="-75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Palatino Linotype"/>
                <a:cs typeface="Palatino Linotype"/>
              </a:rPr>
              <a:t>of </a:t>
            </a:r>
            <a:r>
              <a:rPr sz="1800" spc="-10" dirty="0">
                <a:solidFill>
                  <a:srgbClr val="FFFFFF"/>
                </a:solidFill>
                <a:latin typeface="Palatino Linotype"/>
                <a:cs typeface="Palatino Linotype"/>
              </a:rPr>
              <a:t>‘type’, ‘isinstance’, ‘issubclass’</a:t>
            </a:r>
            <a:r>
              <a:rPr sz="1800" spc="-65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Palatino Linotype"/>
                <a:cs typeface="Palatino Linotype"/>
              </a:rPr>
              <a:t>etc</a:t>
            </a:r>
            <a:endParaRPr sz="1800">
              <a:latin typeface="Palatino Linotype"/>
              <a:cs typeface="Palatino Linotyp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09856" y="3414712"/>
            <a:ext cx="2477135" cy="1108710"/>
            <a:chOff x="5709856" y="3414712"/>
            <a:chExt cx="2477135" cy="1108710"/>
          </a:xfrm>
        </p:grpSpPr>
        <p:sp>
          <p:nvSpPr>
            <p:cNvPr id="20" name="object 20"/>
            <p:cNvSpPr/>
            <p:nvPr/>
          </p:nvSpPr>
          <p:spPr>
            <a:xfrm>
              <a:off x="5724144" y="3429000"/>
              <a:ext cx="2448560" cy="1080135"/>
            </a:xfrm>
            <a:custGeom>
              <a:avLst/>
              <a:gdLst/>
              <a:ahLst/>
              <a:cxnLst/>
              <a:rect l="l" t="t" r="r" b="b"/>
              <a:pathLst>
                <a:path w="2448559" h="1080135">
                  <a:moveTo>
                    <a:pt x="1224152" y="0"/>
                  </a:moveTo>
                  <a:lnTo>
                    <a:pt x="1159133" y="748"/>
                  </a:lnTo>
                  <a:lnTo>
                    <a:pt x="1094998" y="2969"/>
                  </a:lnTo>
                  <a:lnTo>
                    <a:pt x="1031832" y="6625"/>
                  </a:lnTo>
                  <a:lnTo>
                    <a:pt x="969720" y="11679"/>
                  </a:lnTo>
                  <a:lnTo>
                    <a:pt x="908747" y="18093"/>
                  </a:lnTo>
                  <a:lnTo>
                    <a:pt x="848996" y="25830"/>
                  </a:lnTo>
                  <a:lnTo>
                    <a:pt x="790552" y="34853"/>
                  </a:lnTo>
                  <a:lnTo>
                    <a:pt x="733501" y="45124"/>
                  </a:lnTo>
                  <a:lnTo>
                    <a:pt x="677926" y="56606"/>
                  </a:lnTo>
                  <a:lnTo>
                    <a:pt x="623912" y="69262"/>
                  </a:lnTo>
                  <a:lnTo>
                    <a:pt x="571544" y="83054"/>
                  </a:lnTo>
                  <a:lnTo>
                    <a:pt x="520906" y="97945"/>
                  </a:lnTo>
                  <a:lnTo>
                    <a:pt x="472083" y="113897"/>
                  </a:lnTo>
                  <a:lnTo>
                    <a:pt x="425160" y="130874"/>
                  </a:lnTo>
                  <a:lnTo>
                    <a:pt x="380220" y="148838"/>
                  </a:lnTo>
                  <a:lnTo>
                    <a:pt x="337349" y="167751"/>
                  </a:lnTo>
                  <a:lnTo>
                    <a:pt x="296630" y="187576"/>
                  </a:lnTo>
                  <a:lnTo>
                    <a:pt x="258150" y="208277"/>
                  </a:lnTo>
                  <a:lnTo>
                    <a:pt x="221991" y="229815"/>
                  </a:lnTo>
                  <a:lnTo>
                    <a:pt x="188240" y="252153"/>
                  </a:lnTo>
                  <a:lnTo>
                    <a:pt x="156979" y="275254"/>
                  </a:lnTo>
                  <a:lnTo>
                    <a:pt x="102271" y="323595"/>
                  </a:lnTo>
                  <a:lnTo>
                    <a:pt x="58542" y="374539"/>
                  </a:lnTo>
                  <a:lnTo>
                    <a:pt x="26469" y="427788"/>
                  </a:lnTo>
                  <a:lnTo>
                    <a:pt x="6730" y="483042"/>
                  </a:lnTo>
                  <a:lnTo>
                    <a:pt x="0" y="540004"/>
                  </a:lnTo>
                  <a:lnTo>
                    <a:pt x="1696" y="568691"/>
                  </a:lnTo>
                  <a:lnTo>
                    <a:pt x="15016" y="624858"/>
                  </a:lnTo>
                  <a:lnTo>
                    <a:pt x="41006" y="679165"/>
                  </a:lnTo>
                  <a:lnTo>
                    <a:pt x="78991" y="731315"/>
                  </a:lnTo>
                  <a:lnTo>
                    <a:pt x="128295" y="781009"/>
                  </a:lnTo>
                  <a:lnTo>
                    <a:pt x="188240" y="827947"/>
                  </a:lnTo>
                  <a:lnTo>
                    <a:pt x="221991" y="850290"/>
                  </a:lnTo>
                  <a:lnTo>
                    <a:pt x="258150" y="871832"/>
                  </a:lnTo>
                  <a:lnTo>
                    <a:pt x="296630" y="892537"/>
                  </a:lnTo>
                  <a:lnTo>
                    <a:pt x="337349" y="912366"/>
                  </a:lnTo>
                  <a:lnTo>
                    <a:pt x="380220" y="931282"/>
                  </a:lnTo>
                  <a:lnTo>
                    <a:pt x="425160" y="949248"/>
                  </a:lnTo>
                  <a:lnTo>
                    <a:pt x="472083" y="966227"/>
                  </a:lnTo>
                  <a:lnTo>
                    <a:pt x="520906" y="982182"/>
                  </a:lnTo>
                  <a:lnTo>
                    <a:pt x="571544" y="997075"/>
                  </a:lnTo>
                  <a:lnTo>
                    <a:pt x="623912" y="1010868"/>
                  </a:lnTo>
                  <a:lnTo>
                    <a:pt x="677926" y="1023525"/>
                  </a:lnTo>
                  <a:lnTo>
                    <a:pt x="733501" y="1035008"/>
                  </a:lnTo>
                  <a:lnTo>
                    <a:pt x="790552" y="1045280"/>
                  </a:lnTo>
                  <a:lnTo>
                    <a:pt x="848996" y="1054303"/>
                  </a:lnTo>
                  <a:lnTo>
                    <a:pt x="908747" y="1062040"/>
                  </a:lnTo>
                  <a:lnTo>
                    <a:pt x="969720" y="1068455"/>
                  </a:lnTo>
                  <a:lnTo>
                    <a:pt x="1031832" y="1073509"/>
                  </a:lnTo>
                  <a:lnTo>
                    <a:pt x="1094998" y="1077165"/>
                  </a:lnTo>
                  <a:lnTo>
                    <a:pt x="1159133" y="1079386"/>
                  </a:lnTo>
                  <a:lnTo>
                    <a:pt x="1224152" y="1080135"/>
                  </a:lnTo>
                  <a:lnTo>
                    <a:pt x="1289161" y="1079386"/>
                  </a:lnTo>
                  <a:lnTo>
                    <a:pt x="1353285" y="1077165"/>
                  </a:lnTo>
                  <a:lnTo>
                    <a:pt x="1416443" y="1073509"/>
                  </a:lnTo>
                  <a:lnTo>
                    <a:pt x="1478547" y="1068455"/>
                  </a:lnTo>
                  <a:lnTo>
                    <a:pt x="1539515" y="1062040"/>
                  </a:lnTo>
                  <a:lnTo>
                    <a:pt x="1599261" y="1054303"/>
                  </a:lnTo>
                  <a:lnTo>
                    <a:pt x="1657701" y="1045280"/>
                  </a:lnTo>
                  <a:lnTo>
                    <a:pt x="1714750" y="1035008"/>
                  </a:lnTo>
                  <a:lnTo>
                    <a:pt x="1770323" y="1023525"/>
                  </a:lnTo>
                  <a:lnTo>
                    <a:pt x="1824336" y="1010868"/>
                  </a:lnTo>
                  <a:lnTo>
                    <a:pt x="1876704" y="997075"/>
                  </a:lnTo>
                  <a:lnTo>
                    <a:pt x="1927343" y="982182"/>
                  </a:lnTo>
                  <a:lnTo>
                    <a:pt x="1976168" y="966227"/>
                  </a:lnTo>
                  <a:lnTo>
                    <a:pt x="2023094" y="949248"/>
                  </a:lnTo>
                  <a:lnTo>
                    <a:pt x="2068036" y="931282"/>
                  </a:lnTo>
                  <a:lnTo>
                    <a:pt x="2110910" y="912366"/>
                  </a:lnTo>
                  <a:lnTo>
                    <a:pt x="2151632" y="892537"/>
                  </a:lnTo>
                  <a:lnTo>
                    <a:pt x="2190116" y="871832"/>
                  </a:lnTo>
                  <a:lnTo>
                    <a:pt x="2226279" y="850290"/>
                  </a:lnTo>
                  <a:lnTo>
                    <a:pt x="2260034" y="827947"/>
                  </a:lnTo>
                  <a:lnTo>
                    <a:pt x="2291299" y="804841"/>
                  </a:lnTo>
                  <a:lnTo>
                    <a:pt x="2346016" y="756487"/>
                  </a:lnTo>
                  <a:lnTo>
                    <a:pt x="2389752" y="705529"/>
                  </a:lnTo>
                  <a:lnTo>
                    <a:pt x="2421830" y="652262"/>
                  </a:lnTo>
                  <a:lnTo>
                    <a:pt x="2441574" y="596988"/>
                  </a:lnTo>
                  <a:lnTo>
                    <a:pt x="2448305" y="540004"/>
                  </a:lnTo>
                  <a:lnTo>
                    <a:pt x="2446608" y="511328"/>
                  </a:lnTo>
                  <a:lnTo>
                    <a:pt x="2433286" y="455183"/>
                  </a:lnTo>
                  <a:lnTo>
                    <a:pt x="2407291" y="400894"/>
                  </a:lnTo>
                  <a:lnTo>
                    <a:pt x="2369299" y="348760"/>
                  </a:lnTo>
                  <a:lnTo>
                    <a:pt x="2319988" y="299080"/>
                  </a:lnTo>
                  <a:lnTo>
                    <a:pt x="2260034" y="252153"/>
                  </a:lnTo>
                  <a:lnTo>
                    <a:pt x="2226279" y="229815"/>
                  </a:lnTo>
                  <a:lnTo>
                    <a:pt x="2190116" y="208277"/>
                  </a:lnTo>
                  <a:lnTo>
                    <a:pt x="2151632" y="187576"/>
                  </a:lnTo>
                  <a:lnTo>
                    <a:pt x="2110910" y="167751"/>
                  </a:lnTo>
                  <a:lnTo>
                    <a:pt x="2068036" y="148838"/>
                  </a:lnTo>
                  <a:lnTo>
                    <a:pt x="2023094" y="130874"/>
                  </a:lnTo>
                  <a:lnTo>
                    <a:pt x="1976168" y="113897"/>
                  </a:lnTo>
                  <a:lnTo>
                    <a:pt x="1927343" y="97945"/>
                  </a:lnTo>
                  <a:lnTo>
                    <a:pt x="1876704" y="83054"/>
                  </a:lnTo>
                  <a:lnTo>
                    <a:pt x="1824336" y="69262"/>
                  </a:lnTo>
                  <a:lnTo>
                    <a:pt x="1770323" y="56606"/>
                  </a:lnTo>
                  <a:lnTo>
                    <a:pt x="1714750" y="45124"/>
                  </a:lnTo>
                  <a:lnTo>
                    <a:pt x="1657701" y="34853"/>
                  </a:lnTo>
                  <a:lnTo>
                    <a:pt x="1599261" y="25830"/>
                  </a:lnTo>
                  <a:lnTo>
                    <a:pt x="1539515" y="18093"/>
                  </a:lnTo>
                  <a:lnTo>
                    <a:pt x="1478547" y="11679"/>
                  </a:lnTo>
                  <a:lnTo>
                    <a:pt x="1416443" y="6625"/>
                  </a:lnTo>
                  <a:lnTo>
                    <a:pt x="1353285" y="2969"/>
                  </a:lnTo>
                  <a:lnTo>
                    <a:pt x="1289161" y="748"/>
                  </a:lnTo>
                  <a:lnTo>
                    <a:pt x="1224152" y="0"/>
                  </a:lnTo>
                  <a:close/>
                </a:path>
              </a:pathLst>
            </a:custGeom>
            <a:solidFill>
              <a:srgbClr val="5F76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24144" y="3429000"/>
              <a:ext cx="2448560" cy="1080135"/>
            </a:xfrm>
            <a:custGeom>
              <a:avLst/>
              <a:gdLst/>
              <a:ahLst/>
              <a:cxnLst/>
              <a:rect l="l" t="t" r="r" b="b"/>
              <a:pathLst>
                <a:path w="2448559" h="1080135">
                  <a:moveTo>
                    <a:pt x="0" y="540004"/>
                  </a:moveTo>
                  <a:lnTo>
                    <a:pt x="6730" y="483042"/>
                  </a:lnTo>
                  <a:lnTo>
                    <a:pt x="26469" y="427788"/>
                  </a:lnTo>
                  <a:lnTo>
                    <a:pt x="58542" y="374539"/>
                  </a:lnTo>
                  <a:lnTo>
                    <a:pt x="102271" y="323595"/>
                  </a:lnTo>
                  <a:lnTo>
                    <a:pt x="156979" y="275254"/>
                  </a:lnTo>
                  <a:lnTo>
                    <a:pt x="188240" y="252153"/>
                  </a:lnTo>
                  <a:lnTo>
                    <a:pt x="221991" y="229815"/>
                  </a:lnTo>
                  <a:lnTo>
                    <a:pt x="258150" y="208277"/>
                  </a:lnTo>
                  <a:lnTo>
                    <a:pt x="296630" y="187576"/>
                  </a:lnTo>
                  <a:lnTo>
                    <a:pt x="337349" y="167751"/>
                  </a:lnTo>
                  <a:lnTo>
                    <a:pt x="380220" y="148838"/>
                  </a:lnTo>
                  <a:lnTo>
                    <a:pt x="425160" y="130874"/>
                  </a:lnTo>
                  <a:lnTo>
                    <a:pt x="472083" y="113897"/>
                  </a:lnTo>
                  <a:lnTo>
                    <a:pt x="520906" y="97945"/>
                  </a:lnTo>
                  <a:lnTo>
                    <a:pt x="571544" y="83054"/>
                  </a:lnTo>
                  <a:lnTo>
                    <a:pt x="623912" y="69262"/>
                  </a:lnTo>
                  <a:lnTo>
                    <a:pt x="677926" y="56606"/>
                  </a:lnTo>
                  <a:lnTo>
                    <a:pt x="733501" y="45124"/>
                  </a:lnTo>
                  <a:lnTo>
                    <a:pt x="790552" y="34853"/>
                  </a:lnTo>
                  <a:lnTo>
                    <a:pt x="848996" y="25830"/>
                  </a:lnTo>
                  <a:lnTo>
                    <a:pt x="908747" y="18093"/>
                  </a:lnTo>
                  <a:lnTo>
                    <a:pt x="969720" y="11679"/>
                  </a:lnTo>
                  <a:lnTo>
                    <a:pt x="1031832" y="6625"/>
                  </a:lnTo>
                  <a:lnTo>
                    <a:pt x="1094998" y="2969"/>
                  </a:lnTo>
                  <a:lnTo>
                    <a:pt x="1159133" y="748"/>
                  </a:lnTo>
                  <a:lnTo>
                    <a:pt x="1224152" y="0"/>
                  </a:lnTo>
                  <a:lnTo>
                    <a:pt x="1289161" y="748"/>
                  </a:lnTo>
                  <a:lnTo>
                    <a:pt x="1353285" y="2969"/>
                  </a:lnTo>
                  <a:lnTo>
                    <a:pt x="1416443" y="6625"/>
                  </a:lnTo>
                  <a:lnTo>
                    <a:pt x="1478547" y="11679"/>
                  </a:lnTo>
                  <a:lnTo>
                    <a:pt x="1539515" y="18093"/>
                  </a:lnTo>
                  <a:lnTo>
                    <a:pt x="1599261" y="25830"/>
                  </a:lnTo>
                  <a:lnTo>
                    <a:pt x="1657701" y="34853"/>
                  </a:lnTo>
                  <a:lnTo>
                    <a:pt x="1714750" y="45124"/>
                  </a:lnTo>
                  <a:lnTo>
                    <a:pt x="1770323" y="56606"/>
                  </a:lnTo>
                  <a:lnTo>
                    <a:pt x="1824336" y="69262"/>
                  </a:lnTo>
                  <a:lnTo>
                    <a:pt x="1876704" y="83054"/>
                  </a:lnTo>
                  <a:lnTo>
                    <a:pt x="1927343" y="97945"/>
                  </a:lnTo>
                  <a:lnTo>
                    <a:pt x="1976168" y="113897"/>
                  </a:lnTo>
                  <a:lnTo>
                    <a:pt x="2023094" y="130874"/>
                  </a:lnTo>
                  <a:lnTo>
                    <a:pt x="2068036" y="148838"/>
                  </a:lnTo>
                  <a:lnTo>
                    <a:pt x="2110910" y="167751"/>
                  </a:lnTo>
                  <a:lnTo>
                    <a:pt x="2151632" y="187576"/>
                  </a:lnTo>
                  <a:lnTo>
                    <a:pt x="2190116" y="208277"/>
                  </a:lnTo>
                  <a:lnTo>
                    <a:pt x="2226279" y="229815"/>
                  </a:lnTo>
                  <a:lnTo>
                    <a:pt x="2260034" y="252153"/>
                  </a:lnTo>
                  <a:lnTo>
                    <a:pt x="2291299" y="275254"/>
                  </a:lnTo>
                  <a:lnTo>
                    <a:pt x="2346016" y="323595"/>
                  </a:lnTo>
                  <a:lnTo>
                    <a:pt x="2389752" y="374539"/>
                  </a:lnTo>
                  <a:lnTo>
                    <a:pt x="2421830" y="427788"/>
                  </a:lnTo>
                  <a:lnTo>
                    <a:pt x="2441574" y="483042"/>
                  </a:lnTo>
                  <a:lnTo>
                    <a:pt x="2448305" y="540004"/>
                  </a:lnTo>
                  <a:lnTo>
                    <a:pt x="2446608" y="568691"/>
                  </a:lnTo>
                  <a:lnTo>
                    <a:pt x="2433286" y="624858"/>
                  </a:lnTo>
                  <a:lnTo>
                    <a:pt x="2407291" y="679165"/>
                  </a:lnTo>
                  <a:lnTo>
                    <a:pt x="2369299" y="731315"/>
                  </a:lnTo>
                  <a:lnTo>
                    <a:pt x="2319988" y="781009"/>
                  </a:lnTo>
                  <a:lnTo>
                    <a:pt x="2260034" y="827947"/>
                  </a:lnTo>
                  <a:lnTo>
                    <a:pt x="2226279" y="850290"/>
                  </a:lnTo>
                  <a:lnTo>
                    <a:pt x="2190116" y="871832"/>
                  </a:lnTo>
                  <a:lnTo>
                    <a:pt x="2151632" y="892537"/>
                  </a:lnTo>
                  <a:lnTo>
                    <a:pt x="2110910" y="912366"/>
                  </a:lnTo>
                  <a:lnTo>
                    <a:pt x="2068036" y="931282"/>
                  </a:lnTo>
                  <a:lnTo>
                    <a:pt x="2023094" y="949248"/>
                  </a:lnTo>
                  <a:lnTo>
                    <a:pt x="1976168" y="966227"/>
                  </a:lnTo>
                  <a:lnTo>
                    <a:pt x="1927343" y="982182"/>
                  </a:lnTo>
                  <a:lnTo>
                    <a:pt x="1876704" y="997075"/>
                  </a:lnTo>
                  <a:lnTo>
                    <a:pt x="1824336" y="1010868"/>
                  </a:lnTo>
                  <a:lnTo>
                    <a:pt x="1770323" y="1023525"/>
                  </a:lnTo>
                  <a:lnTo>
                    <a:pt x="1714750" y="1035008"/>
                  </a:lnTo>
                  <a:lnTo>
                    <a:pt x="1657701" y="1045280"/>
                  </a:lnTo>
                  <a:lnTo>
                    <a:pt x="1599261" y="1054303"/>
                  </a:lnTo>
                  <a:lnTo>
                    <a:pt x="1539515" y="1062040"/>
                  </a:lnTo>
                  <a:lnTo>
                    <a:pt x="1478547" y="1068455"/>
                  </a:lnTo>
                  <a:lnTo>
                    <a:pt x="1416443" y="1073509"/>
                  </a:lnTo>
                  <a:lnTo>
                    <a:pt x="1353285" y="1077165"/>
                  </a:lnTo>
                  <a:lnTo>
                    <a:pt x="1289161" y="1079386"/>
                  </a:lnTo>
                  <a:lnTo>
                    <a:pt x="1224152" y="1080135"/>
                  </a:lnTo>
                  <a:lnTo>
                    <a:pt x="1159133" y="1079386"/>
                  </a:lnTo>
                  <a:lnTo>
                    <a:pt x="1094998" y="1077165"/>
                  </a:lnTo>
                  <a:lnTo>
                    <a:pt x="1031832" y="1073509"/>
                  </a:lnTo>
                  <a:lnTo>
                    <a:pt x="969720" y="1068455"/>
                  </a:lnTo>
                  <a:lnTo>
                    <a:pt x="908747" y="1062040"/>
                  </a:lnTo>
                  <a:lnTo>
                    <a:pt x="848996" y="1054303"/>
                  </a:lnTo>
                  <a:lnTo>
                    <a:pt x="790552" y="1045280"/>
                  </a:lnTo>
                  <a:lnTo>
                    <a:pt x="733501" y="1035008"/>
                  </a:lnTo>
                  <a:lnTo>
                    <a:pt x="677926" y="1023525"/>
                  </a:lnTo>
                  <a:lnTo>
                    <a:pt x="623912" y="1010868"/>
                  </a:lnTo>
                  <a:lnTo>
                    <a:pt x="571544" y="997075"/>
                  </a:lnTo>
                  <a:lnTo>
                    <a:pt x="520906" y="982182"/>
                  </a:lnTo>
                  <a:lnTo>
                    <a:pt x="472083" y="966227"/>
                  </a:lnTo>
                  <a:lnTo>
                    <a:pt x="425160" y="949248"/>
                  </a:lnTo>
                  <a:lnTo>
                    <a:pt x="380220" y="931282"/>
                  </a:lnTo>
                  <a:lnTo>
                    <a:pt x="337349" y="912366"/>
                  </a:lnTo>
                  <a:lnTo>
                    <a:pt x="296630" y="892537"/>
                  </a:lnTo>
                  <a:lnTo>
                    <a:pt x="258150" y="871832"/>
                  </a:lnTo>
                  <a:lnTo>
                    <a:pt x="221991" y="850290"/>
                  </a:lnTo>
                  <a:lnTo>
                    <a:pt x="188240" y="827947"/>
                  </a:lnTo>
                  <a:lnTo>
                    <a:pt x="156979" y="804841"/>
                  </a:lnTo>
                  <a:lnTo>
                    <a:pt x="102271" y="756487"/>
                  </a:lnTo>
                  <a:lnTo>
                    <a:pt x="58542" y="705529"/>
                  </a:lnTo>
                  <a:lnTo>
                    <a:pt x="26469" y="652262"/>
                  </a:lnTo>
                  <a:lnTo>
                    <a:pt x="6730" y="596988"/>
                  </a:lnTo>
                  <a:lnTo>
                    <a:pt x="0" y="540004"/>
                  </a:lnTo>
                  <a:close/>
                </a:path>
              </a:pathLst>
            </a:custGeom>
            <a:ln w="28575">
              <a:solidFill>
                <a:srgbClr val="4454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188202" y="3805504"/>
            <a:ext cx="1525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Palatino Linotype"/>
                <a:cs typeface="Palatino Linotype"/>
              </a:rPr>
              <a:t>Polymorphism</a:t>
            </a:r>
            <a:endParaRPr sz="1800">
              <a:latin typeface="Palatino Linotype"/>
              <a:cs typeface="Palatino Linotype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13403" y="2655316"/>
            <a:ext cx="2327275" cy="2627630"/>
            <a:chOff x="3613403" y="2655316"/>
            <a:chExt cx="2327275" cy="2627630"/>
          </a:xfrm>
        </p:grpSpPr>
        <p:sp>
          <p:nvSpPr>
            <p:cNvPr id="24" name="object 24"/>
            <p:cNvSpPr/>
            <p:nvPr/>
          </p:nvSpPr>
          <p:spPr>
            <a:xfrm>
              <a:off x="3613404" y="2655315"/>
              <a:ext cx="2327275" cy="2627630"/>
            </a:xfrm>
            <a:custGeom>
              <a:avLst/>
              <a:gdLst/>
              <a:ahLst/>
              <a:cxnLst/>
              <a:rect l="l" t="t" r="r" b="b"/>
              <a:pathLst>
                <a:path w="2327275" h="2627629">
                  <a:moveTo>
                    <a:pt x="2110854" y="1313751"/>
                  </a:moveTo>
                  <a:lnTo>
                    <a:pt x="2076437" y="1294638"/>
                  </a:lnTo>
                  <a:lnTo>
                    <a:pt x="1909318" y="1201801"/>
                  </a:lnTo>
                  <a:lnTo>
                    <a:pt x="1902066" y="1199527"/>
                  </a:lnTo>
                  <a:lnTo>
                    <a:pt x="1894789" y="1200175"/>
                  </a:lnTo>
                  <a:lnTo>
                    <a:pt x="1888286" y="1203502"/>
                  </a:lnTo>
                  <a:lnTo>
                    <a:pt x="1883410" y="1209294"/>
                  </a:lnTo>
                  <a:lnTo>
                    <a:pt x="1881124" y="1216469"/>
                  </a:lnTo>
                  <a:lnTo>
                    <a:pt x="1881759" y="1223733"/>
                  </a:lnTo>
                  <a:lnTo>
                    <a:pt x="1885048" y="1230249"/>
                  </a:lnTo>
                  <a:lnTo>
                    <a:pt x="1890776" y="1235202"/>
                  </a:lnTo>
                  <a:lnTo>
                    <a:pt x="1997748" y="1294638"/>
                  </a:lnTo>
                  <a:lnTo>
                    <a:pt x="10287" y="1294638"/>
                  </a:lnTo>
                  <a:lnTo>
                    <a:pt x="10287" y="1332738"/>
                  </a:lnTo>
                  <a:lnTo>
                    <a:pt x="1997976" y="1332738"/>
                  </a:lnTo>
                  <a:lnTo>
                    <a:pt x="1890776" y="1392301"/>
                  </a:lnTo>
                  <a:lnTo>
                    <a:pt x="1885048" y="1397266"/>
                  </a:lnTo>
                  <a:lnTo>
                    <a:pt x="1881759" y="1403781"/>
                  </a:lnTo>
                  <a:lnTo>
                    <a:pt x="1881124" y="1411046"/>
                  </a:lnTo>
                  <a:lnTo>
                    <a:pt x="1883410" y="1418209"/>
                  </a:lnTo>
                  <a:lnTo>
                    <a:pt x="1888286" y="1424012"/>
                  </a:lnTo>
                  <a:lnTo>
                    <a:pt x="1894789" y="1427340"/>
                  </a:lnTo>
                  <a:lnTo>
                    <a:pt x="1902066" y="1427988"/>
                  </a:lnTo>
                  <a:lnTo>
                    <a:pt x="1909318" y="1425702"/>
                  </a:lnTo>
                  <a:lnTo>
                    <a:pt x="2076475" y="1332738"/>
                  </a:lnTo>
                  <a:lnTo>
                    <a:pt x="2110625" y="1313751"/>
                  </a:lnTo>
                  <a:lnTo>
                    <a:pt x="2110854" y="1313751"/>
                  </a:lnTo>
                  <a:close/>
                </a:path>
                <a:path w="2327275" h="2627629">
                  <a:moveTo>
                    <a:pt x="2326767" y="1565783"/>
                  </a:moveTo>
                  <a:lnTo>
                    <a:pt x="2311654" y="1564513"/>
                  </a:lnTo>
                  <a:lnTo>
                    <a:pt x="2097151" y="1546479"/>
                  </a:lnTo>
                  <a:lnTo>
                    <a:pt x="2089607" y="1547368"/>
                  </a:lnTo>
                  <a:lnTo>
                    <a:pt x="2083244" y="1550949"/>
                  </a:lnTo>
                  <a:lnTo>
                    <a:pt x="2078672" y="1556651"/>
                  </a:lnTo>
                  <a:lnTo>
                    <a:pt x="2076577" y="1563878"/>
                  </a:lnTo>
                  <a:lnTo>
                    <a:pt x="2077326" y="1570482"/>
                  </a:lnTo>
                  <a:lnTo>
                    <a:pt x="2077427" y="1571421"/>
                  </a:lnTo>
                  <a:lnTo>
                    <a:pt x="2080983" y="1577784"/>
                  </a:lnTo>
                  <a:lnTo>
                    <a:pt x="2086673" y="1582356"/>
                  </a:lnTo>
                  <a:lnTo>
                    <a:pt x="2093976" y="1584452"/>
                  </a:lnTo>
                  <a:lnTo>
                    <a:pt x="2216226" y="1594700"/>
                  </a:lnTo>
                  <a:lnTo>
                    <a:pt x="2413" y="2592578"/>
                  </a:lnTo>
                  <a:lnTo>
                    <a:pt x="18034" y="2627249"/>
                  </a:lnTo>
                  <a:lnTo>
                    <a:pt x="2231694" y="1629575"/>
                  </a:lnTo>
                  <a:lnTo>
                    <a:pt x="2158492" y="1727835"/>
                  </a:lnTo>
                  <a:lnTo>
                    <a:pt x="2155291" y="1734654"/>
                  </a:lnTo>
                  <a:lnTo>
                    <a:pt x="2154974" y="1741932"/>
                  </a:lnTo>
                  <a:lnTo>
                    <a:pt x="2157399" y="1748840"/>
                  </a:lnTo>
                  <a:lnTo>
                    <a:pt x="2162429" y="1754505"/>
                  </a:lnTo>
                  <a:lnTo>
                    <a:pt x="2169236" y="1757705"/>
                  </a:lnTo>
                  <a:lnTo>
                    <a:pt x="2176526" y="1758022"/>
                  </a:lnTo>
                  <a:lnTo>
                    <a:pt x="2183422" y="1755597"/>
                  </a:lnTo>
                  <a:lnTo>
                    <a:pt x="2189099" y="1750568"/>
                  </a:lnTo>
                  <a:lnTo>
                    <a:pt x="2326767" y="1565783"/>
                  </a:lnTo>
                  <a:close/>
                </a:path>
                <a:path w="2327275" h="2627629">
                  <a:moveTo>
                    <a:pt x="2326767" y="989711"/>
                  </a:moveTo>
                  <a:lnTo>
                    <a:pt x="2184273" y="808609"/>
                  </a:lnTo>
                  <a:lnTo>
                    <a:pt x="2178456" y="803719"/>
                  </a:lnTo>
                  <a:lnTo>
                    <a:pt x="2171484" y="801497"/>
                  </a:lnTo>
                  <a:lnTo>
                    <a:pt x="2164207" y="802043"/>
                  </a:lnTo>
                  <a:lnTo>
                    <a:pt x="2157476" y="805434"/>
                  </a:lnTo>
                  <a:lnTo>
                    <a:pt x="2152586" y="811199"/>
                  </a:lnTo>
                  <a:lnTo>
                    <a:pt x="2150364" y="818172"/>
                  </a:lnTo>
                  <a:lnTo>
                    <a:pt x="2150897" y="825474"/>
                  </a:lnTo>
                  <a:lnTo>
                    <a:pt x="2154301" y="832231"/>
                  </a:lnTo>
                  <a:lnTo>
                    <a:pt x="2230094" y="928522"/>
                  </a:lnTo>
                  <a:lnTo>
                    <a:pt x="14732" y="0"/>
                  </a:lnTo>
                  <a:lnTo>
                    <a:pt x="0" y="35179"/>
                  </a:lnTo>
                  <a:lnTo>
                    <a:pt x="2215261" y="963650"/>
                  </a:lnTo>
                  <a:lnTo>
                    <a:pt x="2093468" y="977138"/>
                  </a:lnTo>
                  <a:lnTo>
                    <a:pt x="2086292" y="979462"/>
                  </a:lnTo>
                  <a:lnTo>
                    <a:pt x="2080742" y="984211"/>
                  </a:lnTo>
                  <a:lnTo>
                    <a:pt x="2077364" y="990701"/>
                  </a:lnTo>
                  <a:lnTo>
                    <a:pt x="2076704" y="998220"/>
                  </a:lnTo>
                  <a:lnTo>
                    <a:pt x="2078990" y="1005420"/>
                  </a:lnTo>
                  <a:lnTo>
                    <a:pt x="2083701" y="1010983"/>
                  </a:lnTo>
                  <a:lnTo>
                    <a:pt x="2090140" y="1014374"/>
                  </a:lnTo>
                  <a:lnTo>
                    <a:pt x="2097659" y="1014984"/>
                  </a:lnTo>
                  <a:lnTo>
                    <a:pt x="2304885" y="992124"/>
                  </a:lnTo>
                  <a:lnTo>
                    <a:pt x="2326767" y="989711"/>
                  </a:lnTo>
                  <a:close/>
                </a:path>
              </a:pathLst>
            </a:custGeom>
            <a:solidFill>
              <a:srgbClr val="5C7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13351" y="4503166"/>
              <a:ext cx="720725" cy="653415"/>
            </a:xfrm>
            <a:custGeom>
              <a:avLst/>
              <a:gdLst/>
              <a:ahLst/>
              <a:cxnLst/>
              <a:rect l="l" t="t" r="r" b="b"/>
              <a:pathLst>
                <a:path w="720725" h="653414">
                  <a:moveTo>
                    <a:pt x="673481" y="0"/>
                  </a:moveTo>
                  <a:lnTo>
                    <a:pt x="360299" y="279272"/>
                  </a:lnTo>
                  <a:lnTo>
                    <a:pt x="47117" y="0"/>
                  </a:lnTo>
                  <a:lnTo>
                    <a:pt x="0" y="52831"/>
                  </a:lnTo>
                  <a:lnTo>
                    <a:pt x="307086" y="326643"/>
                  </a:lnTo>
                  <a:lnTo>
                    <a:pt x="0" y="600582"/>
                  </a:lnTo>
                  <a:lnTo>
                    <a:pt x="47117" y="653287"/>
                  </a:lnTo>
                  <a:lnTo>
                    <a:pt x="360299" y="374141"/>
                  </a:lnTo>
                  <a:lnTo>
                    <a:pt x="673481" y="653287"/>
                  </a:lnTo>
                  <a:lnTo>
                    <a:pt x="720598" y="600582"/>
                  </a:lnTo>
                  <a:lnTo>
                    <a:pt x="413512" y="326643"/>
                  </a:lnTo>
                  <a:lnTo>
                    <a:pt x="720598" y="52831"/>
                  </a:lnTo>
                  <a:lnTo>
                    <a:pt x="673481" y="0"/>
                  </a:lnTo>
                  <a:close/>
                </a:path>
              </a:pathLst>
            </a:custGeom>
            <a:solidFill>
              <a:srgbClr val="5F76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13351" y="4503166"/>
              <a:ext cx="720725" cy="653415"/>
            </a:xfrm>
            <a:custGeom>
              <a:avLst/>
              <a:gdLst/>
              <a:ahLst/>
              <a:cxnLst/>
              <a:rect l="l" t="t" r="r" b="b"/>
              <a:pathLst>
                <a:path w="720725" h="653414">
                  <a:moveTo>
                    <a:pt x="0" y="52831"/>
                  </a:moveTo>
                  <a:lnTo>
                    <a:pt x="47117" y="0"/>
                  </a:lnTo>
                  <a:lnTo>
                    <a:pt x="360299" y="279272"/>
                  </a:lnTo>
                  <a:lnTo>
                    <a:pt x="673481" y="0"/>
                  </a:lnTo>
                  <a:lnTo>
                    <a:pt x="720598" y="52831"/>
                  </a:lnTo>
                  <a:lnTo>
                    <a:pt x="413512" y="326643"/>
                  </a:lnTo>
                  <a:lnTo>
                    <a:pt x="720598" y="600582"/>
                  </a:lnTo>
                  <a:lnTo>
                    <a:pt x="673481" y="653287"/>
                  </a:lnTo>
                  <a:lnTo>
                    <a:pt x="360299" y="374141"/>
                  </a:lnTo>
                  <a:lnTo>
                    <a:pt x="47117" y="653287"/>
                  </a:lnTo>
                  <a:lnTo>
                    <a:pt x="0" y="600582"/>
                  </a:lnTo>
                  <a:lnTo>
                    <a:pt x="307086" y="326643"/>
                  </a:lnTo>
                  <a:lnTo>
                    <a:pt x="0" y="52831"/>
                  </a:lnTo>
                  <a:close/>
                </a:path>
              </a:pathLst>
            </a:custGeom>
            <a:ln w="12700">
              <a:solidFill>
                <a:srgbClr val="4454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7818" y="6499377"/>
              <a:ext cx="84708" cy="84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125" y="6499377"/>
              <a:ext cx="84759" cy="84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83535" y="243840"/>
              <a:ext cx="4373879" cy="154838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38704" y="414985"/>
            <a:ext cx="34683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/>
              <a:t>Conclusion</a:t>
            </a:r>
            <a:endParaRPr sz="5400"/>
          </a:p>
        </p:txBody>
      </p:sp>
      <p:sp>
        <p:nvSpPr>
          <p:cNvPr id="8" name="object 8"/>
          <p:cNvSpPr txBox="1"/>
          <p:nvPr/>
        </p:nvSpPr>
        <p:spPr>
          <a:xfrm>
            <a:off x="536244" y="1439418"/>
            <a:ext cx="8046720" cy="454914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56870" marR="511175" indent="-344805">
              <a:lnSpc>
                <a:spcPct val="80000"/>
              </a:lnSpc>
              <a:spcBef>
                <a:spcPts val="635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As</a:t>
            </a:r>
            <a:r>
              <a:rPr sz="22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a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OOP</a:t>
            </a:r>
            <a:r>
              <a:rPr sz="22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language,</a:t>
            </a:r>
            <a:r>
              <a:rPr sz="2200" spc="-8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Python</a:t>
            </a:r>
            <a:r>
              <a:rPr sz="2200" spc="-7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has</a:t>
            </a:r>
            <a:r>
              <a:rPr sz="22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its</a:t>
            </a:r>
            <a:r>
              <a:rPr sz="22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special</a:t>
            </a:r>
            <a:r>
              <a:rPr sz="22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advantages</a:t>
            </a:r>
            <a:r>
              <a:rPr sz="2200" spc="-8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but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also</a:t>
            </a:r>
            <a:r>
              <a:rPr sz="22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has</a:t>
            </a:r>
            <a:r>
              <a:rPr sz="22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its</a:t>
            </a:r>
            <a:r>
              <a:rPr sz="2200" spc="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disadvantages.</a:t>
            </a:r>
            <a:endParaRPr sz="2200">
              <a:latin typeface="Palatino Linotype"/>
              <a:cs typeface="Palatino Linotype"/>
            </a:endParaRPr>
          </a:p>
          <a:p>
            <a:pPr marL="356870" marR="5080" indent="-344805">
              <a:lnSpc>
                <a:spcPct val="80000"/>
              </a:lnSpc>
              <a:spcBef>
                <a:spcPts val="113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Python</a:t>
            </a:r>
            <a:r>
              <a:rPr sz="2200" spc="-8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can</a:t>
            </a:r>
            <a:r>
              <a:rPr sz="22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support</a:t>
            </a:r>
            <a:r>
              <a:rPr sz="22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operator</a:t>
            </a:r>
            <a:r>
              <a:rPr sz="22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overloading</a:t>
            </a:r>
            <a:r>
              <a:rPr sz="2200" spc="-8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and</a:t>
            </a:r>
            <a:r>
              <a:rPr sz="22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multiple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inheritance</a:t>
            </a:r>
            <a:r>
              <a:rPr sz="2200" spc="-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etc.</a:t>
            </a:r>
            <a:r>
              <a:rPr sz="2200" spc="-8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advanced</a:t>
            </a:r>
            <a:r>
              <a:rPr sz="2200" spc="-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definition</a:t>
            </a:r>
            <a:r>
              <a:rPr sz="2200" spc="-10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that</a:t>
            </a:r>
            <a:r>
              <a:rPr sz="22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some</a:t>
            </a:r>
            <a:r>
              <a:rPr sz="22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OOP</a:t>
            </a:r>
            <a:r>
              <a:rPr sz="2200" spc="-7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languages </a:t>
            </a:r>
            <a:r>
              <a:rPr sz="22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don’t</a:t>
            </a:r>
            <a:r>
              <a:rPr sz="2200" spc="-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have.</a:t>
            </a:r>
            <a:endParaRPr sz="2200">
              <a:latin typeface="Palatino Linotype"/>
              <a:cs typeface="Palatino Linotype"/>
            </a:endParaRPr>
          </a:p>
          <a:p>
            <a:pPr marL="356870" marR="313690" indent="-344805">
              <a:lnSpc>
                <a:spcPct val="80000"/>
              </a:lnSpc>
              <a:spcBef>
                <a:spcPts val="1125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The</a:t>
            </a:r>
            <a:r>
              <a:rPr sz="22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advantages</a:t>
            </a:r>
            <a:r>
              <a:rPr sz="2200" spc="-9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for</a:t>
            </a:r>
            <a:r>
              <a:rPr sz="2200" spc="1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Python</a:t>
            </a:r>
            <a:r>
              <a:rPr sz="2200" spc="-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to</a:t>
            </a:r>
            <a:r>
              <a:rPr sz="22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use design</a:t>
            </a:r>
            <a:r>
              <a:rPr sz="22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pattern</a:t>
            </a:r>
            <a:r>
              <a:rPr sz="22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is</a:t>
            </a:r>
            <a:r>
              <a:rPr sz="22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that</a:t>
            </a:r>
            <a:r>
              <a:rPr sz="22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it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supports</a:t>
            </a:r>
            <a:r>
              <a:rPr sz="22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dynamic</a:t>
            </a:r>
            <a:r>
              <a:rPr sz="2200" spc="-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type</a:t>
            </a:r>
            <a:r>
              <a:rPr sz="22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binding.</a:t>
            </a:r>
            <a:r>
              <a:rPr sz="2200" spc="-9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In</a:t>
            </a:r>
            <a:r>
              <a:rPr sz="22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other</a:t>
            </a:r>
            <a:r>
              <a:rPr sz="2200" spc="-8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words,</a:t>
            </a:r>
            <a:r>
              <a:rPr sz="2200" spc="-1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an</a:t>
            </a:r>
            <a:r>
              <a:rPr sz="22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object</a:t>
            </a:r>
            <a:r>
              <a:rPr sz="2200" spc="-8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is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rarely</a:t>
            </a:r>
            <a:r>
              <a:rPr sz="22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only</a:t>
            </a:r>
            <a:r>
              <a:rPr sz="22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one</a:t>
            </a:r>
            <a:r>
              <a:rPr sz="22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instance</a:t>
            </a:r>
            <a:r>
              <a:rPr sz="22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of a class,</a:t>
            </a:r>
            <a:r>
              <a:rPr sz="22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it</a:t>
            </a:r>
            <a:r>
              <a:rPr sz="2200" spc="-1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can</a:t>
            </a:r>
            <a:r>
              <a:rPr sz="22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be</a:t>
            </a:r>
            <a:r>
              <a:rPr sz="22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dynamically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changed</a:t>
            </a:r>
            <a:r>
              <a:rPr sz="2200" spc="-7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at</a:t>
            </a:r>
            <a:r>
              <a:rPr sz="22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runtime.</a:t>
            </a:r>
            <a:endParaRPr sz="2200">
              <a:latin typeface="Palatino Linotype"/>
              <a:cs typeface="Palatino Linotype"/>
            </a:endParaRPr>
          </a:p>
          <a:p>
            <a:pPr marL="356870" marR="164465" indent="-344805">
              <a:lnSpc>
                <a:spcPct val="80000"/>
              </a:lnSpc>
              <a:spcBef>
                <a:spcPts val="113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But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Python</a:t>
            </a:r>
            <a:r>
              <a:rPr sz="2200" spc="-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might</a:t>
            </a:r>
            <a:r>
              <a:rPr sz="22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ignore</a:t>
            </a:r>
            <a:r>
              <a:rPr sz="22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a</a:t>
            </a:r>
            <a:r>
              <a:rPr sz="2200" spc="-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basic</a:t>
            </a:r>
            <a:r>
              <a:rPr sz="22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regulation</a:t>
            </a:r>
            <a:r>
              <a:rPr sz="22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of</a:t>
            </a:r>
            <a:r>
              <a:rPr sz="22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OOP:</a:t>
            </a:r>
            <a:r>
              <a:rPr sz="2200" spc="-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data</a:t>
            </a:r>
            <a:r>
              <a:rPr sz="22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and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methods</a:t>
            </a:r>
            <a:r>
              <a:rPr sz="22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hiding.</a:t>
            </a:r>
            <a:r>
              <a:rPr sz="2200" spc="-7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It</a:t>
            </a:r>
            <a:r>
              <a:rPr sz="22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Palatino Linotype"/>
                <a:cs typeface="Palatino Linotype"/>
              </a:rPr>
              <a:t>doesn’t</a:t>
            </a:r>
            <a:r>
              <a:rPr sz="2200" spc="-8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have</a:t>
            </a:r>
            <a:r>
              <a:rPr sz="22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the</a:t>
            </a:r>
            <a:r>
              <a:rPr sz="22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keywords</a:t>
            </a:r>
            <a:r>
              <a:rPr sz="2200" spc="-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of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 ‘private’, ‘public’</a:t>
            </a:r>
            <a:r>
              <a:rPr sz="2200" spc="-1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and</a:t>
            </a:r>
            <a:r>
              <a:rPr sz="2200" spc="2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‘protected’</a:t>
            </a:r>
            <a:r>
              <a:rPr sz="2200" spc="-1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to</a:t>
            </a:r>
            <a:r>
              <a:rPr sz="2200" spc="-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better</a:t>
            </a:r>
            <a:r>
              <a:rPr sz="22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support</a:t>
            </a:r>
            <a:r>
              <a:rPr sz="2200" spc="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encapsulation.</a:t>
            </a:r>
            <a:r>
              <a:rPr sz="22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But</a:t>
            </a:r>
            <a:r>
              <a:rPr sz="2200" spc="3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Palatino Linotype"/>
                <a:cs typeface="Palatino Linotype"/>
              </a:rPr>
              <a:t>I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think</a:t>
            </a:r>
            <a:r>
              <a:rPr sz="2200" spc="-9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it</a:t>
            </a:r>
            <a:r>
              <a:rPr sz="2200" spc="-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aims</a:t>
            </a:r>
            <a:r>
              <a:rPr sz="2200" spc="-3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to</a:t>
            </a:r>
            <a:r>
              <a:rPr sz="22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guarantee</a:t>
            </a:r>
            <a:r>
              <a:rPr sz="2200" spc="-8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syntax</a:t>
            </a:r>
            <a:r>
              <a:rPr sz="22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simple.</a:t>
            </a:r>
            <a:r>
              <a:rPr sz="2200" spc="-1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As</a:t>
            </a:r>
            <a:r>
              <a:rPr sz="2200" spc="-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the</a:t>
            </a:r>
            <a:r>
              <a:rPr sz="2200" spc="-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inventor</a:t>
            </a:r>
            <a:r>
              <a:rPr sz="22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Palatino Linotype"/>
                <a:cs typeface="Palatino Linotype"/>
              </a:rPr>
              <a:t>of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Python,</a:t>
            </a:r>
            <a:r>
              <a:rPr sz="2200" spc="-10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Guido</a:t>
            </a:r>
            <a:r>
              <a:rPr sz="22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Van</a:t>
            </a:r>
            <a:r>
              <a:rPr sz="2200" spc="-5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Rossum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said:</a:t>
            </a:r>
            <a:r>
              <a:rPr sz="2200" spc="-6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“abundant</a:t>
            </a:r>
            <a:r>
              <a:rPr sz="2200" spc="-7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syntax</a:t>
            </a:r>
            <a:r>
              <a:rPr sz="2200" spc="-6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bring</a:t>
            </a:r>
            <a:endParaRPr sz="2200">
              <a:latin typeface="Palatino Linotype"/>
              <a:cs typeface="Palatino Linotype"/>
            </a:endParaRPr>
          </a:p>
          <a:p>
            <a:pPr marL="356870">
              <a:lnSpc>
                <a:spcPts val="2115"/>
              </a:lnSpc>
            </a:pP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more</a:t>
            </a:r>
            <a:r>
              <a:rPr sz="2200" spc="-4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burden</a:t>
            </a:r>
            <a:r>
              <a:rPr sz="2200" spc="-70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404040"/>
                </a:solidFill>
                <a:latin typeface="Palatino Linotype"/>
                <a:cs typeface="Palatino Linotype"/>
              </a:rPr>
              <a:t>than</a:t>
            </a:r>
            <a:r>
              <a:rPr sz="2200" spc="-45" dirty="0">
                <a:solidFill>
                  <a:srgbClr val="404040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Palatino Linotype"/>
                <a:cs typeface="Palatino Linotype"/>
              </a:rPr>
              <a:t>help”.</a:t>
            </a:r>
            <a:endParaRPr sz="2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4315</Words>
  <Application>Microsoft Office PowerPoint</Application>
  <PresentationFormat>On-screen Show (4:3)</PresentationFormat>
  <Paragraphs>555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Arial MT</vt:lpstr>
      <vt:lpstr>Calibri</vt:lpstr>
      <vt:lpstr>Calibri Light</vt:lpstr>
      <vt:lpstr>Courier New</vt:lpstr>
      <vt:lpstr>Palatino Linotype</vt:lpstr>
      <vt:lpstr>Times New Roman</vt:lpstr>
      <vt:lpstr>Wingdings</vt:lpstr>
      <vt:lpstr>Office Theme</vt:lpstr>
      <vt:lpstr>PowerPoint Presentation</vt:lpstr>
      <vt:lpstr>OBJECTS</vt:lpstr>
      <vt:lpstr>OBJECT ORIENTED PROGRAMMING (OOP)</vt:lpstr>
      <vt:lpstr>WHAT ARE OBJECTS?</vt:lpstr>
      <vt:lpstr>EXAMPLE: [1,2,3,4] has type list</vt:lpstr>
      <vt:lpstr>ADVANTAGES OF OOP</vt:lpstr>
      <vt:lpstr>CREATING AND USING YOUR OWN TYPES WITH CLASSES</vt:lpstr>
      <vt:lpstr>DEFINE YOUR OWN TYPES</vt:lpstr>
      <vt:lpstr>WHAT ARE ATTRIBUTES?</vt:lpstr>
      <vt:lpstr>DEFINING HOW TO CREATE AN INSTANCE OF A CLASS</vt:lpstr>
      <vt:lpstr>ACTUALLY CREATING AN INSTANCE OF A CLASS</vt:lpstr>
      <vt:lpstr>WHAT IS A METHOD?</vt:lpstr>
      <vt:lpstr>DEFINE A METHOD FOR THE Coordinate CLASS</vt:lpstr>
      <vt:lpstr>HOW TO USE A METHOD</vt:lpstr>
      <vt:lpstr>PRINT REPRESENTATION OF AN OBJECT</vt:lpstr>
      <vt:lpstr>DEFINING YOUR OWN PRINT METHOD</vt:lpstr>
      <vt:lpstr>WRAPPING YOUR HEAD AROUND TYPES AND CLASSES</vt:lpstr>
      <vt:lpstr>SPECIAL OPERATORS</vt:lpstr>
      <vt:lpstr>EXAMPLE: FRACTIONS</vt:lpstr>
      <vt:lpstr>THE POWER OF OOP</vt:lpstr>
      <vt:lpstr>PowerPoint Presentation</vt:lpstr>
      <vt:lpstr>CLASS DEFINITION   INSTANCE OF AN OBJECT TYPE vs OF A CLASS</vt:lpstr>
      <vt:lpstr>GETTER AND SETTER METHODS</vt:lpstr>
      <vt:lpstr>INFORMATION HIDING</vt:lpstr>
      <vt:lpstr>PYTHON NOT GREAT AT INFORMATION HIDING</vt:lpstr>
      <vt:lpstr>DEFAULT ARGUMENTS</vt:lpstr>
      <vt:lpstr>Inheritance</vt:lpstr>
      <vt:lpstr>HIERARCHIES</vt:lpstr>
      <vt:lpstr>HIERARCHIES</vt:lpstr>
      <vt:lpstr>INHERITANCE: PARENT CLASS</vt:lpstr>
      <vt:lpstr>INHERITANCE: SUBCLASS</vt:lpstr>
      <vt:lpstr>WHICH METHOD TO USE?</vt:lpstr>
      <vt:lpstr>PowerPoint Presentation</vt:lpstr>
      <vt:lpstr>PowerPoint Presentation</vt:lpstr>
      <vt:lpstr>CLASS VARIABLES AND THE Rabbit SUBCLASS</vt:lpstr>
      <vt:lpstr>Rabbit GETTER METHODS</vt:lpstr>
      <vt:lpstr>WORKING WITH YOUR OWN TYPES</vt:lpstr>
      <vt:lpstr>SPECIAL METHOD TO COMPARE TWO Rabbits</vt:lpstr>
      <vt:lpstr>Advanced:  Multiple inheritance, encapsulation, polymorphism </vt:lpstr>
      <vt:lpstr>Inheritance</vt:lpstr>
      <vt:lpstr>Multiple Inheritance</vt:lpstr>
      <vt:lpstr>An Example of Multiple Inheritance</vt:lpstr>
      <vt:lpstr>“Self”</vt:lpstr>
      <vt:lpstr>Encapsulation – Accessibility (1)</vt:lpstr>
      <vt:lpstr>An Example of Private</vt:lpstr>
      <vt:lpstr>Encapsulation – Accessibility (2)</vt:lpstr>
      <vt:lpstr>An example of Accessing Private</vt:lpstr>
      <vt:lpstr>Polymorphism</vt:lpstr>
      <vt:lpstr>Compare Accessibility of Python and Java</vt:lpstr>
      <vt:lpstr>Traditional Polymorphism Example</vt:lpstr>
      <vt:lpstr>Everywhere is polymorphism in Python (1)</vt:lpstr>
      <vt:lpstr>Everywhere is polymorphism in Python (2)</vt:lpstr>
      <vt:lpstr>Everywhere is polymorphism in Python (3)</vt:lpstr>
      <vt:lpstr>Avoid Destroying Polymorphism!</vt:lpstr>
      <vt:lpstr>How to Affect Polymorphism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Dinh Truong 20235566</cp:lastModifiedBy>
  <cp:revision>1</cp:revision>
  <dcterms:created xsi:type="dcterms:W3CDTF">2025-11-30T01:23:17Z</dcterms:created>
  <dcterms:modified xsi:type="dcterms:W3CDTF">2025-11-30T01:31:32Z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2025-11-30T00:00:00Z</vt:filetime>
  </property>
  <property fmtid="{D5CDD505-2E9C-101B-9397-08002B2CF9AE}" pid="3" name="LastSaved">
    <vt:filetime>2025-11-30T00:00:00Z</vt:filetime>
  </property>
  <property fmtid="{D5CDD505-2E9C-101B-9397-08002B2CF9AE}" pid="4" name="Producer">
    <vt:lpwstr>iLovePDF</vt:lpwstr>
  </property>
</Properties>
</file>